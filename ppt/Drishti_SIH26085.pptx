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1.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9"/>
  </p:notesMasterIdLst>
  <p:sldIdLst>
    <p:sldId id="256" r:id="rId3"/>
    <p:sldId id="257" r:id="rId4"/>
    <p:sldId id="258" r:id="rId5"/>
    <p:sldId id="262" r:id="rId6"/>
    <p:sldId id="260" r:id="rId7"/>
    <p:sldId id="261" r:id="rId8"/>
  </p:sldIdLst>
  <p:sldSz cx="18288000" cy="10287000"/>
  <p:notesSz cx="6858000" cy="9144000"/>
  <p:embeddedFontLst>
    <p:embeddedFont>
      <p:font typeface="Arial Bold" panose="020B0704020202020204" pitchFamily="34" charset="0"/>
      <p:bold r:id="rId10"/>
    </p:embeddedFont>
    <p:embeddedFont>
      <p:font typeface="Arial Narrow" panose="020B0606020202030204" pitchFamily="34" charset="0"/>
      <p:regular r:id="rId11"/>
      <p:bold r:id="rId12"/>
      <p:italic r:id="rId13"/>
      <p:boldItalic r:id="rId14"/>
    </p:embeddedFont>
    <p:embeddedFont>
      <p:font typeface="Arimo" panose="020B0604020202020204" charset="0"/>
      <p:regular r:id="rId15"/>
    </p:embeddedFont>
    <p:embeddedFont>
      <p:font typeface="Calibri (MS)" panose="020B0604020202020204" charset="0"/>
      <p:regular r:id="rId16"/>
    </p:embeddedFont>
    <p:embeddedFont>
      <p:font typeface="Segoe UI" panose="020B0502040204020203" pitchFamily="34" charset="0"/>
      <p:regular r:id="rId17"/>
      <p:bold r:id="rId18"/>
      <p:italic r:id="rId19"/>
      <p:boldItalic r:id="rId20"/>
    </p:embeddedFont>
    <p:embeddedFont>
      <p:font typeface="Times New Roman Bold" panose="02020803070505020304" pitchFamily="18" charset="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322" autoAdjust="0"/>
    <p:restoredTop sz="94622" autoAdjust="0"/>
  </p:normalViewPr>
  <p:slideViewPr>
    <p:cSldViewPr>
      <p:cViewPr varScale="1">
        <p:scale>
          <a:sx n="64" d="100"/>
          <a:sy n="64" d="100"/>
        </p:scale>
        <p:origin x="605" y="1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 Id="rId18" Type="http://schemas.openxmlformats.org/officeDocument/2006/relationships/font" Target="fonts/font9.fntdata"/><Relationship Id="rId19" Type="http://schemas.openxmlformats.org/officeDocument/2006/relationships/font" Target="fonts/font10.fntdata"/><Relationship Id="rId20" Type="http://schemas.openxmlformats.org/officeDocument/2006/relationships/font" Target="fonts/font11.fntdata"/><Relationship Id="rId21" Type="http://schemas.openxmlformats.org/officeDocument/2006/relationships/font" Target="fonts/font12.fntdata"/><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Share</c:v>
                </c:pt>
              </c:strCache>
            </c:strRef>
          </c:tx>
          <c:dPt>
            <c:idx val="0"/>
            <c:spPr>
              <a:solidFill>
                <a:srgbClr val="2563EB"/>
              </a:solidFill>
              <a:ln w="19050">
                <a:solidFill>
                  <a:srgbClr val="FFFFFF"/>
                </a:solidFill>
              </a:ln>
            </c:spPr>
          </c:dPt>
          <c:dPt>
            <c:idx val="1"/>
            <c:spPr>
              <a:solidFill>
                <a:srgbClr val="7C3AED"/>
              </a:solidFill>
              <a:ln w="19050">
                <a:solidFill>
                  <a:srgbClr val="FFFFFF"/>
                </a:solidFill>
              </a:ln>
            </c:spPr>
          </c:dPt>
          <c:dPt>
            <c:idx val="2"/>
            <c:spPr>
              <a:solidFill>
                <a:srgbClr val="059669"/>
              </a:solidFill>
              <a:ln w="19050">
                <a:solidFill>
                  <a:srgbClr val="FFFFFF"/>
                </a:solidFill>
              </a:ln>
            </c:spPr>
          </c:dPt>
          <c:dPt>
            <c:idx val="3"/>
            <c:spPr>
              <a:solidFill>
                <a:srgbClr val="D97706"/>
              </a:solidFill>
              <a:ln w="19050">
                <a:solidFill>
                  <a:srgbClr val="FFFFFF"/>
                </a:solidFill>
              </a:ln>
            </c:spPr>
          </c:dPt>
          <c:cat>
            <c:strRef>
              <c:f>Sheet1!$A$2:$A$5</c:f>
              <c:strCache>
                <c:ptCount val="4"/>
                <c:pt idx="0">
                  <c:v>Sensors</c:v>
                </c:pt>
                <c:pt idx="1">
                  <c:v>Drain survey</c:v>
                </c:pt>
                <c:pt idx="2">
                  <c:v>Support</c:v>
                </c:pt>
                <c:pt idx="3">
                  <c:v>Compute</c:v>
                </c:pt>
              </c:strCache>
            </c:strRef>
          </c:cat>
          <c:val>
            <c:numRef>
              <c:f>Sheet1!$B$2:$B$5</c:f>
              <c:numCache>
                <c:formatCode>General</c:formatCode>
                <c:ptCount val="4"/>
                <c:pt idx="0">
                  <c:v>0.41</c:v>
                </c:pt>
                <c:pt idx="1">
                  <c:v>0.31</c:v>
                </c:pt>
                <c:pt idx="2">
                  <c:v>0.15</c:v>
                </c:pt>
                <c:pt idx="3">
                  <c:v>0.13</c:v>
                </c:pt>
              </c:numCache>
            </c:numRef>
          </c:val>
        </c:ser>
      </c:pieChart>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Drishti AI</c:v>
                </c:pt>
              </c:strCache>
            </c:strRef>
          </c:tx>
          <c:spPr>
            <a:solidFill>
              <a:srgbClr val="059669"/>
            </a:solidFill>
          </c:spPr>
          <c:cat>
            <c:strRef>
              <c:f>Sheet1!$A$2:$A$5</c:f>
              <c:strCache>
                <c:ptCount val="4"/>
                <c:pt idx="0">
                  <c:v>+30 min</c:v>
                </c:pt>
                <c:pt idx="1">
                  <c:v>+60 min</c:v>
                </c:pt>
                <c:pt idx="2">
                  <c:v>+120 min</c:v>
                </c:pt>
                <c:pt idx="3">
                  <c:v>+180 min</c:v>
                </c:pt>
              </c:strCache>
            </c:strRef>
          </c:cat>
          <c:val>
            <c:numRef>
              <c:f>Sheet1!$B$2:$B$5</c:f>
              <c:numCache>
                <c:formatCode>General</c:formatCode>
                <c:ptCount val="4"/>
                <c:pt idx="0">
                  <c:v>0.82</c:v>
                </c:pt>
                <c:pt idx="1">
                  <c:v>0.8</c:v>
                </c:pt>
                <c:pt idx="2">
                  <c:v>0.79</c:v>
                </c:pt>
                <c:pt idx="3">
                  <c:v>0.79</c:v>
                </c:pt>
              </c:numCache>
            </c:numRef>
          </c:val>
        </c:ser>
        <c:ser>
          <c:idx val="1"/>
          <c:order val="1"/>
          <c:tx>
            <c:strRef>
              <c:f>Sheet1!$C$1</c:f>
              <c:strCache>
                <c:ptCount val="1"/>
                <c:pt idx="0">
                  <c:v>Persistence</c:v>
                </c:pt>
              </c:strCache>
            </c:strRef>
          </c:tx>
          <c:spPr>
            <a:solidFill>
              <a:srgbClr val="DC2626"/>
            </a:solidFill>
          </c:spPr>
          <c:cat>
            <c:strRef>
              <c:f>Sheet1!$A$2:$A$5</c:f>
              <c:strCache>
                <c:ptCount val="4"/>
                <c:pt idx="0">
                  <c:v>+30 min</c:v>
                </c:pt>
                <c:pt idx="1">
                  <c:v>+60 min</c:v>
                </c:pt>
                <c:pt idx="2">
                  <c:v>+120 min</c:v>
                </c:pt>
                <c:pt idx="3">
                  <c:v>+180 min</c:v>
                </c:pt>
              </c:strCache>
            </c:strRef>
          </c:cat>
          <c:val>
            <c:numRef>
              <c:f>Sheet1!$C$2:$C$5</c:f>
              <c:numCache>
                <c:formatCode>General</c:formatCode>
                <c:ptCount val="4"/>
                <c:pt idx="0">
                  <c:v>0.58</c:v>
                </c:pt>
                <c:pt idx="1">
                  <c:v>0.39</c:v>
                </c:pt>
                <c:pt idx="2">
                  <c:v>0.26</c:v>
                </c:pt>
                <c:pt idx="3">
                  <c:v>0.24</c:v>
                </c:pt>
              </c:numCache>
            </c:numRef>
          </c:val>
        </c:ser>
        <c:dLbls>
          <c:numFmt formatCode="0.00" sourceLinked="0"/>
          <c:txPr>
            <a:bodyPr/>
            <a:lstStyle/>
            <a:p>
              <a:pPr>
                <a:defRPr sz="1050" b="1"/>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050" b="1">
                <a:solidFill>
                  <a:srgbClr val="334155"/>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2E8F0"/>
              </a:solidFill>
            </a:ln>
          </c:spPr>
        </c:majorGridlines>
        <c:majorTickMark val="out"/>
        <c:minorTickMark val="none"/>
        <c:tickLblPos val="nextTo"/>
        <c:spPr>
          <a:ln>
            <a:noFill/>
          </a:ln>
        </c:spPr>
        <c:txPr>
          <a:bodyPr/>
          <a:lstStyle/>
          <a:p>
            <a:pPr>
              <a:defRPr sz="900">
                <a:solidFill>
                  <a:srgbClr val="94A3B8"/>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Max daily rain (mm)</c:v>
                </c:pt>
              </c:strCache>
            </c:strRef>
          </c:tx>
          <c:spPr>
            <a:solidFill>
              <a:srgbClr val="0EA5E9"/>
            </a:solidFill>
          </c:spPr>
          <c:cat>
            <c:strRef>
              <c:f>Sheet1!$A$2:$A$10</c:f>
              <c:strCache>
                <c:ptCount val="9"/>
                <c:pt idx="0">
                  <c:v>2017</c:v>
                </c:pt>
                <c:pt idx="1">
                  <c:v>2018</c:v>
                </c:pt>
                <c:pt idx="2">
                  <c:v>2019</c:v>
                </c:pt>
                <c:pt idx="3">
                  <c:v>2020</c:v>
                </c:pt>
                <c:pt idx="4">
                  <c:v>2021</c:v>
                </c:pt>
                <c:pt idx="5">
                  <c:v>2022</c:v>
                </c:pt>
                <c:pt idx="6">
                  <c:v>2023</c:v>
                </c:pt>
                <c:pt idx="7">
                  <c:v>2024</c:v>
                </c:pt>
                <c:pt idx="8">
                  <c:v>2025</c:v>
                </c:pt>
              </c:strCache>
            </c:strRef>
          </c:cat>
          <c:val>
            <c:numRef>
              <c:f>Sheet1!$B$2:$B$10</c:f>
              <c:numCache>
                <c:formatCode>General</c:formatCode>
                <c:ptCount val="9"/>
                <c:pt idx="0">
                  <c:v>114.6</c:v>
                </c:pt>
                <c:pt idx="1">
                  <c:v>90.7</c:v>
                </c:pt>
                <c:pt idx="2">
                  <c:v>66.9</c:v>
                </c:pt>
                <c:pt idx="3">
                  <c:v>66.8</c:v>
                </c:pt>
                <c:pt idx="4">
                  <c:v>76.5</c:v>
                </c:pt>
                <c:pt idx="5">
                  <c:v>102.0</c:v>
                </c:pt>
                <c:pt idx="6">
                  <c:v>59.6</c:v>
                </c:pt>
                <c:pt idx="7">
                  <c:v>61.7</c:v>
                </c:pt>
                <c:pt idx="8">
                  <c:v>56.7</c:v>
                </c:pt>
              </c:numCache>
            </c:numRef>
          </c:val>
        </c:ser>
        <c:dLbls>
          <c:numFmt formatCode="0" sourceLinked="0"/>
          <c:txPr>
            <a:bodyPr/>
            <a:lstStyle/>
            <a:p>
              <a:pPr>
                <a:defRPr sz="950" b="1">
                  <a:solidFill>
                    <a:srgbClr val="0369A1"/>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900">
                <a:solidFill>
                  <a:srgbClr val="64748B"/>
                </a:solidFill>
              </a:defRPr>
            </a:pPr>
          </a:p>
        </c:txPr>
        <c:crossAx val="-2113994440"/>
        <c:crosses val="autoZero"/>
        <c:auto val="1"/>
        <c:lblAlgn val="ctr"/>
        <c:lblOffset val="100"/>
        <c:noMultiLvlLbl val="0"/>
      </c:catAx>
      <c:valAx>
        <c:axId val="-2113994440"/>
        <c:scaling>
          <c:max val="135.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a:t>29.09.2026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t>Team LLMao, problem statement SIH26085. Our solution is Drishti: it tells a city where water will stand on its streets up to three hours before it does, how sure we are, why, and what to do about it.</a:t>
            </a:r>
          </a:p>
        </p:txBody>
      </p:sp>
      <p:sp>
        <p:nvSpPr>
          <p:cNvPr id="4" name="Slide Number Placeholder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5176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Drishti is a digital twin of the campus drainage and streets. Rain is observed, quality-checked, turned into 20 possible rain futures, pushed through a physics model and a fast AI copy of it, and ends as decisions: which streets flood, when, how badly, why, and what to do. The loop repeats every 5 minutes. It also diagnoses the drains themselves and is honest when data fails. Numbers are from synthetic twin experiments (Level-1 demo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t>Every method in Drishti traces to published work: LISFLOOD-FP and SWMM for hydraulics, STEPS and pysteps for rain nowcasting, U-Net for the surrogate, the Ensemble Kalman Filter for assimilation, and NDMA's urban flooding guidelines for the operational need. Links at the bottom open the live dashboard, the 3D replay, the explainer video and the source code.</a:t>
            </a:r>
          </a:p>
        </p:txBody>
      </p:sp>
      <p:sp>
        <p:nvSpPr>
          <p:cNvPr id="4" name="Slide Number Placeholder 3"/>
          <p:cNvSpPr>
            <a:spLocks noGrp="1"/>
          </p:cNvSpPr>
          <p:nvPr>
            <p:ph type="sldNum" sz="quarter" idx="5"/>
          </p:nvPr>
        </p:nvSpPr>
        <p:spPr/>
        <p:txBody>
          <a:bodyPr/>
          <a:lstStyle/>
          <a:p>
            <a:fld id="{871B2431-D351-4C6E-A3CF-9DFAC0E3E050}" type="slidenum">
              <a:rPr lang="cs-CZ" smtClean="0"/>
              <a:t>6</a:t>
            </a:fld>
            <a:endParaRPr lang="cs-CZ"/>
          </a:p>
        </p:txBody>
      </p:sp>
    </p:spTree>
    <p:extLst>
      <p:ext uri="{BB962C8B-B14F-4D97-AF65-F5344CB8AC3E}">
        <p14:creationId xmlns:p14="http://schemas.microsoft.com/office/powerpoint/2010/main" val="2820395064"/>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codebase is one Python repo — terrain twin, coupled physics, forecast engine, closed-loop twin and decisions — fed by Copernicus DEM, OpenStreetMap and rainfall feeds. Centre: one forecast cycle. Rain is ingested and quality-checked; if radar is unusable we drop to gauges and say DEGRADED; STEPS makes 20 rain futures; the twin state at t0 is propagated by the AI surrogate; hotspots are re-run in full physics; the result becomes P10/P50/P90 maps, early warnings, road impact, routes and alerts. Right: the physics chain, sensor data assimilation, the STEPS algorithm and the integration layer.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Economics: an indicative deployment for one campus or ward is dominated by sensors and a drain survey; software, data and licences cost nothing and the forecast runs on a CPU. The AI surrogate beats the persistence baseline at every lead time. Feasibility: it runs today, a full cycle in about 19 seconds. Viability: the repo's 10-year rainfall record shows 57–115 mm days every year. Challenges: every data gap is labelled and has a drop-in upgrade path.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five kinds of impact — public safety, emergency response, infrastructure health, governance and planning. Middle: the benefit chain from rain to an audited, human-approved action. Bottom: the measurable benefits. Lead time and false-alarm figures come from replayed synthetic storms against the hidden truth, not from observed floods.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7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7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7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7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914400" rtl="0" eaLnBrk="1" latinLnBrk="0" hangingPunct="1">
        <a:defRPr sz="2700" kern="1200">
          <a:solidFill>
            <a:schemeClr val="tx1"/>
          </a:solidFill>
          <a:latin typeface="+mn-lt"/>
          <a:ea typeface="+mn-ea"/>
          <a:cs typeface="+mn-cs"/>
        </a:defRPr>
      </a:lvl1pPr>
      <a:lvl2pPr marL="457200" algn="l" defTabSz="914400" rtl="0" eaLnBrk="1" latinLnBrk="0" hangingPunct="1">
        <a:defRPr sz="2700" kern="1200">
          <a:solidFill>
            <a:schemeClr val="tx1"/>
          </a:solidFill>
          <a:latin typeface="+mn-lt"/>
          <a:ea typeface="+mn-ea"/>
          <a:cs typeface="+mn-cs"/>
        </a:defRPr>
      </a:lvl2pPr>
      <a:lvl3pPr marL="914400" algn="l" defTabSz="914400" rtl="0" eaLnBrk="1" latinLnBrk="0" hangingPunct="1">
        <a:defRPr sz="2700" kern="1200">
          <a:solidFill>
            <a:schemeClr val="tx1"/>
          </a:solidFill>
          <a:latin typeface="+mn-lt"/>
          <a:ea typeface="+mn-ea"/>
          <a:cs typeface="+mn-cs"/>
        </a:defRPr>
      </a:lvl3pPr>
      <a:lvl4pPr marL="1371600" algn="l" defTabSz="914400" rtl="0" eaLnBrk="1" latinLnBrk="0" hangingPunct="1">
        <a:defRPr sz="2700" kern="1200">
          <a:solidFill>
            <a:schemeClr val="tx1"/>
          </a:solidFill>
          <a:latin typeface="+mn-lt"/>
          <a:ea typeface="+mn-ea"/>
          <a:cs typeface="+mn-cs"/>
        </a:defRPr>
      </a:lvl4pPr>
      <a:lvl5pPr marL="1828800" algn="l" defTabSz="914400" rtl="0" eaLnBrk="1" latinLnBrk="0" hangingPunct="1">
        <a:defRPr sz="2700" kern="1200">
          <a:solidFill>
            <a:schemeClr val="tx1"/>
          </a:solidFill>
          <a:latin typeface="+mn-lt"/>
          <a:ea typeface="+mn-ea"/>
          <a:cs typeface="+mn-cs"/>
        </a:defRPr>
      </a:lvl5pPr>
      <a:lvl6pPr marL="2286000" algn="l" defTabSz="914400" rtl="0" eaLnBrk="1" latinLnBrk="0" hangingPunct="1">
        <a:defRPr sz="2700" kern="1200">
          <a:solidFill>
            <a:schemeClr val="tx1"/>
          </a:solidFill>
          <a:latin typeface="+mn-lt"/>
          <a:ea typeface="+mn-ea"/>
          <a:cs typeface="+mn-cs"/>
        </a:defRPr>
      </a:lvl6pPr>
      <a:lvl7pPr marL="2743200" algn="l" defTabSz="914400" rtl="0" eaLnBrk="1" latinLnBrk="0" hangingPunct="1">
        <a:defRPr sz="2700" kern="1200">
          <a:solidFill>
            <a:schemeClr val="tx1"/>
          </a:solidFill>
          <a:latin typeface="+mn-lt"/>
          <a:ea typeface="+mn-ea"/>
          <a:cs typeface="+mn-cs"/>
        </a:defRPr>
      </a:lvl7pPr>
      <a:lvl8pPr marL="3200400" algn="l" defTabSz="914400" rtl="0" eaLnBrk="1" latinLnBrk="0" hangingPunct="1">
        <a:defRPr sz="2700" kern="1200">
          <a:solidFill>
            <a:schemeClr val="tx1"/>
          </a:solidFill>
          <a:latin typeface="+mn-lt"/>
          <a:ea typeface="+mn-ea"/>
          <a:cs typeface="+mn-cs"/>
        </a:defRPr>
      </a:lvl8pPr>
      <a:lvl9pPr marL="3657600" algn="l" defTabSz="9144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3.jpg"/><Relationship Id="rId6" Type="http://schemas.openxmlformats.org/officeDocument/2006/relationships/image" Target="../media/image4.jp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4" Type="http://schemas.openxmlformats.org/officeDocument/2006/relationships/image" Target="../media/image4.jpg"/><Relationship Id="rId5" Type="http://schemas.openxmlformats.org/officeDocument/2006/relationships/image" Target="../media/image5.png"/><Relationship Id="rId6" Type="http://schemas.openxmlformats.org/officeDocument/2006/relationships/image" Target="../media/image6.svg"/><Relationship Id="rId24" Type="http://schemas.openxmlformats.org/officeDocument/2006/relationships/image" Target="../media/image171.png"/><Relationship Id="rId25" Type="http://schemas.openxmlformats.org/officeDocument/2006/relationships/image" Target="../media/image172.png"/><Relationship Id="rId26" Type="http://schemas.openxmlformats.org/officeDocument/2006/relationships/image" Target="../media/image173.png"/><Relationship Id="rId27" Type="http://schemas.openxmlformats.org/officeDocument/2006/relationships/image" Target="../media/image174.png"/><Relationship Id="rId28" Type="http://schemas.openxmlformats.org/officeDocument/2006/relationships/image" Target="../media/image175.png"/><Relationship Id="rId29" Type="http://schemas.openxmlformats.org/officeDocument/2006/relationships/image" Target="../media/image176.png"/><Relationship Id="rId30" Type="http://schemas.openxmlformats.org/officeDocument/2006/relationships/image" Target="../media/image177.png"/><Relationship Id="rId31" Type="http://schemas.openxmlformats.org/officeDocument/2006/relationships/image" Target="../media/image178.png"/><Relationship Id="rId32" Type="http://schemas.openxmlformats.org/officeDocument/2006/relationships/image" Target="../media/image179.png"/><Relationship Id="rId33" Type="http://schemas.openxmlformats.org/officeDocument/2006/relationships/image" Target="../media/image180.png"/><Relationship Id="rId34" Type="http://schemas.openxmlformats.org/officeDocument/2006/relationships/image" Target="../media/image181.png"/><Relationship Id="rId35" Type="http://schemas.openxmlformats.org/officeDocument/2006/relationships/image" Target="../media/image182.png"/><Relationship Id="rId36" Type="http://schemas.openxmlformats.org/officeDocument/2006/relationships/image" Target="../media/image183.png"/><Relationship Id="rId37" Type="http://schemas.openxmlformats.org/officeDocument/2006/relationships/image" Target="../media/image184.png"/><Relationship Id="rId38" Type="http://schemas.openxmlformats.org/officeDocument/2006/relationships/image" Target="../media/image18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66" Type="http://schemas.openxmlformats.org/officeDocument/2006/relationships/image" Target="../media/image5.png"/><Relationship Id="rId67" Type="http://schemas.openxmlformats.org/officeDocument/2006/relationships/image" Target="../media/image6.svg"/><Relationship Id="rId68" Type="http://schemas.openxmlformats.org/officeDocument/2006/relationships/image" Target="../media/image4.jpg"/><Relationship Id="rId69" Type="http://schemas.openxmlformats.org/officeDocument/2006/relationships/image" Target="../media/image186.png"/><Relationship Id="rId70" Type="http://schemas.openxmlformats.org/officeDocument/2006/relationships/image" Target="../media/image187.png"/><Relationship Id="rId71" Type="http://schemas.openxmlformats.org/officeDocument/2006/relationships/image" Target="../media/image188.png"/><Relationship Id="rId72" Type="http://schemas.openxmlformats.org/officeDocument/2006/relationships/image" Target="../media/image189.png"/><Relationship Id="rId73" Type="http://schemas.openxmlformats.org/officeDocument/2006/relationships/image" Target="../media/image174.png"/><Relationship Id="rId74" Type="http://schemas.openxmlformats.org/officeDocument/2006/relationships/image" Target="../media/image173.png"/><Relationship Id="rId75" Type="http://schemas.openxmlformats.org/officeDocument/2006/relationships/image" Target="../media/image177.png"/><Relationship Id="rId76" Type="http://schemas.openxmlformats.org/officeDocument/2006/relationships/image" Target="../media/image176.png"/><Relationship Id="rId77" Type="http://schemas.openxmlformats.org/officeDocument/2006/relationships/image" Target="../media/image190.png"/><Relationship Id="rId78" Type="http://schemas.openxmlformats.org/officeDocument/2006/relationships/image" Target="../media/image191.png"/><Relationship Id="rId79" Type="http://schemas.openxmlformats.org/officeDocument/2006/relationships/image" Target="../media/image192.png"/><Relationship Id="rId80" Type="http://schemas.openxmlformats.org/officeDocument/2006/relationships/image" Target="../media/image193.png"/><Relationship Id="rId81" Type="http://schemas.openxmlformats.org/officeDocument/2006/relationships/image" Target="../media/image175.png"/><Relationship Id="rId82" Type="http://schemas.openxmlformats.org/officeDocument/2006/relationships/image" Target="../media/image194.png"/><Relationship Id="rId83" Type="http://schemas.openxmlformats.org/officeDocument/2006/relationships/image" Target="../media/image195.png"/><Relationship Id="rId84" Type="http://schemas.openxmlformats.org/officeDocument/2006/relationships/image" Target="../media/image196.png"/><Relationship Id="rId85" Type="http://schemas.openxmlformats.org/officeDocument/2006/relationships/image" Target="../media/image197.png"/><Relationship Id="rId86" Type="http://schemas.openxmlformats.org/officeDocument/2006/relationships/image" Target="../media/image171.png"/><Relationship Id="rId87" Type="http://schemas.openxmlformats.org/officeDocument/2006/relationships/image" Target="../media/image172.png"/><Relationship Id="rId88" Type="http://schemas.openxmlformats.org/officeDocument/2006/relationships/image" Target="../media/image198.png"/><Relationship Id="rId89" Type="http://schemas.openxmlformats.org/officeDocument/2006/relationships/image" Target="../media/image199.png"/><Relationship Id="rId90" Type="http://schemas.openxmlformats.org/officeDocument/2006/relationships/image" Target="../media/image200.png"/><Relationship Id="rId91" Type="http://schemas.openxmlformats.org/officeDocument/2006/relationships/image" Target="../media/image201.png"/><Relationship Id="rId92" Type="http://schemas.openxmlformats.org/officeDocument/2006/relationships/image" Target="../media/image202.png"/><Relationship Id="rId93" Type="http://schemas.openxmlformats.org/officeDocument/2006/relationships/image" Target="../media/image203.png"/><Relationship Id="rId94" Type="http://schemas.openxmlformats.org/officeDocument/2006/relationships/image" Target="../media/image180.png"/><Relationship Id="rId95" Type="http://schemas.openxmlformats.org/officeDocument/2006/relationships/image" Target="../media/image204.png"/><Relationship Id="rId96" Type="http://schemas.openxmlformats.org/officeDocument/2006/relationships/image" Target="../media/image205.png"/><Relationship Id="rId97" Type="http://schemas.openxmlformats.org/officeDocument/2006/relationships/image" Target="../media/image206.png"/><Relationship Id="rId98" Type="http://schemas.openxmlformats.org/officeDocument/2006/relationships/image" Target="../media/image207.png"/><Relationship Id="rId99" Type="http://schemas.openxmlformats.org/officeDocument/2006/relationships/image" Target="../media/image208.png"/><Relationship Id="rId100" Type="http://schemas.openxmlformats.org/officeDocument/2006/relationships/image" Target="../media/image209.png"/><Relationship Id="rId101" Type="http://schemas.openxmlformats.org/officeDocument/2006/relationships/image" Target="../media/image210.png"/><Relationship Id="rId102" Type="http://schemas.openxmlformats.org/officeDocument/2006/relationships/image" Target="../media/image211.png"/><Relationship Id="rId103" Type="http://schemas.openxmlformats.org/officeDocument/2006/relationships/image" Target="../media/image212.png"/><Relationship Id="rId104" Type="http://schemas.openxmlformats.org/officeDocument/2006/relationships/image" Target="../media/image213.png"/><Relationship Id="rId105" Type="http://schemas.openxmlformats.org/officeDocument/2006/relationships/image" Target="../media/image214.png"/><Relationship Id="rId106" Type="http://schemas.openxmlformats.org/officeDocument/2006/relationships/image" Target="../media/image215.png"/><Relationship Id="rId107" Type="http://schemas.openxmlformats.org/officeDocument/2006/relationships/image" Target="../media/image216.png"/><Relationship Id="rId108" Type="http://schemas.openxmlformats.org/officeDocument/2006/relationships/image" Target="../media/image217.png"/><Relationship Id="rId109" Type="http://schemas.openxmlformats.org/officeDocument/2006/relationships/image" Target="../media/image218.png"/><Relationship Id="rId110" Type="http://schemas.openxmlformats.org/officeDocument/2006/relationships/image" Target="../media/image219.png"/><Relationship Id="rId111" Type="http://schemas.openxmlformats.org/officeDocument/2006/relationships/image" Target="../media/image182.png"/><Relationship Id="rId112" Type="http://schemas.openxmlformats.org/officeDocument/2006/relationships/image" Target="../media/image220.png"/><Relationship Id="rId113"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38" Type="http://schemas.openxmlformats.org/officeDocument/2006/relationships/image" Target="../media/image5.png"/><Relationship Id="rId39" Type="http://schemas.openxmlformats.org/officeDocument/2006/relationships/image" Target="../media/image6.svg"/><Relationship Id="rId40" Type="http://schemas.openxmlformats.org/officeDocument/2006/relationships/image" Target="../media/image4.jpg"/><Relationship Id="rId41" Type="http://schemas.openxmlformats.org/officeDocument/2006/relationships/image" Target="../media/image221.png"/><Relationship Id="rId42" Type="http://schemas.openxmlformats.org/officeDocument/2006/relationships/image" Target="../media/image209.png"/><Relationship Id="rId43" Type="http://schemas.openxmlformats.org/officeDocument/2006/relationships/image" Target="../media/image222.png"/><Relationship Id="rId44" Type="http://schemas.openxmlformats.org/officeDocument/2006/relationships/image" Target="../media/image216.png"/><Relationship Id="rId45" Type="http://schemas.openxmlformats.org/officeDocument/2006/relationships/chart" Target="../charts/chart2.xml"/><Relationship Id="rId46" Type="http://schemas.openxmlformats.org/officeDocument/2006/relationships/chart" Target="../charts/chart3.xml"/><Relationship Id="rId47" Type="http://schemas.openxmlformats.org/officeDocument/2006/relationships/image" Target="../media/image186.png"/><Relationship Id="rId48" Type="http://schemas.openxmlformats.org/officeDocument/2006/relationships/image" Target="../media/image188.png"/><Relationship Id="rId49" Type="http://schemas.openxmlformats.org/officeDocument/2006/relationships/image" Target="../media/image223.png"/><Relationship Id="rId50" Type="http://schemas.openxmlformats.org/officeDocument/2006/relationships/image" Target="../media/image224.png"/><Relationship Id="rId51" Type="http://schemas.openxmlformats.org/officeDocument/2006/relationships/image" Target="../media/image225.png"/><Relationship Id="rId52" Type="http://schemas.openxmlformats.org/officeDocument/2006/relationships/image" Target="../media/image226.png"/><Relationship Id="rId53" Type="http://schemas.openxmlformats.org/officeDocument/2006/relationships/image" Target="../media/image195.png"/><Relationship Id="rId54" Type="http://schemas.openxmlformats.org/officeDocument/2006/relationships/image" Target="../media/image227.png"/><Relationship Id="rId55" Type="http://schemas.openxmlformats.org/officeDocument/2006/relationships/image" Target="../media/image182.png"/><Relationship Id="rId56" Type="http://schemas.openxmlformats.org/officeDocument/2006/relationships/chart" Target="../charts/chart4.xml"/><Relationship Id="rId57" Type="http://schemas.openxmlformats.org/officeDocument/2006/relationships/image" Target="../media/image228.png"/><Relationship Id="rId58" Type="http://schemas.openxmlformats.org/officeDocument/2006/relationships/image" Target="../media/image229.png"/><Relationship Id="rId59" Type="http://schemas.openxmlformats.org/officeDocument/2006/relationships/image" Target="../media/image230.png"/><Relationship Id="rId60" Type="http://schemas.openxmlformats.org/officeDocument/2006/relationships/image" Target="../media/image231.png"/><Relationship Id="rId61" Type="http://schemas.openxmlformats.org/officeDocument/2006/relationships/image" Target="../media/image207.png"/><Relationship Id="rId62" Type="http://schemas.openxmlformats.org/officeDocument/2006/relationships/image" Target="../media/image208.png"/><Relationship Id="rId63" Type="http://schemas.openxmlformats.org/officeDocument/2006/relationships/image" Target="../media/image232.png"/><Relationship Id="rId64" Type="http://schemas.openxmlformats.org/officeDocument/2006/relationships/image" Target="../media/image233.png"/><Relationship Id="rId65" Type="http://schemas.openxmlformats.org/officeDocument/2006/relationships/image" Target="../media/image234.png"/><Relationship Id="rId66" Type="http://schemas.openxmlformats.org/officeDocument/2006/relationships/image" Target="../media/image235.png"/><Relationship Id="rId67" Type="http://schemas.openxmlformats.org/officeDocument/2006/relationships/image" Target="../media/image213.png"/><Relationship Id="rId68" Type="http://schemas.openxmlformats.org/officeDocument/2006/relationships/image" Target="../media/image210.png"/><Relationship Id="rId69" Type="http://schemas.openxmlformats.org/officeDocument/2006/relationships/image" Target="../media/image236.png"/><Relationship Id="rId70" Type="http://schemas.openxmlformats.org/officeDocument/2006/relationships/image" Target="../media/image237.png"/><Relationship Id="rId71" Type="http://schemas.openxmlformats.org/officeDocument/2006/relationships/image" Target="../media/image238.png"/><Relationship Id="rId72" Type="http://schemas.openxmlformats.org/officeDocument/2006/relationships/image" Target="../media/image239.png"/><Relationship Id="rId73" Type="http://schemas.openxmlformats.org/officeDocument/2006/relationships/image" Target="../media/image240.png"/><Relationship Id="rId74"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30" Type="http://schemas.openxmlformats.org/officeDocument/2006/relationships/image" Target="../media/image6.svg"/><Relationship Id="rId31" Type="http://schemas.openxmlformats.org/officeDocument/2006/relationships/image" Target="../media/image4.jpg"/><Relationship Id="rId32" Type="http://schemas.openxmlformats.org/officeDocument/2006/relationships/image" Target="../media/image5.png"/><Relationship Id="rId37" Type="http://schemas.openxmlformats.org/officeDocument/2006/relationships/image" Target="../media/image182.png"/><Relationship Id="rId38" Type="http://schemas.openxmlformats.org/officeDocument/2006/relationships/image" Target="../media/image241.png"/><Relationship Id="rId39" Type="http://schemas.openxmlformats.org/officeDocument/2006/relationships/image" Target="../media/image216.png"/><Relationship Id="rId40" Type="http://schemas.openxmlformats.org/officeDocument/2006/relationships/image" Target="../media/image208.png"/><Relationship Id="rId41" Type="http://schemas.openxmlformats.org/officeDocument/2006/relationships/image" Target="../media/image242.png"/><Relationship Id="rId42" Type="http://schemas.openxmlformats.org/officeDocument/2006/relationships/image" Target="../media/image243.png"/><Relationship Id="rId43" Type="http://schemas.openxmlformats.org/officeDocument/2006/relationships/image" Target="../media/image184.png"/><Relationship Id="rId44" Type="http://schemas.openxmlformats.org/officeDocument/2006/relationships/image" Target="../media/image244.png"/><Relationship Id="rId45" Type="http://schemas.openxmlformats.org/officeDocument/2006/relationships/image" Target="../media/image245.png"/><Relationship Id="rId46" Type="http://schemas.openxmlformats.org/officeDocument/2006/relationships/image" Target="../media/image246.png"/><Relationship Id="rId47" Type="http://schemas.openxmlformats.org/officeDocument/2006/relationships/image" Target="../media/image247.png"/><Relationship Id="rId48" Type="http://schemas.openxmlformats.org/officeDocument/2006/relationships/image" Target="../media/image195.png"/><Relationship Id="rId49" Type="http://schemas.openxmlformats.org/officeDocument/2006/relationships/image" Target="../media/image248.png"/><Relationship Id="rId50" Type="http://schemas.openxmlformats.org/officeDocument/2006/relationships/image" Target="../media/image239.png"/><Relationship Id="rId51" Type="http://schemas.openxmlformats.org/officeDocument/2006/relationships/image" Target="../media/image226.png"/><Relationship Id="rId52" Type="http://schemas.openxmlformats.org/officeDocument/2006/relationships/image" Target="../media/image230.png"/><Relationship Id="rId53" Type="http://schemas.openxmlformats.org/officeDocument/2006/relationships/image" Target="../media/image249.png"/><Relationship Id="rId54"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2" Type="http://schemas.openxmlformats.org/officeDocument/2006/relationships/image" Target="../media/image6.svg"/><Relationship Id="rId33" Type="http://schemas.openxmlformats.org/officeDocument/2006/relationships/image" Target="../media/image4.jpg"/><Relationship Id="rId34" Type="http://schemas.openxmlformats.org/officeDocument/2006/relationships/image" Target="../media/image5.png"/><Relationship Id="rId35" Type="http://schemas.openxmlformats.org/officeDocument/2006/relationships/image" Target="../media/image250.png"/><Relationship Id="rId36" Type="http://schemas.openxmlformats.org/officeDocument/2006/relationships/hyperlink" Target="https://doi.org/10.1016/S0022-1694(00)00278-X" TargetMode="External"/><Relationship Id="rId37" Type="http://schemas.openxmlformats.org/officeDocument/2006/relationships/image" Target="../media/image251.png"/><Relationship Id="rId38" Type="http://schemas.openxmlformats.org/officeDocument/2006/relationships/hyperlink" Target="https://www.epa.gov/water-research/storm-water-management-model-swmm" TargetMode="External"/><Relationship Id="rId39" Type="http://schemas.openxmlformats.org/officeDocument/2006/relationships/image" Target="../media/image252.png"/><Relationship Id="rId40" Type="http://schemas.openxmlformats.org/officeDocument/2006/relationships/hyperlink" Target="https://doi.org/10.1256/qj.04.100" TargetMode="External"/><Relationship Id="rId41" Type="http://schemas.openxmlformats.org/officeDocument/2006/relationships/image" Target="../media/image253.png"/><Relationship Id="rId42" Type="http://schemas.openxmlformats.org/officeDocument/2006/relationships/hyperlink" Target="https://doi.org/10.5194/gmd-12-4185-2019" TargetMode="External"/><Relationship Id="rId43" Type="http://schemas.openxmlformats.org/officeDocument/2006/relationships/image" Target="../media/image254.png"/><Relationship Id="rId44" Type="http://schemas.openxmlformats.org/officeDocument/2006/relationships/hyperlink" Target="https://arxiv.org/abs/1505.04597" TargetMode="External"/><Relationship Id="rId45" Type="http://schemas.openxmlformats.org/officeDocument/2006/relationships/image" Target="../media/image255.png"/><Relationship Id="rId46" Type="http://schemas.openxmlformats.org/officeDocument/2006/relationships/hyperlink" Target="https://doi.org/10.1029/94JC00572" TargetMode="External"/><Relationship Id="rId47" Type="http://schemas.openxmlformats.org/officeDocument/2006/relationships/image" Target="../media/image256.png"/><Relationship Id="rId48" Type="http://schemas.openxmlformats.org/officeDocument/2006/relationships/hyperlink" Target="https://ndma.gov.in/sites/default/files/PDF/Guidelines/management_urban_flooding.pdf" TargetMode="External"/><Relationship Id="rId49" Type="http://schemas.openxmlformats.org/officeDocument/2006/relationships/image" Target="../media/image257.png"/><Relationship Id="rId50" Type="http://schemas.openxmlformats.org/officeDocument/2006/relationships/hyperlink" Target="https://dataspace.copernicus.eu/explore-data/data-collections/copernicus-contributing-missions/collections-description/COP-DEM" TargetMode="External"/><Relationship Id="rId51" Type="http://schemas.openxmlformats.org/officeDocument/2006/relationships/image" Target="../media/image258.png"/><Relationship Id="rId52" Type="http://schemas.openxmlformats.org/officeDocument/2006/relationships/image" Target="../media/image172.png"/><Relationship Id="rId53" Type="http://schemas.openxmlformats.org/officeDocument/2006/relationships/image" Target="../media/image201.png"/><Relationship Id="rId54" Type="http://schemas.openxmlformats.org/officeDocument/2006/relationships/hyperlink" Target="https://onnxruntime.ai/" TargetMode="External"/><Relationship Id="rId55" Type="http://schemas.openxmlformats.org/officeDocument/2006/relationships/image" Target="../media/image223.png"/><Relationship Id="rId56" Type="http://schemas.openxmlformats.org/officeDocument/2006/relationships/hyperlink" Target="https://maplibre.org/" TargetMode="External"/><Relationship Id="rId57" Type="http://schemas.openxmlformats.org/officeDocument/2006/relationships/image" Target="../media/image224.png"/><Relationship Id="rId58" Type="http://schemas.openxmlformats.org/officeDocument/2006/relationships/hyperlink" Target="https://www.openstreetmap.org/" TargetMode="External"/><Relationship Id="rId59" Type="http://schemas.openxmlformats.org/officeDocument/2006/relationships/image" Target="../media/image259.png"/><Relationship Id="rId60" Type="http://schemas.openxmlformats.org/officeDocument/2006/relationships/hyperlink" Target="https://docs.oasis-open.org/emergency/cap/v1.2/CAP-v1.2.html" TargetMode="External"/><Relationship Id="rId61" Type="http://schemas.openxmlformats.org/officeDocument/2006/relationships/image" Target="../media/image260.png"/><Relationship Id="rId62" Type="http://schemas.openxmlformats.org/officeDocument/2006/relationships/image" Target="../media/image261.jpg"/><Relationship Id="rId63" Type="http://schemas.openxmlformats.org/officeDocument/2006/relationships/hyperlink" Target="https://drishti-sand.vercel.app/dashboard/" TargetMode="External"/><Relationship Id="rId64" Type="http://schemas.openxmlformats.org/officeDocument/2006/relationships/image" Target="../media/image262.jpg"/><Relationship Id="rId65" Type="http://schemas.openxmlformats.org/officeDocument/2006/relationships/hyperlink" Target="https://drishti-sand.vercel.app/" TargetMode="External"/><Relationship Id="rId66" Type="http://schemas.openxmlformats.org/officeDocument/2006/relationships/image" Target="../media/image263.jpg"/><Relationship Id="rId67" Type="http://schemas.openxmlformats.org/officeDocument/2006/relationships/hyperlink" Target="https://github.com/arpitpandey0307/Drishti/blob/main/brag-output/brag.mp4" TargetMode="External"/><Relationship Id="rId68" Type="http://schemas.openxmlformats.org/officeDocument/2006/relationships/image" Target="../media/image264.png"/><Relationship Id="rId69" Type="http://schemas.openxmlformats.org/officeDocument/2006/relationships/hyperlink" Target="https://github.com/arpitpandey0307/Drishti" TargetMode="External"/><Relationship Id="rId70" Type="http://schemas.openxmlformats.org/officeDocument/2006/relationships/image" Target="../media/image2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165" y="1277283"/>
            <a:ext cx="6957908" cy="7732452"/>
          </a:xfrm>
          <a:custGeom>
            <a:avLst/>
            <a:gdLst/>
            <a:ahLst/>
            <a:cxnLst/>
            <a:rect l="l" t="t" r="r" b="b"/>
            <a:pathLst>
              <a:path w="6957908" h="7732452">
                <a:moveTo>
                  <a:pt x="0" y="0"/>
                </a:moveTo>
                <a:lnTo>
                  <a:pt x="6957908" y="0"/>
                </a:lnTo>
                <a:lnTo>
                  <a:pt x="6957908" y="7732453"/>
                </a:lnTo>
                <a:lnTo>
                  <a:pt x="0" y="7732453"/>
                </a:lnTo>
                <a:lnTo>
                  <a:pt x="0" y="0"/>
                </a:lnTo>
                <a:close/>
              </a:path>
            </a:pathLst>
          </a:custGeom>
          <a:blipFill>
            <a:blip>
              <a:extLst>
                <a:ext uri="{96DAC541-7B7A-43D3-8B79-37D633B846F1}">
                  <asvg:svgBlip xmlns:asvg="http://schemas.microsoft.com/office/drawing/2016/SVG/main" r:embed="rId3"/>
                </a:ext>
              </a:extLst>
            </a:blip>
            <a:stretch>
              <a:fillRect l="-22" r="-22"/>
            </a:stretch>
          </a:blipFill>
        </p:spPr>
      </p:sp>
      <p:grpSp>
        <p:nvGrpSpPr>
          <p:cNvPr id="3" name="Group 3"/>
          <p:cNvGrpSpPr/>
          <p:nvPr/>
        </p:nvGrpSpPr>
        <p:grpSpPr>
          <a:xfrm>
            <a:off x="10557462" y="3162453"/>
            <a:ext cx="4599175" cy="4918890"/>
            <a:chOff x="0" y="0"/>
            <a:chExt cx="6407023" cy="6852412"/>
          </a:xfrm>
        </p:grpSpPr>
        <p:sp>
          <p:nvSpPr>
            <p:cNvPr id="4" name="Freeform 4"/>
            <p:cNvSpPr/>
            <p:nvPr/>
          </p:nvSpPr>
          <p:spPr>
            <a:xfrm>
              <a:off x="0" y="0"/>
              <a:ext cx="6407023" cy="6852412"/>
            </a:xfrm>
            <a:custGeom>
              <a:avLst/>
              <a:gdLst/>
              <a:ahLst/>
              <a:cxnLst/>
              <a:rect l="l" t="t" r="r" b="b"/>
              <a:pathLst>
                <a:path w="6407023" h="6852412">
                  <a:moveTo>
                    <a:pt x="0" y="0"/>
                  </a:moveTo>
                  <a:lnTo>
                    <a:pt x="6407023" y="0"/>
                  </a:lnTo>
                  <a:lnTo>
                    <a:pt x="6407023" y="6852412"/>
                  </a:lnTo>
                  <a:lnTo>
                    <a:pt x="0" y="6852412"/>
                  </a:lnTo>
                  <a:lnTo>
                    <a:pt x="0" y="0"/>
                  </a:lnTo>
                  <a:close/>
                </a:path>
              </a:pathLst>
            </a:custGeom>
            <a:blipFill>
              <a:blip r:embed="rId4">
                <a:alphaModFix amt="87220"/>
              </a:blip>
              <a:stretch>
                <a:fillRect l="-601" r="-148749"/>
              </a:stretch>
            </a:blipFill>
          </p:spPr>
        </p:sp>
      </p:grpSp>
      <p:grpSp>
        <p:nvGrpSpPr>
          <p:cNvPr id="5" name="Group 5"/>
          <p:cNvGrpSpPr/>
          <p:nvPr/>
        </p:nvGrpSpPr>
        <p:grpSpPr>
          <a:xfrm>
            <a:off x="496929" y="-790137"/>
            <a:ext cx="15544800" cy="3114675"/>
            <a:chOff x="0" y="0"/>
            <a:chExt cx="20726400" cy="4152900"/>
          </a:xfrm>
        </p:grpSpPr>
        <p:sp>
          <p:nvSpPr>
            <p:cNvPr id="6" name="Freeform 6"/>
            <p:cNvSpPr/>
            <p:nvPr/>
          </p:nvSpPr>
          <p:spPr>
            <a:xfrm>
              <a:off x="0" y="0"/>
              <a:ext cx="20726400" cy="4152900"/>
            </a:xfrm>
            <a:custGeom>
              <a:avLst/>
              <a:gdLst/>
              <a:ahLst/>
              <a:cxnLst/>
              <a:rect l="l" t="t" r="r" b="b"/>
              <a:pathLst>
                <a:path w="20726400" h="4152900">
                  <a:moveTo>
                    <a:pt x="0" y="0"/>
                  </a:moveTo>
                  <a:lnTo>
                    <a:pt x="20726400" y="0"/>
                  </a:lnTo>
                  <a:lnTo>
                    <a:pt x="20726400" y="4152900"/>
                  </a:lnTo>
                  <a:lnTo>
                    <a:pt x="0" y="4152900"/>
                  </a:lnTo>
                  <a:close/>
                </a:path>
              </a:pathLst>
            </a:custGeom>
            <a:blipFill>
              <a:blip r:embed="rId5">
                <a:alphaModFix amt="0"/>
              </a:blip>
              <a:stretch>
                <a:fillRect t="-47178" b="-47178"/>
              </a:stretch>
            </a:blipFill>
          </p:spPr>
        </p:sp>
      </p:grpSp>
      <p:grpSp>
        <p:nvGrpSpPr>
          <p:cNvPr id="7" name="Group 7"/>
          <p:cNvGrpSpPr/>
          <p:nvPr/>
        </p:nvGrpSpPr>
        <p:grpSpPr>
          <a:xfrm>
            <a:off x="496929" y="-535781"/>
            <a:ext cx="15544800" cy="3128962"/>
            <a:chOff x="0" y="0"/>
            <a:chExt cx="20726400" cy="4171950"/>
          </a:xfrm>
        </p:grpSpPr>
        <p:sp>
          <p:nvSpPr>
            <p:cNvPr id="8" name="Freeform 8"/>
            <p:cNvSpPr/>
            <p:nvPr/>
          </p:nvSpPr>
          <p:spPr>
            <a:xfrm>
              <a:off x="0" y="0"/>
              <a:ext cx="20726400" cy="4171950"/>
            </a:xfrm>
            <a:custGeom>
              <a:avLst/>
              <a:gdLst/>
              <a:ahLst/>
              <a:cxnLst/>
              <a:rect l="l" t="t" r="r" b="b"/>
              <a:pathLst>
                <a:path w="20726400" h="4171950">
                  <a:moveTo>
                    <a:pt x="0" y="0"/>
                  </a:moveTo>
                  <a:lnTo>
                    <a:pt x="20726400" y="0"/>
                  </a:lnTo>
                  <a:lnTo>
                    <a:pt x="20726400" y="4171950"/>
                  </a:lnTo>
                  <a:lnTo>
                    <a:pt x="0" y="4171950"/>
                  </a:lnTo>
                  <a:close/>
                </a:path>
              </a:pathLst>
            </a:custGeom>
            <a:blipFill>
              <a:blip r:embed="rId6">
                <a:alphaModFix amt="0"/>
              </a:blip>
              <a:stretch>
                <a:fillRect t="-46802" b="-46802"/>
              </a:stretch>
            </a:blipFill>
          </p:spPr>
        </p:sp>
        <p:sp>
          <p:nvSpPr>
            <p:cNvPr id="9" name="TextBox 9"/>
            <p:cNvSpPr txBox="1"/>
            <p:nvPr/>
          </p:nvSpPr>
          <p:spPr>
            <a:xfrm>
              <a:off x="0" y="-28575"/>
              <a:ext cx="20726400" cy="420052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SMART INDIA HACKATHON 2026</a:t>
              </a:r>
            </a:p>
          </p:txBody>
        </p:sp>
      </p:grpSp>
      <p:sp>
        <p:nvSpPr>
          <p:cNvPr id="10" name="TextBox 10"/>
          <p:cNvSpPr txBox="1"/>
          <p:nvPr/>
        </p:nvSpPr>
        <p:spPr>
          <a:xfrm>
            <a:off x="0" y="1248708"/>
            <a:ext cx="10557462" cy="8446800"/>
          </a:xfrm>
          <a:prstGeom prst="rect">
            <a:avLst/>
          </a:prstGeom>
        </p:spPr>
        <p:txBody>
          <a:bodyPr lIns="0" tIns="0" rIns="0" bIns="0" rtlCol="0" anchor="t">
            <a:spAutoFit/>
          </a:bodyPr>
          <a:lstStyle/>
          <a:p>
            <a:pPr algn="l">
              <a:lnSpc>
                <a:spcPts val="3933"/>
              </a:lnSpc>
            </a:pPr>
            <a:endParaRPr dirty="0">
              <a:latin typeface="Segoe UI" panose="020B0502040204020203" pitchFamily="34" charset="0"/>
              <a:cs typeface="Segoe UI" panose="020B0502040204020203" pitchFamily="34" charset="0"/>
            </a:endParaRPr>
          </a:p>
          <a:p>
            <a:pPr marL="692184" lvl="2" indent="-230728" algn="just">
              <a:lnSpc>
                <a:spcPts val="7869"/>
              </a:lnSpc>
              <a:buFont typeface="Arial"/>
              <a:buChar char="⚬"/>
            </a:pPr>
            <a:r>
              <a:rPr lang="en-US" sz="3278" b="1" dirty="0">
                <a:solidFill>
                  <a:srgbClr val="000000"/>
                </a:solidFill>
                <a:latin typeface="Segoe UI" panose="020B0502040204020203" pitchFamily="34" charset="0"/>
                <a:ea typeface="Arial Bold"/>
                <a:cs typeface="Segoe UI" panose="020B0502040204020203" pitchFamily="34" charset="0"/>
                <a:sym typeface="Arial Bold"/>
              </a:rPr>
              <a:t>Problem Statement ID – SIH26085</a:t>
            </a:r>
          </a:p>
          <a:p>
            <a:pPr marL="692184" lvl="2" indent="-230728" algn="just">
              <a:lnSpc>
                <a:spcPts val="7869"/>
              </a:lnSpc>
              <a:buFont typeface="Arial"/>
              <a:buChar char="⚬"/>
            </a:pPr>
            <a:r>
              <a:rPr lang="en-US" sz="3278" b="1" dirty="0">
                <a:solidFill>
                  <a:srgbClr val="000000"/>
                </a:solidFill>
                <a:latin typeface="Segoe UI" panose="020B0502040204020203" pitchFamily="34" charset="0"/>
                <a:ea typeface="Arial Bold"/>
                <a:cs typeface="Segoe UI" panose="020B0502040204020203" pitchFamily="34" charset="0"/>
                <a:sym typeface="Arial Bold"/>
              </a:rPr>
              <a:t>Problem Statement Title- </a:t>
            </a:r>
            <a:r>
              <a:rPr lang="en-US" sz="3278" b="1" dirty="0">
                <a:solidFill>
                  <a:srgbClr val="FF3131"/>
                </a:solidFill>
                <a:latin typeface="Segoe UI" panose="020B0502040204020203" pitchFamily="34" charset="0"/>
                <a:ea typeface="Arial Bold"/>
                <a:cs typeface="Segoe UI" panose="020B0502040204020203" pitchFamily="34" charset="0"/>
                <a:sym typeface="Arial Bold"/>
              </a:rPr>
              <a:t>Street-Level Urban Flood Nowcasting (0–3 h) coupling Rainfall, Terrain and Drainage with Flood-Safe Routing</a:t>
            </a:r>
          </a:p>
          <a:p>
            <a:pPr marL="692184" lvl="2" indent="-230728" algn="just">
              <a:lnSpc>
                <a:spcPts val="7869"/>
              </a:lnSpc>
              <a:buFont typeface="Arial"/>
              <a:buChar char="⚬"/>
            </a:pPr>
            <a:r>
              <a:rPr lang="en-US" sz="3278" b="1" dirty="0">
                <a:solidFill>
                  <a:srgbClr val="000000"/>
                </a:solidFill>
                <a:latin typeface="Segoe UI" panose="020B0502040204020203" pitchFamily="34" charset="0"/>
                <a:ea typeface="Arial Bold"/>
                <a:cs typeface="Segoe UI" panose="020B0502040204020203" pitchFamily="34" charset="0"/>
                <a:sym typeface="Arial Bold"/>
              </a:rPr>
              <a:t>Theme- Disaster Management</a:t>
            </a:r>
          </a:p>
          <a:p>
            <a:pPr marL="692184" lvl="2" indent="-230728" algn="just">
              <a:lnSpc>
                <a:spcPts val="7869"/>
              </a:lnSpc>
              <a:buFont typeface="Arial"/>
              <a:buChar char="⚬"/>
            </a:pPr>
            <a:r>
              <a:rPr lang="en-US" sz="3278" b="1" dirty="0">
                <a:solidFill>
                  <a:srgbClr val="000000"/>
                </a:solidFill>
                <a:latin typeface="Segoe UI" panose="020B0502040204020203" pitchFamily="34" charset="0"/>
                <a:ea typeface="Arial Bold"/>
                <a:cs typeface="Segoe UI" panose="020B0502040204020203" pitchFamily="34" charset="0"/>
                <a:sym typeface="Arial Bold"/>
              </a:rPr>
              <a:t>PS Category- Software</a:t>
            </a:r>
          </a:p>
          <a:p>
            <a:pPr marL="692184" lvl="2" indent="-230728" algn="just">
              <a:lnSpc>
                <a:spcPts val="7869"/>
              </a:lnSpc>
              <a:buFont typeface="Arial"/>
              <a:buChar char="⚬"/>
            </a:pPr>
            <a:r>
              <a:rPr lang="en-US" sz="3278" b="1">
                <a:solidFill>
                  <a:srgbClr val="000000"/>
                </a:solidFill>
                <a:latin typeface="Segoe UI" panose="020B0502040204020203" pitchFamily="34" charset="0"/>
                <a:ea typeface="Arial Bold"/>
                <a:cs typeface="Segoe UI" panose="020B0502040204020203" pitchFamily="34" charset="0"/>
                <a:sym typeface="Arial Bold"/>
              </a:rPr>
              <a:t>Team ID- 171929</a:t>
            </a:r>
            <a:endParaRPr lang="en-US" sz="3278" b="1" dirty="0">
              <a:solidFill>
                <a:srgbClr val="000000"/>
              </a:solidFill>
              <a:latin typeface="Segoe UI" panose="020B0502040204020203" pitchFamily="34" charset="0"/>
              <a:ea typeface="Arial Bold"/>
              <a:cs typeface="Segoe UI" panose="020B0502040204020203" pitchFamily="34" charset="0"/>
              <a:sym typeface="Arial Bold"/>
            </a:endParaRPr>
          </a:p>
          <a:p>
            <a:pPr marL="692184" lvl="2" indent="-230728" algn="just">
              <a:lnSpc>
                <a:spcPts val="7869"/>
              </a:lnSpc>
              <a:buFont typeface="Arial"/>
              <a:buChar char="⚬"/>
            </a:pPr>
            <a:r>
              <a:rPr lang="en-US" sz="3278" b="1" dirty="0">
                <a:solidFill>
                  <a:srgbClr val="000000"/>
                </a:solidFill>
                <a:latin typeface="Segoe UI" panose="020B0502040204020203" pitchFamily="34" charset="0"/>
                <a:ea typeface="Arial Bold"/>
                <a:cs typeface="Segoe UI" panose="020B0502040204020203" pitchFamily="34" charset="0"/>
                <a:sym typeface="Arial Bold"/>
              </a:rPr>
              <a:t>Team Name (Registered on portal)- </a:t>
            </a:r>
            <a:r>
              <a:rPr lang="en-US" sz="3278" b="1" dirty="0" err="1">
                <a:solidFill>
                  <a:srgbClr val="FF3131"/>
                </a:solidFill>
                <a:latin typeface="Segoe UI" panose="020B0502040204020203" pitchFamily="34" charset="0"/>
                <a:ea typeface="Arial Bold"/>
                <a:cs typeface="Segoe UI" panose="020B0502040204020203" pitchFamily="34" charset="0"/>
                <a:sym typeface="Arial Bold"/>
              </a:rPr>
              <a:t>LLMao</a:t>
            </a:r>
            <a:endParaRPr lang="en-US" sz="3278" b="1" dirty="0">
              <a:solidFill>
                <a:srgbClr val="FF3131"/>
              </a:solidFill>
              <a:latin typeface="Segoe UI" panose="020B0502040204020203" pitchFamily="34" charset="0"/>
              <a:ea typeface="Arial Bold"/>
              <a:cs typeface="Segoe UI" panose="020B0502040204020203" pitchFamily="34" charset="0"/>
              <a:sym typeface="Arial Bold"/>
            </a:endParaRPr>
          </a:p>
        </p:txBody>
      </p:sp>
      <p:grpSp>
        <p:nvGrpSpPr>
          <p:cNvPr id="11" name="Group 11"/>
          <p:cNvGrpSpPr/>
          <p:nvPr/>
        </p:nvGrpSpPr>
        <p:grpSpPr>
          <a:xfrm>
            <a:off x="14670129" y="2248"/>
            <a:ext cx="3374803" cy="1593532"/>
            <a:chOff x="0" y="0"/>
            <a:chExt cx="4499737" cy="2124710"/>
          </a:xfrm>
        </p:grpSpPr>
        <p:sp>
          <p:nvSpPr>
            <p:cNvPr id="12" name="Freeform 12"/>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7"/>
              <a:stretch>
                <a:fillRect t="-22" b="-21"/>
              </a:stretch>
            </a:blipFill>
          </p:spPr>
        </p:sp>
      </p:grpSp>
      <p:sp>
        <p:nvSpPr>
          <p:cNvPr id="15" name="TextBox 15"/>
          <p:cNvSpPr txBox="1"/>
          <p:nvPr/>
        </p:nvSpPr>
        <p:spPr>
          <a:xfrm>
            <a:off x="17538325" y="9847164"/>
            <a:ext cx="207007" cy="285750"/>
          </a:xfrm>
          <a:prstGeom prst="rect">
            <a:avLst/>
          </a:prstGeom>
        </p:spPr>
        <p:txBody>
          <a:bodyPr lIns="0" tIns="0" rIns="0" bIns="0" rtlCol="0" anchor="t">
            <a:spAutoFit/>
          </a:bodyPr>
          <a:lstStyle/>
          <a:p>
            <a:pPr algn="l">
              <a:lnSpc>
                <a:spcPts val="2160"/>
              </a:lnSpc>
            </a:pPr>
            <a:r>
              <a:rPr lang="en-US" sz="1800" b="1" spc="-50" dirty="0">
                <a:solidFill>
                  <a:srgbClr val="FFFFFF"/>
                </a:solidFill>
                <a:latin typeface="Arial Bold"/>
                <a:ea typeface="Arial Bold"/>
                <a:cs typeface="Arial Bold"/>
                <a:sym typeface="Arial Bold"/>
              </a:rPr>
              <a:t>1</a:t>
            </a:r>
          </a:p>
        </p:txBody>
      </p:sp>
      <p:sp>
        <p:nvSpPr>
          <p:cNvPr id="17" name="Freeform 22">
            <a:extLst>
              <a:ext uri="{FF2B5EF4-FFF2-40B4-BE49-F238E27FC236}">
                <a16:creationId xmlns:a16="http://schemas.microsoft.com/office/drawing/2014/main" id="{60FEBC3D-0427-8A76-2DBF-724E55ED4ABF}"/>
              </a:ext>
            </a:extLst>
          </p:cNvPr>
          <p:cNvSpPr/>
          <p:nvPr/>
        </p:nvSpPr>
        <p:spPr>
          <a:xfrm>
            <a:off x="0" y="9895194"/>
            <a:ext cx="18288000" cy="413872"/>
          </a:xfrm>
          <a:custGeom>
            <a:avLst/>
            <a:gdLst/>
            <a:ahLst/>
            <a:cxnLst/>
            <a:rect l="l" t="t" r="r" b="b"/>
            <a:pathLst>
              <a:path w="24384000" h="730377">
                <a:moveTo>
                  <a:pt x="24384000" y="730377"/>
                </a:moveTo>
                <a:lnTo>
                  <a:pt x="0" y="730377"/>
                </a:lnTo>
                <a:lnTo>
                  <a:pt x="0" y="0"/>
                </a:lnTo>
                <a:lnTo>
                  <a:pt x="24384000" y="0"/>
                </a:lnTo>
                <a:lnTo>
                  <a:pt x="24384000" y="730377"/>
                </a:lnTo>
                <a:close/>
              </a:path>
            </a:pathLst>
          </a:custGeom>
          <a:solidFill>
            <a:srgbClr val="0070C0"/>
          </a:solidFill>
        </p:spPr>
      </p:sp>
      <p:sp>
        <p:nvSpPr>
          <p:cNvPr id="22" name="TextBox 21">
            <a:extLst>
              <a:ext uri="{FF2B5EF4-FFF2-40B4-BE49-F238E27FC236}">
                <a16:creationId xmlns:a16="http://schemas.microsoft.com/office/drawing/2014/main" id="{8880362E-470A-9AE8-501E-DC793A4A2178}"/>
              </a:ext>
            </a:extLst>
          </p:cNvPr>
          <p:cNvSpPr txBox="1"/>
          <p:nvPr/>
        </p:nvSpPr>
        <p:spPr>
          <a:xfrm>
            <a:off x="17709706" y="9917668"/>
            <a:ext cx="671332" cy="369332"/>
          </a:xfrm>
          <a:prstGeom prst="rect">
            <a:avLst/>
          </a:prstGeom>
          <a:noFill/>
        </p:spPr>
        <p:txBody>
          <a:bodyPr wrap="square" rtlCol="0">
            <a:spAutoFit/>
          </a:bodyPr>
          <a:lstStyle/>
          <a:p>
            <a:r>
              <a:rPr lang="en-IN" dirty="0">
                <a:solidFill>
                  <a:schemeClr val="bg1">
                    <a:lumMod val="95000"/>
                  </a:schemeClr>
                </a:solidFill>
                <a:latin typeface="Arial Bold" panose="020B0704020202020204" pitchFamily="34" charset="0"/>
                <a:cs typeface="Arial Bold" panose="020B0704020202020204" pitchFamily="34" charset="0"/>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2"/>
          <p:cNvGrpSpPr/>
          <p:nvPr/>
        </p:nvGrpSpPr>
        <p:grpSpPr>
          <a:xfrm>
            <a:off x="14670129" y="2248"/>
            <a:ext cx="3374803" cy="1593532"/>
            <a:chOff x="0" y="0"/>
            <a:chExt cx="4499737" cy="2124710"/>
          </a:xfrm>
        </p:grpSpPr>
        <p:sp>
          <p:nvSpPr>
            <p:cNvPr id="13" name="Freeform 13"/>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5"/>
              <a:stretch>
                <a:fillRect t="-22" b="-21"/>
              </a:stretch>
            </a:blipFill>
          </p:spPr>
        </p:sp>
      </p:grpSp>
      <p:grpSp>
        <p:nvGrpSpPr>
          <p:cNvPr id="16" name="Group 16"/>
          <p:cNvGrpSpPr/>
          <p:nvPr/>
        </p:nvGrpSpPr>
        <p:grpSpPr>
          <a:xfrm>
            <a:off x="-408506" y="-324707"/>
            <a:ext cx="2691639" cy="1810081"/>
            <a:chOff x="-90054" y="-102024"/>
            <a:chExt cx="3998937" cy="2752524"/>
          </a:xfrm>
        </p:grpSpPr>
        <p:sp>
          <p:nvSpPr>
            <p:cNvPr id="17" name="Freeform 17" descr="Your startup LOGO"/>
            <p:cNvSpPr/>
            <p:nvPr/>
          </p:nvSpPr>
          <p:spPr>
            <a:xfrm>
              <a:off x="489929" y="422094"/>
              <a:ext cx="2748917" cy="1806308"/>
            </a:xfrm>
            <a:custGeom>
              <a:avLst/>
              <a:gdLst/>
              <a:ahLst/>
              <a:cxnLst/>
              <a:rect l="l" t="t" r="r" b="b"/>
              <a:pathLst>
                <a:path w="2748917" h="1806308">
                  <a:moveTo>
                    <a:pt x="0" y="0"/>
                  </a:moveTo>
                  <a:lnTo>
                    <a:pt x="2748917" y="0"/>
                  </a:lnTo>
                  <a:lnTo>
                    <a:pt x="2748917" y="1806308"/>
                  </a:lnTo>
                  <a:lnTo>
                    <a:pt x="0" y="1806308"/>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18" name="Group 18"/>
            <p:cNvGrpSpPr/>
            <p:nvPr/>
          </p:nvGrpSpPr>
          <p:grpSpPr>
            <a:xfrm>
              <a:off x="-90054" y="-102024"/>
              <a:ext cx="3998937" cy="2752524"/>
              <a:chOff x="-58852" y="-66674"/>
              <a:chExt cx="2613368" cy="1798817"/>
            </a:xfrm>
          </p:grpSpPr>
          <p:sp>
            <p:nvSpPr>
              <p:cNvPr id="19" name="Freeform 19"/>
              <p:cNvSpPr/>
              <p:nvPr/>
            </p:nvSpPr>
            <p:spPr>
              <a:xfrm>
                <a:off x="0" y="0"/>
                <a:ext cx="2554516" cy="1732143"/>
              </a:xfrm>
              <a:custGeom>
                <a:avLst/>
                <a:gdLst/>
                <a:ahLst/>
                <a:cxnLst/>
                <a:rect l="l" t="t" r="r" b="b"/>
                <a:pathLst>
                  <a:path w="2554516" h="1732143">
                    <a:moveTo>
                      <a:pt x="0" y="0"/>
                    </a:moveTo>
                    <a:lnTo>
                      <a:pt x="2554516" y="0"/>
                    </a:lnTo>
                    <a:lnTo>
                      <a:pt x="2554516" y="1732143"/>
                    </a:lnTo>
                    <a:lnTo>
                      <a:pt x="0" y="1732143"/>
                    </a:lnTo>
                    <a:close/>
                  </a:path>
                </a:pathLst>
              </a:custGeom>
              <a:blipFill>
                <a:blip r:embed="rId4">
                  <a:alphaModFix amt="0"/>
                </a:blip>
                <a:stretch>
                  <a:fillRect l="-36998" r="-36998"/>
                </a:stretch>
              </a:blipFill>
            </p:spPr>
            <p:txBody>
              <a:bodyPr/>
              <a:lstStyle/>
              <a:p>
                <a:endParaRPr lang="en-IN" dirty="0"/>
              </a:p>
            </p:txBody>
          </p:sp>
          <p:sp>
            <p:nvSpPr>
              <p:cNvPr id="20" name="TextBox 20"/>
              <p:cNvSpPr txBox="1"/>
              <p:nvPr/>
            </p:nvSpPr>
            <p:spPr>
              <a:xfrm>
                <a:off x="-58852" y="-66674"/>
                <a:ext cx="2554516" cy="1798815"/>
              </a:xfrm>
              <a:prstGeom prst="rect">
                <a:avLst/>
              </a:prstGeom>
            </p:spPr>
            <p:txBody>
              <a:bodyPr lIns="0" tIns="0" rIns="0" bIns="0" rtlCol="0" anchor="ctr"/>
              <a:lstStyle/>
              <a:p>
                <a:pPr algn="ctr"/>
                <a:r>
                  <a:rPr lang="en-US" sz="3498" dirty="0" err="1">
                    <a:solidFill>
                      <a:srgbClr val="000000"/>
                    </a:solidFill>
                    <a:latin typeface="Calibri (MS)"/>
                    <a:ea typeface="Calibri (MS)"/>
                    <a:cs typeface="Calibri (MS)"/>
                    <a:sym typeface="Calibri (MS)"/>
                  </a:rPr>
                  <a:t>LLMao</a:t>
                </a:r>
                <a:endParaRPr lang="en-US" sz="3498" dirty="0">
                  <a:solidFill>
                    <a:srgbClr val="000000"/>
                  </a:solidFill>
                  <a:latin typeface="Calibri (MS)"/>
                  <a:ea typeface="Calibri (MS)"/>
                  <a:cs typeface="Calibri (MS)"/>
                  <a:sym typeface="Calibri (MS)"/>
                </a:endParaRPr>
              </a:p>
            </p:txBody>
          </p:sp>
        </p:grpSp>
      </p:grpSp>
      <p:grpSp>
        <p:nvGrpSpPr>
          <p:cNvPr id="21" name="Group 21"/>
          <p:cNvGrpSpPr/>
          <p:nvPr/>
        </p:nvGrpSpPr>
        <p:grpSpPr>
          <a:xfrm>
            <a:off x="0" y="9895194"/>
            <a:ext cx="18288000" cy="414037"/>
            <a:chOff x="0" y="0"/>
            <a:chExt cx="24384000" cy="730669"/>
          </a:xfrm>
        </p:grpSpPr>
        <p:sp>
          <p:nvSpPr>
            <p:cNvPr id="22" name="Freeform 22"/>
            <p:cNvSpPr/>
            <p:nvPr/>
          </p:nvSpPr>
          <p:spPr>
            <a:xfrm>
              <a:off x="0" y="0"/>
              <a:ext cx="24384000" cy="730377"/>
            </a:xfrm>
            <a:custGeom>
              <a:avLst/>
              <a:gdLst/>
              <a:ahLst/>
              <a:cxnLst/>
              <a:rect l="l" t="t" r="r" b="b"/>
              <a:pathLst>
                <a:path w="24384000" h="730377">
                  <a:moveTo>
                    <a:pt x="24384000" y="730377"/>
                  </a:moveTo>
                  <a:lnTo>
                    <a:pt x="0" y="730377"/>
                  </a:lnTo>
                  <a:lnTo>
                    <a:pt x="0" y="0"/>
                  </a:lnTo>
                  <a:lnTo>
                    <a:pt x="24384000" y="0"/>
                  </a:lnTo>
                  <a:lnTo>
                    <a:pt x="24384000" y="730377"/>
                  </a:lnTo>
                  <a:close/>
                </a:path>
              </a:pathLst>
            </a:custGeom>
            <a:solidFill>
              <a:srgbClr val="0070C0"/>
            </a:solidFill>
          </p:spPr>
        </p:sp>
      </p:grpSp>
      <p:sp>
        <p:nvSpPr>
          <p:cNvPr id="23" name="TextBox 23"/>
          <p:cNvSpPr txBox="1"/>
          <p:nvPr/>
        </p:nvSpPr>
        <p:spPr>
          <a:xfrm>
            <a:off x="17848811" y="9959255"/>
            <a:ext cx="207007" cy="285750"/>
          </a:xfrm>
          <a:prstGeom prst="rect">
            <a:avLst/>
          </a:prstGeom>
        </p:spPr>
        <p:txBody>
          <a:bodyPr lIns="0" tIns="0" rIns="0" bIns="0" rtlCol="0" anchor="t">
            <a:spAutoFit/>
          </a:bodyPr>
          <a:lstStyle/>
          <a:p>
            <a:pPr algn="l">
              <a:lnSpc>
                <a:spcPts val="2160"/>
              </a:lnSpc>
            </a:pPr>
            <a:r>
              <a:rPr lang="en-US" sz="1800" b="1" spc="-50" dirty="0">
                <a:solidFill>
                  <a:srgbClr val="FFFFFF"/>
                </a:solidFill>
                <a:latin typeface="Arial Bold"/>
                <a:ea typeface="Arial Bold"/>
                <a:cs typeface="Arial Bold"/>
                <a:sym typeface="Arial Bold"/>
              </a:rPr>
              <a:t>2</a:t>
            </a:r>
          </a:p>
        </p:txBody>
      </p:sp>
      <p:sp>
        <p:nvSpPr>
          <p:cNvPr id="24" name="TextBox 23"/>
          <p:cNvSpPr txBox="1"/>
          <p:nvPr/>
        </p:nvSpPr>
        <p:spPr>
          <a:xfrm>
            <a:off x="2651760" y="274320"/>
            <a:ext cx="12984480" cy="731520"/>
          </a:xfrm>
          <a:prstGeom prst="rect">
            <a:avLst/>
          </a:prstGeom>
          <a:noFill/>
        </p:spPr>
        <p:txBody>
          <a:bodyPr wrap="square" lIns="0" rIns="0" tIns="0" bIns="0" anchor="ctr">
            <a:noAutofit/>
          </a:bodyPr>
          <a:lstStyle/>
          <a:p>
            <a:pPr algn="ctr"/>
            <a:r>
              <a:rPr sz="4000" b="1" i="0" spc="-1">
                <a:solidFill>
                  <a:srgbClr val="123668"/>
                </a:solidFill>
                <a:latin typeface="Segoe UI"/>
                <a:cs typeface="Segoe UI"/>
              </a:rPr>
              <a:t>Drishti — Urban Flood Digital Twin</a:t>
            </a:r>
          </a:p>
        </p:txBody>
      </p:sp>
      <p:sp>
        <p:nvSpPr>
          <p:cNvPr id="25" name="TextBox 24"/>
          <p:cNvSpPr txBox="1"/>
          <p:nvPr/>
        </p:nvSpPr>
        <p:spPr>
          <a:xfrm>
            <a:off x="1371600" y="1389888"/>
            <a:ext cx="15544800" cy="457200"/>
          </a:xfrm>
          <a:prstGeom prst="rect">
            <a:avLst/>
          </a:prstGeom>
          <a:noFill/>
        </p:spPr>
        <p:txBody>
          <a:bodyPr wrap="square" lIns="0" rIns="0" tIns="0" bIns="0" anchor="ctr">
            <a:noAutofit/>
          </a:bodyPr>
          <a:lstStyle/>
          <a:p>
            <a:pPr algn="ctr"/>
            <a:r>
              <a:rPr sz="2400" b="1" i="0">
                <a:solidFill>
                  <a:srgbClr val="005DBE"/>
                </a:solidFill>
                <a:latin typeface="Segoe UI"/>
                <a:cs typeface="Segoe UI"/>
              </a:rPr>
              <a:t>KNOW WHERE THE WATER WILL STAND — THREE HOURS BEFORE IT DOES</a:t>
            </a:r>
          </a:p>
        </p:txBody>
      </p:sp>
      <p:sp>
        <p:nvSpPr>
          <p:cNvPr id="26" name="TextBox 25"/>
          <p:cNvSpPr txBox="1"/>
          <p:nvPr/>
        </p:nvSpPr>
        <p:spPr>
          <a:xfrm>
            <a:off x="1371600" y="1874519"/>
            <a:ext cx="15544800" cy="384048"/>
          </a:xfrm>
          <a:prstGeom prst="rect">
            <a:avLst/>
          </a:prstGeom>
          <a:noFill/>
        </p:spPr>
        <p:txBody>
          <a:bodyPr wrap="square" lIns="0" rIns="0" tIns="0" bIns="0" anchor="ctr">
            <a:noAutofit/>
          </a:bodyPr>
          <a:lstStyle/>
          <a:p>
            <a:pPr algn="ctr"/>
            <a:r>
              <a:rPr sz="1800" b="0" i="0">
                <a:solidFill>
                  <a:srgbClr val="273F5E"/>
                </a:solidFill>
                <a:latin typeface="Segoe UI"/>
                <a:cs typeface="Segoe UI"/>
              </a:rPr>
              <a:t>0–3 h street-level forecasts   •   Physics + AI, not AI alone   •   Piloted on KIET campus, Ghaziabad</a:t>
            </a:r>
          </a:p>
        </p:txBody>
      </p:sp>
      <p:sp>
        <p:nvSpPr>
          <p:cNvPr id="27" name="Rounded Rectangle 26"/>
          <p:cNvSpPr/>
          <p:nvPr/>
        </p:nvSpPr>
        <p:spPr>
          <a:xfrm>
            <a:off x="603504" y="2395728"/>
            <a:ext cx="2532888" cy="2103120"/>
          </a:xfrm>
          <a:prstGeom prst="roundRect">
            <a:avLst>
              <a:gd name="adj" fmla="val 6086"/>
            </a:avLst>
          </a:prstGeom>
          <a:solidFill>
            <a:srgbClr val="F8FBFF"/>
          </a:solidFill>
          <a:ln w="15875">
            <a:solidFill>
              <a:srgbClr val="BAD7F0"/>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Oval 27"/>
          <p:cNvSpPr/>
          <p:nvPr/>
        </p:nvSpPr>
        <p:spPr>
          <a:xfrm>
            <a:off x="1586484" y="2523744"/>
            <a:ext cx="566928" cy="566928"/>
          </a:xfrm>
          <a:prstGeom prst="ellipse">
            <a:avLst/>
          </a:prstGeom>
          <a:solidFill>
            <a:srgbClr val="1E8C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9" name="Picture 28" descr="rain_w.png"/>
          <p:cNvPicPr>
            <a:picLocks noChangeAspect="1"/>
          </p:cNvPicPr>
          <p:nvPr/>
        </p:nvPicPr>
        <p:blipFill>
          <a:blip r:embed="rId24"/>
          <a:stretch>
            <a:fillRect/>
          </a:stretch>
        </p:blipFill>
        <p:spPr>
          <a:xfrm>
            <a:off x="1699869" y="2637129"/>
            <a:ext cx="340156" cy="340156"/>
          </a:xfrm>
          <a:prstGeom prst="rect">
            <a:avLst/>
          </a:prstGeom>
        </p:spPr>
      </p:pic>
      <p:sp>
        <p:nvSpPr>
          <p:cNvPr id="30" name="TextBox 29"/>
          <p:cNvSpPr txBox="1"/>
          <p:nvPr/>
        </p:nvSpPr>
        <p:spPr>
          <a:xfrm>
            <a:off x="694944" y="3163824"/>
            <a:ext cx="2350008" cy="566928"/>
          </a:xfrm>
          <a:prstGeom prst="rect">
            <a:avLst/>
          </a:prstGeom>
          <a:noFill/>
        </p:spPr>
        <p:txBody>
          <a:bodyPr wrap="square" lIns="0" rIns="0" tIns="0" bIns="0" anchor="ctr">
            <a:noAutofit/>
          </a:bodyPr>
          <a:lstStyle/>
          <a:p>
            <a:pPr algn="ctr">
              <a:lnSpc>
                <a:spcPct val="95000"/>
              </a:lnSpc>
            </a:pPr>
            <a:r>
              <a:rPr sz="1550" b="1" i="0">
                <a:solidFill>
                  <a:srgbClr val="123668"/>
                </a:solidFill>
                <a:latin typeface="Segoe UI"/>
                <a:cs typeface="Segoe UI"/>
              </a:rPr>
              <a:t>OBSERVE</a:t>
            </a:r>
          </a:p>
          <a:p>
            <a:pPr algn="ctr">
              <a:lnSpc>
                <a:spcPct val="95000"/>
              </a:lnSpc>
            </a:pPr>
            <a:r>
              <a:rPr sz="1550" b="1" i="0">
                <a:solidFill>
                  <a:srgbClr val="123668"/>
                </a:solidFill>
                <a:latin typeface="Segoe UI"/>
                <a:cs typeface="Segoe UI"/>
              </a:rPr>
              <a:t>RAIN</a:t>
            </a:r>
          </a:p>
        </p:txBody>
      </p:sp>
      <p:sp>
        <p:nvSpPr>
          <p:cNvPr id="31" name="TextBox 30"/>
          <p:cNvSpPr txBox="1"/>
          <p:nvPr/>
        </p:nvSpPr>
        <p:spPr>
          <a:xfrm>
            <a:off x="694944" y="3767328"/>
            <a:ext cx="2350008" cy="621792"/>
          </a:xfrm>
          <a:prstGeom prst="rect">
            <a:avLst/>
          </a:prstGeom>
          <a:noFill/>
        </p:spPr>
        <p:txBody>
          <a:bodyPr wrap="square" lIns="0" rIns="0" tIns="0" bIns="0" anchor="t">
            <a:noAutofit/>
          </a:bodyPr>
          <a:lstStyle/>
          <a:p>
            <a:pPr algn="ctr">
              <a:lnSpc>
                <a:spcPct val="98000"/>
              </a:lnSpc>
            </a:pPr>
            <a:r>
              <a:rPr sz="1350" b="0" i="0">
                <a:solidFill>
                  <a:srgbClr val="273F5E"/>
                </a:solidFill>
                <a:latin typeface="Segoe UI"/>
                <a:cs typeface="Segoe UI"/>
              </a:rPr>
              <a:t>Radar, rain gauges,</a:t>
            </a:r>
          </a:p>
          <a:p>
            <a:pPr algn="ctr">
              <a:lnSpc>
                <a:spcPct val="98000"/>
              </a:lnSpc>
            </a:pPr>
            <a:r>
              <a:rPr sz="1350" b="0" i="0">
                <a:solidFill>
                  <a:srgbClr val="273F5E"/>
                </a:solidFill>
                <a:latin typeface="Segoe UI"/>
                <a:cs typeface="Segoe UI"/>
              </a:rPr>
              <a:t>GPM-IMERG feeds</a:t>
            </a:r>
          </a:p>
        </p:txBody>
      </p:sp>
      <p:cxnSp>
        <p:nvCxnSpPr>
          <p:cNvPr id="32" name="Connector 31"/>
          <p:cNvCxnSpPr/>
          <p:nvPr/>
        </p:nvCxnSpPr>
        <p:spPr>
          <a:xfrm>
            <a:off x="3209544" y="3447288"/>
            <a:ext cx="219456" cy="0"/>
          </a:xfrm>
          <a:prstGeom prst="line">
            <a:avLst/>
          </a:prstGeom>
          <a:ln w="22225">
            <a:solidFill>
              <a:srgbClr val="1E8CE1"/>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502152" y="2395728"/>
            <a:ext cx="2532888" cy="2103120"/>
          </a:xfrm>
          <a:prstGeom prst="roundRect">
            <a:avLst>
              <a:gd name="adj" fmla="val 6086"/>
            </a:avLst>
          </a:prstGeom>
          <a:solidFill>
            <a:srgbClr val="F8FBFF"/>
          </a:solidFill>
          <a:ln w="15875">
            <a:solidFill>
              <a:srgbClr val="BAD7F0"/>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Oval 33"/>
          <p:cNvSpPr/>
          <p:nvPr/>
        </p:nvSpPr>
        <p:spPr>
          <a:xfrm>
            <a:off x="4485132" y="2523744"/>
            <a:ext cx="566928" cy="566928"/>
          </a:xfrm>
          <a:prstGeom prst="ellipse">
            <a:avLst/>
          </a:prstGeom>
          <a:solidFill>
            <a:srgbClr val="1E8C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5" name="Picture 34" descr="filter_w.png"/>
          <p:cNvPicPr>
            <a:picLocks noChangeAspect="1"/>
          </p:cNvPicPr>
          <p:nvPr/>
        </p:nvPicPr>
        <p:blipFill>
          <a:blip r:embed="rId25"/>
          <a:stretch>
            <a:fillRect/>
          </a:stretch>
        </p:blipFill>
        <p:spPr>
          <a:xfrm>
            <a:off x="4598517" y="2637129"/>
            <a:ext cx="340156" cy="340156"/>
          </a:xfrm>
          <a:prstGeom prst="rect">
            <a:avLst/>
          </a:prstGeom>
        </p:spPr>
      </p:pic>
      <p:sp>
        <p:nvSpPr>
          <p:cNvPr id="36" name="TextBox 35"/>
          <p:cNvSpPr txBox="1"/>
          <p:nvPr/>
        </p:nvSpPr>
        <p:spPr>
          <a:xfrm>
            <a:off x="3593592" y="3163824"/>
            <a:ext cx="2350008" cy="566928"/>
          </a:xfrm>
          <a:prstGeom prst="rect">
            <a:avLst/>
          </a:prstGeom>
          <a:noFill/>
        </p:spPr>
        <p:txBody>
          <a:bodyPr wrap="square" lIns="0" rIns="0" tIns="0" bIns="0" anchor="ctr">
            <a:noAutofit/>
          </a:bodyPr>
          <a:lstStyle/>
          <a:p>
            <a:pPr algn="ctr">
              <a:lnSpc>
                <a:spcPct val="95000"/>
              </a:lnSpc>
            </a:pPr>
            <a:r>
              <a:rPr sz="1550" b="1" i="0">
                <a:solidFill>
                  <a:srgbClr val="123668"/>
                </a:solidFill>
                <a:latin typeface="Segoe UI"/>
                <a:cs typeface="Segoe UI"/>
              </a:rPr>
              <a:t>QUALITY</a:t>
            </a:r>
          </a:p>
          <a:p>
            <a:pPr algn="ctr">
              <a:lnSpc>
                <a:spcPct val="95000"/>
              </a:lnSpc>
            </a:pPr>
            <a:r>
              <a:rPr sz="1550" b="1" i="0">
                <a:solidFill>
                  <a:srgbClr val="123668"/>
                </a:solidFill>
                <a:latin typeface="Segoe UI"/>
                <a:cs typeface="Segoe UI"/>
              </a:rPr>
              <a:t>CONTROL</a:t>
            </a:r>
          </a:p>
        </p:txBody>
      </p:sp>
      <p:sp>
        <p:nvSpPr>
          <p:cNvPr id="37" name="TextBox 36"/>
          <p:cNvSpPr txBox="1"/>
          <p:nvPr/>
        </p:nvSpPr>
        <p:spPr>
          <a:xfrm>
            <a:off x="3593592" y="3767328"/>
            <a:ext cx="2350008" cy="621792"/>
          </a:xfrm>
          <a:prstGeom prst="rect">
            <a:avLst/>
          </a:prstGeom>
          <a:noFill/>
        </p:spPr>
        <p:txBody>
          <a:bodyPr wrap="square" lIns="0" rIns="0" tIns="0" bIns="0" anchor="t">
            <a:noAutofit/>
          </a:bodyPr>
          <a:lstStyle/>
          <a:p>
            <a:pPr algn="ctr">
              <a:lnSpc>
                <a:spcPct val="98000"/>
              </a:lnSpc>
            </a:pPr>
            <a:r>
              <a:rPr sz="1350" b="0" i="0">
                <a:solidFill>
                  <a:srgbClr val="273F5E"/>
                </a:solidFill>
                <a:latin typeface="Segoe UI"/>
                <a:cs typeface="Segoe UI"/>
              </a:rPr>
              <a:t>Every reading tagged</a:t>
            </a:r>
          </a:p>
          <a:p>
            <a:pPr algn="ctr">
              <a:lnSpc>
                <a:spcPct val="98000"/>
              </a:lnSpc>
            </a:pPr>
            <a:r>
              <a:rPr sz="1350" b="0" i="0">
                <a:solidFill>
                  <a:srgbClr val="273F5E"/>
                </a:solidFill>
                <a:latin typeface="Segoe UI"/>
                <a:cs typeface="Segoe UI"/>
              </a:rPr>
              <a:t>VALID / STALE / FAULT</a:t>
            </a:r>
          </a:p>
        </p:txBody>
      </p:sp>
      <p:cxnSp>
        <p:nvCxnSpPr>
          <p:cNvPr id="38" name="Connector 37"/>
          <p:cNvCxnSpPr/>
          <p:nvPr/>
        </p:nvCxnSpPr>
        <p:spPr>
          <a:xfrm>
            <a:off x="6108192" y="3447288"/>
            <a:ext cx="219456" cy="0"/>
          </a:xfrm>
          <a:prstGeom prst="line">
            <a:avLst/>
          </a:prstGeom>
          <a:ln w="22225">
            <a:solidFill>
              <a:srgbClr val="1E8CE1"/>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400800" y="2395728"/>
            <a:ext cx="2532888" cy="2103120"/>
          </a:xfrm>
          <a:prstGeom prst="roundRect">
            <a:avLst>
              <a:gd name="adj" fmla="val 6086"/>
            </a:avLst>
          </a:prstGeom>
          <a:solidFill>
            <a:srgbClr val="F8FBFF"/>
          </a:solidFill>
          <a:ln w="15875">
            <a:solidFill>
              <a:srgbClr val="BAD7F0"/>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Oval 39"/>
          <p:cNvSpPr/>
          <p:nvPr/>
        </p:nvSpPr>
        <p:spPr>
          <a:xfrm>
            <a:off x="7383779" y="2523744"/>
            <a:ext cx="566928" cy="566928"/>
          </a:xfrm>
          <a:prstGeom prst="ellipse">
            <a:avLst/>
          </a:prstGeom>
          <a:solidFill>
            <a:srgbClr val="1E8C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1" name="Picture 40" descr="radar_w.png"/>
          <p:cNvPicPr>
            <a:picLocks noChangeAspect="1"/>
          </p:cNvPicPr>
          <p:nvPr/>
        </p:nvPicPr>
        <p:blipFill>
          <a:blip r:embed="rId26"/>
          <a:stretch>
            <a:fillRect/>
          </a:stretch>
        </p:blipFill>
        <p:spPr>
          <a:xfrm>
            <a:off x="7497165" y="2637129"/>
            <a:ext cx="340156" cy="340156"/>
          </a:xfrm>
          <a:prstGeom prst="rect">
            <a:avLst/>
          </a:prstGeom>
        </p:spPr>
      </p:pic>
      <p:sp>
        <p:nvSpPr>
          <p:cNvPr id="42" name="TextBox 41"/>
          <p:cNvSpPr txBox="1"/>
          <p:nvPr/>
        </p:nvSpPr>
        <p:spPr>
          <a:xfrm>
            <a:off x="6492240" y="3163824"/>
            <a:ext cx="2350008" cy="566928"/>
          </a:xfrm>
          <a:prstGeom prst="rect">
            <a:avLst/>
          </a:prstGeom>
          <a:noFill/>
        </p:spPr>
        <p:txBody>
          <a:bodyPr wrap="square" lIns="0" rIns="0" tIns="0" bIns="0" anchor="ctr">
            <a:noAutofit/>
          </a:bodyPr>
          <a:lstStyle/>
          <a:p>
            <a:pPr algn="ctr">
              <a:lnSpc>
                <a:spcPct val="95000"/>
              </a:lnSpc>
            </a:pPr>
            <a:r>
              <a:rPr sz="1550" b="1" i="0">
                <a:solidFill>
                  <a:srgbClr val="123668"/>
                </a:solidFill>
                <a:latin typeface="Segoe UI"/>
                <a:cs typeface="Segoe UI"/>
              </a:rPr>
              <a:t>ENSEMBLE</a:t>
            </a:r>
          </a:p>
          <a:p>
            <a:pPr algn="ctr">
              <a:lnSpc>
                <a:spcPct val="95000"/>
              </a:lnSpc>
            </a:pPr>
            <a:r>
              <a:rPr sz="1550" b="1" i="0">
                <a:solidFill>
                  <a:srgbClr val="123668"/>
                </a:solidFill>
                <a:latin typeface="Segoe UI"/>
                <a:cs typeface="Segoe UI"/>
              </a:rPr>
              <a:t>NOWCAST</a:t>
            </a:r>
          </a:p>
        </p:txBody>
      </p:sp>
      <p:sp>
        <p:nvSpPr>
          <p:cNvPr id="43" name="TextBox 42"/>
          <p:cNvSpPr txBox="1"/>
          <p:nvPr/>
        </p:nvSpPr>
        <p:spPr>
          <a:xfrm>
            <a:off x="6492240" y="3767328"/>
            <a:ext cx="2350008" cy="621792"/>
          </a:xfrm>
          <a:prstGeom prst="rect">
            <a:avLst/>
          </a:prstGeom>
          <a:noFill/>
        </p:spPr>
        <p:txBody>
          <a:bodyPr wrap="square" lIns="0" rIns="0" tIns="0" bIns="0" anchor="t">
            <a:noAutofit/>
          </a:bodyPr>
          <a:lstStyle/>
          <a:p>
            <a:pPr algn="ctr">
              <a:lnSpc>
                <a:spcPct val="98000"/>
              </a:lnSpc>
            </a:pPr>
            <a:r>
              <a:rPr sz="1350" b="0" i="0">
                <a:solidFill>
                  <a:srgbClr val="273F5E"/>
                </a:solidFill>
                <a:latin typeface="Segoe UI"/>
                <a:cs typeface="Segoe UI"/>
              </a:rPr>
              <a:t>20 possible rain</a:t>
            </a:r>
          </a:p>
          <a:p>
            <a:pPr algn="ctr">
              <a:lnSpc>
                <a:spcPct val="98000"/>
              </a:lnSpc>
            </a:pPr>
            <a:r>
              <a:rPr sz="1350" b="0" i="0">
                <a:solidFill>
                  <a:srgbClr val="273F5E"/>
                </a:solidFill>
                <a:latin typeface="Segoe UI"/>
                <a:cs typeface="Segoe UI"/>
              </a:rPr>
              <a:t>futures, 0–180 min</a:t>
            </a:r>
          </a:p>
        </p:txBody>
      </p:sp>
      <p:cxnSp>
        <p:nvCxnSpPr>
          <p:cNvPr id="44" name="Connector 43"/>
          <p:cNvCxnSpPr/>
          <p:nvPr/>
        </p:nvCxnSpPr>
        <p:spPr>
          <a:xfrm>
            <a:off x="9006840" y="3447288"/>
            <a:ext cx="219456" cy="0"/>
          </a:xfrm>
          <a:prstGeom prst="line">
            <a:avLst/>
          </a:prstGeom>
          <a:ln w="22225">
            <a:solidFill>
              <a:srgbClr val="1E8CE1"/>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9299448" y="2395728"/>
            <a:ext cx="2532888" cy="2103120"/>
          </a:xfrm>
          <a:prstGeom prst="roundRect">
            <a:avLst>
              <a:gd name="adj" fmla="val 6086"/>
            </a:avLst>
          </a:prstGeom>
          <a:solidFill>
            <a:srgbClr val="F8FBFF"/>
          </a:solidFill>
          <a:ln w="15875">
            <a:solidFill>
              <a:srgbClr val="BAD7F0"/>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Oval 45"/>
          <p:cNvSpPr/>
          <p:nvPr/>
        </p:nvSpPr>
        <p:spPr>
          <a:xfrm>
            <a:off x="10282428" y="2523744"/>
            <a:ext cx="566928" cy="566928"/>
          </a:xfrm>
          <a:prstGeom prst="ellipse">
            <a:avLst/>
          </a:prstGeom>
          <a:solidFill>
            <a:srgbClr val="1E8C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7" name="Picture 46" descr="waves_w.png"/>
          <p:cNvPicPr>
            <a:picLocks noChangeAspect="1"/>
          </p:cNvPicPr>
          <p:nvPr/>
        </p:nvPicPr>
        <p:blipFill>
          <a:blip r:embed="rId27"/>
          <a:stretch>
            <a:fillRect/>
          </a:stretch>
        </p:blipFill>
        <p:spPr>
          <a:xfrm>
            <a:off x="10395813" y="2637129"/>
            <a:ext cx="340156" cy="340156"/>
          </a:xfrm>
          <a:prstGeom prst="rect">
            <a:avLst/>
          </a:prstGeom>
        </p:spPr>
      </p:pic>
      <p:sp>
        <p:nvSpPr>
          <p:cNvPr id="48" name="TextBox 47"/>
          <p:cNvSpPr txBox="1"/>
          <p:nvPr/>
        </p:nvSpPr>
        <p:spPr>
          <a:xfrm>
            <a:off x="9390888" y="3163824"/>
            <a:ext cx="2350008" cy="566928"/>
          </a:xfrm>
          <a:prstGeom prst="rect">
            <a:avLst/>
          </a:prstGeom>
          <a:noFill/>
        </p:spPr>
        <p:txBody>
          <a:bodyPr wrap="square" lIns="0" rIns="0" tIns="0" bIns="0" anchor="ctr">
            <a:noAutofit/>
          </a:bodyPr>
          <a:lstStyle/>
          <a:p>
            <a:pPr algn="ctr">
              <a:lnSpc>
                <a:spcPct val="95000"/>
              </a:lnSpc>
            </a:pPr>
            <a:r>
              <a:rPr sz="1550" b="1" i="0">
                <a:solidFill>
                  <a:srgbClr val="123668"/>
                </a:solidFill>
                <a:latin typeface="Segoe UI"/>
                <a:cs typeface="Segoe UI"/>
              </a:rPr>
              <a:t>PHYSICS</a:t>
            </a:r>
          </a:p>
          <a:p>
            <a:pPr algn="ctr">
              <a:lnSpc>
                <a:spcPct val="95000"/>
              </a:lnSpc>
            </a:pPr>
            <a:r>
              <a:rPr sz="1550" b="1" i="0">
                <a:solidFill>
                  <a:srgbClr val="123668"/>
                </a:solidFill>
                <a:latin typeface="Segoe UI"/>
                <a:cs typeface="Segoe UI"/>
              </a:rPr>
              <a:t>DIGITAL TWIN</a:t>
            </a:r>
          </a:p>
        </p:txBody>
      </p:sp>
      <p:sp>
        <p:nvSpPr>
          <p:cNvPr id="49" name="TextBox 48"/>
          <p:cNvSpPr txBox="1"/>
          <p:nvPr/>
        </p:nvSpPr>
        <p:spPr>
          <a:xfrm>
            <a:off x="9390888" y="3767328"/>
            <a:ext cx="2350008" cy="621792"/>
          </a:xfrm>
          <a:prstGeom prst="rect">
            <a:avLst/>
          </a:prstGeom>
          <a:noFill/>
        </p:spPr>
        <p:txBody>
          <a:bodyPr wrap="square" lIns="0" rIns="0" tIns="0" bIns="0" anchor="t">
            <a:noAutofit/>
          </a:bodyPr>
          <a:lstStyle/>
          <a:p>
            <a:pPr algn="ctr">
              <a:lnSpc>
                <a:spcPct val="98000"/>
              </a:lnSpc>
            </a:pPr>
            <a:r>
              <a:rPr sz="1350" b="0" i="0">
                <a:solidFill>
                  <a:srgbClr val="273F5E"/>
                </a:solidFill>
                <a:latin typeface="Segoe UI"/>
                <a:cs typeface="Segoe UI"/>
              </a:rPr>
              <a:t>1D drains + 2D streets,</a:t>
            </a:r>
          </a:p>
          <a:p>
            <a:pPr algn="ctr">
              <a:lnSpc>
                <a:spcPct val="98000"/>
              </a:lnSpc>
            </a:pPr>
            <a:r>
              <a:rPr sz="1350" b="0" i="0">
                <a:solidFill>
                  <a:srgbClr val="273F5E"/>
                </a:solidFill>
                <a:latin typeface="Segoe UI"/>
                <a:cs typeface="Segoe UI"/>
              </a:rPr>
              <a:t>mass-conserving</a:t>
            </a:r>
          </a:p>
        </p:txBody>
      </p:sp>
      <p:cxnSp>
        <p:nvCxnSpPr>
          <p:cNvPr id="50" name="Connector 49"/>
          <p:cNvCxnSpPr/>
          <p:nvPr/>
        </p:nvCxnSpPr>
        <p:spPr>
          <a:xfrm>
            <a:off x="11905488" y="3447288"/>
            <a:ext cx="219456" cy="0"/>
          </a:xfrm>
          <a:prstGeom prst="line">
            <a:avLst/>
          </a:prstGeom>
          <a:ln w="22225">
            <a:solidFill>
              <a:srgbClr val="1E8CE1"/>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12198096" y="2395728"/>
            <a:ext cx="2532888" cy="2103120"/>
          </a:xfrm>
          <a:prstGeom prst="roundRect">
            <a:avLst>
              <a:gd name="adj" fmla="val 6086"/>
            </a:avLst>
          </a:prstGeom>
          <a:solidFill>
            <a:srgbClr val="F8FBFF"/>
          </a:solidFill>
          <a:ln w="15875">
            <a:solidFill>
              <a:srgbClr val="BAD7F0"/>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Oval 51"/>
          <p:cNvSpPr/>
          <p:nvPr/>
        </p:nvSpPr>
        <p:spPr>
          <a:xfrm>
            <a:off x="13181076" y="2523744"/>
            <a:ext cx="566928" cy="566928"/>
          </a:xfrm>
          <a:prstGeom prst="ellipse">
            <a:avLst/>
          </a:prstGeom>
          <a:solidFill>
            <a:srgbClr val="1E8C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53" name="Picture 52" descr="brain_w.png"/>
          <p:cNvPicPr>
            <a:picLocks noChangeAspect="1"/>
          </p:cNvPicPr>
          <p:nvPr/>
        </p:nvPicPr>
        <p:blipFill>
          <a:blip r:embed="rId28"/>
          <a:stretch>
            <a:fillRect/>
          </a:stretch>
        </p:blipFill>
        <p:spPr>
          <a:xfrm>
            <a:off x="13294461" y="2637129"/>
            <a:ext cx="340156" cy="340156"/>
          </a:xfrm>
          <a:prstGeom prst="rect">
            <a:avLst/>
          </a:prstGeom>
        </p:spPr>
      </p:pic>
      <p:sp>
        <p:nvSpPr>
          <p:cNvPr id="54" name="TextBox 53"/>
          <p:cNvSpPr txBox="1"/>
          <p:nvPr/>
        </p:nvSpPr>
        <p:spPr>
          <a:xfrm>
            <a:off x="12289536" y="3163824"/>
            <a:ext cx="2350008" cy="566928"/>
          </a:xfrm>
          <a:prstGeom prst="rect">
            <a:avLst/>
          </a:prstGeom>
          <a:noFill/>
        </p:spPr>
        <p:txBody>
          <a:bodyPr wrap="square" lIns="0" rIns="0" tIns="0" bIns="0" anchor="ctr">
            <a:noAutofit/>
          </a:bodyPr>
          <a:lstStyle/>
          <a:p>
            <a:pPr algn="ctr">
              <a:lnSpc>
                <a:spcPct val="95000"/>
              </a:lnSpc>
            </a:pPr>
            <a:r>
              <a:rPr sz="1550" b="1" i="0">
                <a:solidFill>
                  <a:srgbClr val="123668"/>
                </a:solidFill>
                <a:latin typeface="Segoe UI"/>
                <a:cs typeface="Segoe UI"/>
              </a:rPr>
              <a:t>AI FLOOD</a:t>
            </a:r>
          </a:p>
          <a:p>
            <a:pPr algn="ctr">
              <a:lnSpc>
                <a:spcPct val="95000"/>
              </a:lnSpc>
            </a:pPr>
            <a:r>
              <a:rPr sz="1550" b="1" i="0">
                <a:solidFill>
                  <a:srgbClr val="123668"/>
                </a:solidFill>
                <a:latin typeface="Segoe UI"/>
                <a:cs typeface="Segoe UI"/>
              </a:rPr>
              <a:t>SURROGATE</a:t>
            </a:r>
          </a:p>
        </p:txBody>
      </p:sp>
      <p:sp>
        <p:nvSpPr>
          <p:cNvPr id="55" name="TextBox 54"/>
          <p:cNvSpPr txBox="1"/>
          <p:nvPr/>
        </p:nvSpPr>
        <p:spPr>
          <a:xfrm>
            <a:off x="12289536" y="3767328"/>
            <a:ext cx="2350008" cy="621792"/>
          </a:xfrm>
          <a:prstGeom prst="rect">
            <a:avLst/>
          </a:prstGeom>
          <a:noFill/>
        </p:spPr>
        <p:txBody>
          <a:bodyPr wrap="square" lIns="0" rIns="0" tIns="0" bIns="0" anchor="t">
            <a:noAutofit/>
          </a:bodyPr>
          <a:lstStyle/>
          <a:p>
            <a:pPr algn="ctr">
              <a:lnSpc>
                <a:spcPct val="98000"/>
              </a:lnSpc>
            </a:pPr>
            <a:r>
              <a:rPr sz="1350" b="0" i="0">
                <a:solidFill>
                  <a:srgbClr val="273F5E"/>
                </a:solidFill>
                <a:latin typeface="Segoe UI"/>
                <a:cs typeface="Segoe UI"/>
              </a:rPr>
              <a:t>U-Net (ONNX) predicts</a:t>
            </a:r>
          </a:p>
          <a:p>
            <a:pPr algn="ctr">
              <a:lnSpc>
                <a:spcPct val="98000"/>
              </a:lnSpc>
            </a:pPr>
            <a:r>
              <a:rPr sz="1350" b="0" i="0">
                <a:solidFill>
                  <a:srgbClr val="273F5E"/>
                </a:solidFill>
                <a:latin typeface="Segoe UI"/>
                <a:cs typeface="Segoe UI"/>
              </a:rPr>
              <a:t>depth in 0.2 s</a:t>
            </a:r>
          </a:p>
        </p:txBody>
      </p:sp>
      <p:cxnSp>
        <p:nvCxnSpPr>
          <p:cNvPr id="56" name="Connector 55"/>
          <p:cNvCxnSpPr/>
          <p:nvPr/>
        </p:nvCxnSpPr>
        <p:spPr>
          <a:xfrm>
            <a:off x="14804135" y="3447288"/>
            <a:ext cx="219457" cy="0"/>
          </a:xfrm>
          <a:prstGeom prst="line">
            <a:avLst/>
          </a:prstGeom>
          <a:ln w="22225">
            <a:solidFill>
              <a:srgbClr val="1E8CE1"/>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15096743" y="2395728"/>
            <a:ext cx="2532888" cy="2103120"/>
          </a:xfrm>
          <a:prstGeom prst="roundRect">
            <a:avLst>
              <a:gd name="adj" fmla="val 6086"/>
            </a:avLst>
          </a:prstGeom>
          <a:solidFill>
            <a:srgbClr val="F8FBFF"/>
          </a:solidFill>
          <a:ln w="15875">
            <a:solidFill>
              <a:srgbClr val="BAD7F0"/>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Oval 57"/>
          <p:cNvSpPr/>
          <p:nvPr/>
        </p:nvSpPr>
        <p:spPr>
          <a:xfrm>
            <a:off x="16079724" y="2523744"/>
            <a:ext cx="566928" cy="566928"/>
          </a:xfrm>
          <a:prstGeom prst="ellipse">
            <a:avLst/>
          </a:prstGeom>
          <a:solidFill>
            <a:srgbClr val="1E8C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59" name="Picture 58" descr="route_w.png"/>
          <p:cNvPicPr>
            <a:picLocks noChangeAspect="1"/>
          </p:cNvPicPr>
          <p:nvPr/>
        </p:nvPicPr>
        <p:blipFill>
          <a:blip r:embed="rId29"/>
          <a:stretch>
            <a:fillRect/>
          </a:stretch>
        </p:blipFill>
        <p:spPr>
          <a:xfrm>
            <a:off x="16193109" y="2637129"/>
            <a:ext cx="340156" cy="340156"/>
          </a:xfrm>
          <a:prstGeom prst="rect">
            <a:avLst/>
          </a:prstGeom>
        </p:spPr>
      </p:pic>
      <p:sp>
        <p:nvSpPr>
          <p:cNvPr id="60" name="TextBox 59"/>
          <p:cNvSpPr txBox="1"/>
          <p:nvPr/>
        </p:nvSpPr>
        <p:spPr>
          <a:xfrm>
            <a:off x="15188184" y="3163824"/>
            <a:ext cx="2350008" cy="566928"/>
          </a:xfrm>
          <a:prstGeom prst="rect">
            <a:avLst/>
          </a:prstGeom>
          <a:noFill/>
        </p:spPr>
        <p:txBody>
          <a:bodyPr wrap="square" lIns="0" rIns="0" tIns="0" bIns="0" anchor="ctr">
            <a:noAutofit/>
          </a:bodyPr>
          <a:lstStyle/>
          <a:p>
            <a:pPr algn="ctr">
              <a:lnSpc>
                <a:spcPct val="95000"/>
              </a:lnSpc>
            </a:pPr>
            <a:r>
              <a:rPr sz="1550" b="1" i="0">
                <a:solidFill>
                  <a:srgbClr val="123668"/>
                </a:solidFill>
                <a:latin typeface="Segoe UI"/>
                <a:cs typeface="Segoe UI"/>
              </a:rPr>
              <a:t>DECIDE</a:t>
            </a:r>
          </a:p>
          <a:p>
            <a:pPr algn="ctr">
              <a:lnSpc>
                <a:spcPct val="95000"/>
              </a:lnSpc>
            </a:pPr>
            <a:r>
              <a:rPr sz="1550" b="1" i="0">
                <a:solidFill>
                  <a:srgbClr val="123668"/>
                </a:solidFill>
                <a:latin typeface="Segoe UI"/>
                <a:cs typeface="Segoe UI"/>
              </a:rPr>
              <a:t>&amp; ACT</a:t>
            </a:r>
          </a:p>
        </p:txBody>
      </p:sp>
      <p:sp>
        <p:nvSpPr>
          <p:cNvPr id="61" name="TextBox 60"/>
          <p:cNvSpPr txBox="1"/>
          <p:nvPr/>
        </p:nvSpPr>
        <p:spPr>
          <a:xfrm>
            <a:off x="15188184" y="3767328"/>
            <a:ext cx="2350008" cy="621792"/>
          </a:xfrm>
          <a:prstGeom prst="rect">
            <a:avLst/>
          </a:prstGeom>
          <a:noFill/>
        </p:spPr>
        <p:txBody>
          <a:bodyPr wrap="square" lIns="0" rIns="0" tIns="0" bIns="0" anchor="t">
            <a:noAutofit/>
          </a:bodyPr>
          <a:lstStyle/>
          <a:p>
            <a:pPr algn="ctr">
              <a:lnSpc>
                <a:spcPct val="98000"/>
              </a:lnSpc>
            </a:pPr>
            <a:r>
              <a:rPr sz="1350" b="0" i="0">
                <a:solidFill>
                  <a:srgbClr val="273F5E"/>
                </a:solidFill>
                <a:latin typeface="Segoe UI"/>
                <a:cs typeface="Segoe UI"/>
              </a:rPr>
              <a:t>Hotspots, road status,</a:t>
            </a:r>
          </a:p>
          <a:p>
            <a:pPr algn="ctr">
              <a:lnSpc>
                <a:spcPct val="98000"/>
              </a:lnSpc>
            </a:pPr>
            <a:r>
              <a:rPr sz="1350" b="0" i="0">
                <a:solidFill>
                  <a:srgbClr val="273F5E"/>
                </a:solidFill>
                <a:latin typeface="Segoe UI"/>
                <a:cs typeface="Segoe UI"/>
              </a:rPr>
              <a:t>safe routes, alerts</a:t>
            </a:r>
          </a:p>
        </p:txBody>
      </p:sp>
      <p:sp>
        <p:nvSpPr>
          <p:cNvPr id="62" name="Rounded Rectangle 61"/>
          <p:cNvSpPr/>
          <p:nvPr/>
        </p:nvSpPr>
        <p:spPr>
          <a:xfrm>
            <a:off x="612648" y="4645152"/>
            <a:ext cx="17071848" cy="548640"/>
          </a:xfrm>
          <a:prstGeom prst="roundRect">
            <a:avLst>
              <a:gd name="adj" fmla="val 26666"/>
            </a:avLst>
          </a:prstGeom>
          <a:solidFill>
            <a:srgbClr val="0F2C59"/>
          </a:solidFill>
          <a:ln>
            <a:no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63" name="Picture 62" descr="refresh_w.png"/>
          <p:cNvPicPr>
            <a:picLocks noChangeAspect="1"/>
          </p:cNvPicPr>
          <p:nvPr/>
        </p:nvPicPr>
        <p:blipFill>
          <a:blip r:embed="rId30"/>
          <a:stretch>
            <a:fillRect/>
          </a:stretch>
        </p:blipFill>
        <p:spPr>
          <a:xfrm>
            <a:off x="868680" y="4754880"/>
            <a:ext cx="329184" cy="329184"/>
          </a:xfrm>
          <a:prstGeom prst="rect">
            <a:avLst/>
          </a:prstGeom>
        </p:spPr>
      </p:pic>
      <p:sp>
        <p:nvSpPr>
          <p:cNvPr id="64" name="TextBox 63"/>
          <p:cNvSpPr txBox="1"/>
          <p:nvPr/>
        </p:nvSpPr>
        <p:spPr>
          <a:xfrm>
            <a:off x="1371600" y="4645152"/>
            <a:ext cx="16093440" cy="548640"/>
          </a:xfrm>
          <a:prstGeom prst="rect">
            <a:avLst/>
          </a:prstGeom>
          <a:noFill/>
        </p:spPr>
        <p:txBody>
          <a:bodyPr wrap="square" lIns="0" rIns="0" tIns="0" bIns="0" anchor="ctr">
            <a:noAutofit/>
          </a:bodyPr>
          <a:lstStyle/>
          <a:p>
            <a:pPr algn="l"/>
            <a:r>
              <a:rPr sz="1800" b="1" i="0">
                <a:solidFill>
                  <a:srgbClr val="FFFFFF"/>
                </a:solidFill>
                <a:latin typeface="Segoe UI"/>
                <a:cs typeface="Segoe UI"/>
              </a:rPr>
              <a:t>CLOSED LOOP  —  </a:t>
            </a:r>
            <a:r>
              <a:rPr sz="1800" b="0" i="0">
                <a:solidFill>
                  <a:srgbClr val="FFFFFF"/>
                </a:solidFill>
                <a:latin typeface="Segoe UI"/>
                <a:cs typeface="Segoe UI"/>
              </a:rPr>
              <a:t>Observe → quality-check → forecast → warn → act → observe again, every 5 minutes, every number labelled.</a:t>
            </a:r>
          </a:p>
        </p:txBody>
      </p:sp>
      <p:sp>
        <p:nvSpPr>
          <p:cNvPr id="65" name="Rounded Rectangle 64"/>
          <p:cNvSpPr/>
          <p:nvPr/>
        </p:nvSpPr>
        <p:spPr>
          <a:xfrm>
            <a:off x="612648" y="5394960"/>
            <a:ext cx="8330183" cy="4389120"/>
          </a:xfrm>
          <a:prstGeom prst="roundRect">
            <a:avLst>
              <a:gd name="adj" fmla="val 2916"/>
            </a:avLst>
          </a:prstGeom>
          <a:solidFill>
            <a:srgbClr val="FFFFFF"/>
          </a:solidFill>
          <a:ln w="15875">
            <a:solidFill>
              <a:srgbClr val="BAD7F0"/>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xtBox 65"/>
          <p:cNvSpPr txBox="1"/>
          <p:nvPr/>
        </p:nvSpPr>
        <p:spPr>
          <a:xfrm>
            <a:off x="868680" y="5486400"/>
            <a:ext cx="7863840" cy="329184"/>
          </a:xfrm>
          <a:prstGeom prst="rect">
            <a:avLst/>
          </a:prstGeom>
          <a:noFill/>
        </p:spPr>
        <p:txBody>
          <a:bodyPr wrap="square" lIns="0" rIns="0" tIns="0" bIns="0" anchor="t">
            <a:noAutofit/>
          </a:bodyPr>
          <a:lstStyle/>
          <a:p>
            <a:pPr algn="l"/>
            <a:r>
              <a:rPr sz="1650" b="1" i="0">
                <a:solidFill>
                  <a:srgbClr val="123668"/>
                </a:solidFill>
                <a:latin typeface="Segoe UI"/>
                <a:cs typeface="Segoe UI"/>
              </a:rPr>
              <a:t>FIVE QUESTIONS — ONE OPERATOR SCREEN</a:t>
            </a:r>
          </a:p>
        </p:txBody>
      </p:sp>
      <p:sp>
        <p:nvSpPr>
          <p:cNvPr id="67" name="TextBox 66"/>
          <p:cNvSpPr txBox="1"/>
          <p:nvPr/>
        </p:nvSpPr>
        <p:spPr>
          <a:xfrm>
            <a:off x="868680" y="5815584"/>
            <a:ext cx="7955279" cy="310896"/>
          </a:xfrm>
          <a:prstGeom prst="rect">
            <a:avLst/>
          </a:prstGeom>
          <a:noFill/>
        </p:spPr>
        <p:txBody>
          <a:bodyPr wrap="square" lIns="0" rIns="0" tIns="0" bIns="0" anchor="t">
            <a:noAutofit/>
          </a:bodyPr>
          <a:lstStyle/>
          <a:p>
            <a:pPr algn="l"/>
            <a:r>
              <a:rPr sz="1300" b="0" i="0">
                <a:solidFill>
                  <a:srgbClr val="273F5E"/>
                </a:solidFill>
                <a:latin typeface="Segoe UI"/>
                <a:cs typeface="Segoe UI"/>
              </a:rPr>
              <a:t>Every flood decision reduces to five questions. Drishti answers each with a number and a confidence.</a:t>
            </a:r>
          </a:p>
        </p:txBody>
      </p:sp>
      <p:sp>
        <p:nvSpPr>
          <p:cNvPr id="68" name="Rounded Rectangle 67"/>
          <p:cNvSpPr/>
          <p:nvPr/>
        </p:nvSpPr>
        <p:spPr>
          <a:xfrm>
            <a:off x="822960" y="6217920"/>
            <a:ext cx="7918704" cy="457200"/>
          </a:xfrm>
          <a:prstGeom prst="roundRect">
            <a:avLst>
              <a:gd name="adj" fmla="val 16000"/>
            </a:avLst>
          </a:prstGeom>
          <a:solidFill>
            <a:srgbClr val="0F3B7A"/>
          </a:solidFill>
          <a:ln>
            <a:no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69" name="Picture 68" descr="pin_w.png"/>
          <p:cNvPicPr>
            <a:picLocks noChangeAspect="1"/>
          </p:cNvPicPr>
          <p:nvPr/>
        </p:nvPicPr>
        <p:blipFill>
          <a:blip r:embed="rId31"/>
          <a:stretch>
            <a:fillRect/>
          </a:stretch>
        </p:blipFill>
        <p:spPr>
          <a:xfrm>
            <a:off x="1005840" y="6309359"/>
            <a:ext cx="274320" cy="274320"/>
          </a:xfrm>
          <a:prstGeom prst="rect">
            <a:avLst/>
          </a:prstGeom>
        </p:spPr>
      </p:pic>
      <p:sp>
        <p:nvSpPr>
          <p:cNvPr id="70" name="TextBox 69"/>
          <p:cNvSpPr txBox="1"/>
          <p:nvPr/>
        </p:nvSpPr>
        <p:spPr>
          <a:xfrm>
            <a:off x="1417320" y="6217920"/>
            <a:ext cx="7187184" cy="457200"/>
          </a:xfrm>
          <a:prstGeom prst="rect">
            <a:avLst/>
          </a:prstGeom>
          <a:noFill/>
        </p:spPr>
        <p:txBody>
          <a:bodyPr wrap="square" lIns="0" rIns="0" tIns="0" bIns="0" anchor="ctr">
            <a:noAutofit/>
          </a:bodyPr>
          <a:lstStyle/>
          <a:p>
            <a:pPr algn="l"/>
            <a:r>
              <a:rPr sz="1450" b="1" i="0">
                <a:solidFill>
                  <a:srgbClr val="FFFFFF"/>
                </a:solidFill>
                <a:latin typeface="Segoe UI"/>
                <a:cs typeface="Segoe UI"/>
              </a:rPr>
              <a:t>WHERE?</a:t>
            </a:r>
            <a:r>
              <a:rPr sz="1450" b="0" i="0">
                <a:solidFill>
                  <a:srgbClr val="FFFFFF"/>
                </a:solidFill>
                <a:latin typeface="Segoe UI"/>
                <a:cs typeface="Segoe UI"/>
              </a:rPr>
              <a:t>  —  street-by-street flood map on a 5 m grid</a:t>
            </a:r>
          </a:p>
        </p:txBody>
      </p:sp>
      <p:sp>
        <p:nvSpPr>
          <p:cNvPr id="71" name="Rounded Rectangle 70"/>
          <p:cNvSpPr/>
          <p:nvPr/>
        </p:nvSpPr>
        <p:spPr>
          <a:xfrm>
            <a:off x="1078992" y="6766559"/>
            <a:ext cx="7406640" cy="457200"/>
          </a:xfrm>
          <a:prstGeom prst="roundRect">
            <a:avLst>
              <a:gd name="adj" fmla="val 16000"/>
            </a:avLst>
          </a:prstGeom>
          <a:solidFill>
            <a:srgbClr val="0B5BC4"/>
          </a:solidFill>
          <a:ln>
            <a:no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72" name="Picture 71" descr="clock_w.png"/>
          <p:cNvPicPr>
            <a:picLocks noChangeAspect="1"/>
          </p:cNvPicPr>
          <p:nvPr/>
        </p:nvPicPr>
        <p:blipFill>
          <a:blip r:embed="rId32"/>
          <a:stretch>
            <a:fillRect/>
          </a:stretch>
        </p:blipFill>
        <p:spPr>
          <a:xfrm>
            <a:off x="1261872" y="6857999"/>
            <a:ext cx="274320" cy="274320"/>
          </a:xfrm>
          <a:prstGeom prst="rect">
            <a:avLst/>
          </a:prstGeom>
        </p:spPr>
      </p:pic>
      <p:sp>
        <p:nvSpPr>
          <p:cNvPr id="73" name="TextBox 72"/>
          <p:cNvSpPr txBox="1"/>
          <p:nvPr/>
        </p:nvSpPr>
        <p:spPr>
          <a:xfrm>
            <a:off x="1673352" y="6766559"/>
            <a:ext cx="6675120" cy="457200"/>
          </a:xfrm>
          <a:prstGeom prst="rect">
            <a:avLst/>
          </a:prstGeom>
          <a:noFill/>
        </p:spPr>
        <p:txBody>
          <a:bodyPr wrap="square" lIns="0" rIns="0" tIns="0" bIns="0" anchor="ctr">
            <a:noAutofit/>
          </a:bodyPr>
          <a:lstStyle/>
          <a:p>
            <a:pPr algn="l"/>
            <a:r>
              <a:rPr sz="1450" b="1" i="0">
                <a:solidFill>
                  <a:srgbClr val="FFFFFF"/>
                </a:solidFill>
                <a:latin typeface="Segoe UI"/>
                <a:cs typeface="Segoe UI"/>
              </a:rPr>
              <a:t>WHEN?</a:t>
            </a:r>
            <a:r>
              <a:rPr sz="1450" b="0" i="0">
                <a:solidFill>
                  <a:srgbClr val="FFFFFF"/>
                </a:solidFill>
                <a:latin typeface="Segoe UI"/>
                <a:cs typeface="Segoe UI"/>
              </a:rPr>
              <a:t>  —  time-to-10 cm and peak time for every road</a:t>
            </a:r>
          </a:p>
        </p:txBody>
      </p:sp>
      <p:sp>
        <p:nvSpPr>
          <p:cNvPr id="74" name="Rounded Rectangle 73"/>
          <p:cNvSpPr/>
          <p:nvPr/>
        </p:nvSpPr>
        <p:spPr>
          <a:xfrm>
            <a:off x="1335024" y="7315200"/>
            <a:ext cx="6894576" cy="457200"/>
          </a:xfrm>
          <a:prstGeom prst="roundRect">
            <a:avLst>
              <a:gd name="adj" fmla="val 16000"/>
            </a:avLst>
          </a:prstGeom>
          <a:solidFill>
            <a:srgbClr val="1E7FE0"/>
          </a:solidFill>
          <a:ln>
            <a:no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75" name="Picture 74" descr="droplets_w.png"/>
          <p:cNvPicPr>
            <a:picLocks noChangeAspect="1"/>
          </p:cNvPicPr>
          <p:nvPr/>
        </p:nvPicPr>
        <p:blipFill>
          <a:blip r:embed="rId33"/>
          <a:stretch>
            <a:fillRect/>
          </a:stretch>
        </p:blipFill>
        <p:spPr>
          <a:xfrm>
            <a:off x="1517904" y="7406640"/>
            <a:ext cx="274320" cy="274320"/>
          </a:xfrm>
          <a:prstGeom prst="rect">
            <a:avLst/>
          </a:prstGeom>
        </p:spPr>
      </p:pic>
      <p:sp>
        <p:nvSpPr>
          <p:cNvPr id="76" name="TextBox 75"/>
          <p:cNvSpPr txBox="1"/>
          <p:nvPr/>
        </p:nvSpPr>
        <p:spPr>
          <a:xfrm>
            <a:off x="1929384" y="7315200"/>
            <a:ext cx="6163056" cy="457200"/>
          </a:xfrm>
          <a:prstGeom prst="rect">
            <a:avLst/>
          </a:prstGeom>
          <a:noFill/>
        </p:spPr>
        <p:txBody>
          <a:bodyPr wrap="square" lIns="0" rIns="0" tIns="0" bIns="0" anchor="ctr">
            <a:noAutofit/>
          </a:bodyPr>
          <a:lstStyle/>
          <a:p>
            <a:pPr algn="l"/>
            <a:r>
              <a:rPr sz="1450" b="1" i="0">
                <a:solidFill>
                  <a:srgbClr val="FFFFFF"/>
                </a:solidFill>
                <a:latin typeface="Segoe UI"/>
                <a:cs typeface="Segoe UI"/>
              </a:rPr>
              <a:t>HOW BAD?</a:t>
            </a:r>
            <a:r>
              <a:rPr sz="1450" b="0" i="0">
                <a:solidFill>
                  <a:srgbClr val="FFFFFF"/>
                </a:solidFill>
                <a:latin typeface="Segoe UI"/>
                <a:cs typeface="Segoe UI"/>
              </a:rPr>
              <a:t>  —  P10 / P50 / P90 depth, duration, extent</a:t>
            </a:r>
          </a:p>
        </p:txBody>
      </p:sp>
      <p:sp>
        <p:nvSpPr>
          <p:cNvPr id="77" name="Rounded Rectangle 76"/>
          <p:cNvSpPr/>
          <p:nvPr/>
        </p:nvSpPr>
        <p:spPr>
          <a:xfrm>
            <a:off x="1591056" y="7863840"/>
            <a:ext cx="6382512" cy="457200"/>
          </a:xfrm>
          <a:prstGeom prst="roundRect">
            <a:avLst>
              <a:gd name="adj" fmla="val 16000"/>
            </a:avLst>
          </a:prstGeom>
          <a:solidFill>
            <a:srgbClr val="3C9CF2"/>
          </a:solidFill>
          <a:ln>
            <a:no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78" name="Picture 77" descr="search_w.png"/>
          <p:cNvPicPr>
            <a:picLocks noChangeAspect="1"/>
          </p:cNvPicPr>
          <p:nvPr/>
        </p:nvPicPr>
        <p:blipFill>
          <a:blip r:embed="rId34"/>
          <a:stretch>
            <a:fillRect/>
          </a:stretch>
        </p:blipFill>
        <p:spPr>
          <a:xfrm>
            <a:off x="1773936" y="7955279"/>
            <a:ext cx="274320" cy="274320"/>
          </a:xfrm>
          <a:prstGeom prst="rect">
            <a:avLst/>
          </a:prstGeom>
        </p:spPr>
      </p:pic>
      <p:sp>
        <p:nvSpPr>
          <p:cNvPr id="79" name="TextBox 78"/>
          <p:cNvSpPr txBox="1"/>
          <p:nvPr/>
        </p:nvSpPr>
        <p:spPr>
          <a:xfrm>
            <a:off x="2185416" y="7863840"/>
            <a:ext cx="5650992" cy="457200"/>
          </a:xfrm>
          <a:prstGeom prst="rect">
            <a:avLst/>
          </a:prstGeom>
          <a:noFill/>
        </p:spPr>
        <p:txBody>
          <a:bodyPr wrap="square" lIns="0" rIns="0" tIns="0" bIns="0" anchor="ctr">
            <a:noAutofit/>
          </a:bodyPr>
          <a:lstStyle/>
          <a:p>
            <a:pPr algn="l"/>
            <a:r>
              <a:rPr sz="1450" b="1" i="0">
                <a:solidFill>
                  <a:srgbClr val="FFFFFF"/>
                </a:solidFill>
                <a:latin typeface="Segoe UI"/>
                <a:cs typeface="Segoe UI"/>
              </a:rPr>
              <a:t>WHY?</a:t>
            </a:r>
            <a:r>
              <a:rPr sz="1450" b="0" i="0">
                <a:solidFill>
                  <a:srgbClr val="FFFFFF"/>
                </a:solidFill>
                <a:latin typeface="Segoe UI"/>
                <a:cs typeface="Segoe UI"/>
              </a:rPr>
              <a:t>  —  rain vs terrain vs drain surcharge vs blockage</a:t>
            </a:r>
          </a:p>
        </p:txBody>
      </p:sp>
      <p:sp>
        <p:nvSpPr>
          <p:cNvPr id="80" name="Rounded Rectangle 79"/>
          <p:cNvSpPr/>
          <p:nvPr/>
        </p:nvSpPr>
        <p:spPr>
          <a:xfrm>
            <a:off x="1847088" y="8412480"/>
            <a:ext cx="5870448" cy="457200"/>
          </a:xfrm>
          <a:prstGeom prst="roundRect">
            <a:avLst>
              <a:gd name="adj" fmla="val 16000"/>
            </a:avLst>
          </a:prstGeom>
          <a:solidFill>
            <a:srgbClr val="5AAEF7"/>
          </a:solidFill>
          <a:ln>
            <a:no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81" name="Picture 80" descr="route_w.png"/>
          <p:cNvPicPr>
            <a:picLocks noChangeAspect="1"/>
          </p:cNvPicPr>
          <p:nvPr/>
        </p:nvPicPr>
        <p:blipFill>
          <a:blip r:embed="rId29"/>
          <a:stretch>
            <a:fillRect/>
          </a:stretch>
        </p:blipFill>
        <p:spPr>
          <a:xfrm>
            <a:off x="2029968" y="8503919"/>
            <a:ext cx="274320" cy="274320"/>
          </a:xfrm>
          <a:prstGeom prst="rect">
            <a:avLst/>
          </a:prstGeom>
        </p:spPr>
      </p:pic>
      <p:sp>
        <p:nvSpPr>
          <p:cNvPr id="82" name="TextBox 81"/>
          <p:cNvSpPr txBox="1"/>
          <p:nvPr/>
        </p:nvSpPr>
        <p:spPr>
          <a:xfrm>
            <a:off x="2441448" y="8412480"/>
            <a:ext cx="5138928" cy="457200"/>
          </a:xfrm>
          <a:prstGeom prst="rect">
            <a:avLst/>
          </a:prstGeom>
          <a:noFill/>
        </p:spPr>
        <p:txBody>
          <a:bodyPr wrap="square" lIns="0" rIns="0" tIns="0" bIns="0" anchor="ctr">
            <a:noAutofit/>
          </a:bodyPr>
          <a:lstStyle/>
          <a:p>
            <a:pPr algn="l"/>
            <a:r>
              <a:rPr sz="1450" b="1" i="0">
                <a:solidFill>
                  <a:srgbClr val="FFFFFF"/>
                </a:solidFill>
                <a:latin typeface="Segoe UI"/>
                <a:cs typeface="Segoe UI"/>
              </a:rPr>
              <a:t>WHAT NOW?</a:t>
            </a:r>
            <a:r>
              <a:rPr sz="1450" b="0" i="0">
                <a:solidFill>
                  <a:srgbClr val="FFFFFF"/>
                </a:solidFill>
                <a:latin typeface="Segoe UI"/>
                <a:cs typeface="Segoe UI"/>
              </a:rPr>
              <a:t>  —  ranked actions + 3 alternative routes</a:t>
            </a:r>
          </a:p>
        </p:txBody>
      </p:sp>
      <p:sp>
        <p:nvSpPr>
          <p:cNvPr id="83" name="Rounded Rectangle 82"/>
          <p:cNvSpPr/>
          <p:nvPr/>
        </p:nvSpPr>
        <p:spPr>
          <a:xfrm>
            <a:off x="822960" y="9015984"/>
            <a:ext cx="7918704" cy="603504"/>
          </a:xfrm>
          <a:prstGeom prst="roundRect">
            <a:avLst>
              <a:gd name="adj" fmla="val 15151"/>
            </a:avLst>
          </a:prstGeom>
          <a:solidFill>
            <a:srgbClr val="FFFFFF"/>
          </a:solidFill>
          <a:ln w="12700">
            <a:solidFill>
              <a:srgbClr val="CBD5E1"/>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TextBox 83"/>
          <p:cNvSpPr txBox="1"/>
          <p:nvPr/>
        </p:nvSpPr>
        <p:spPr>
          <a:xfrm>
            <a:off x="822960" y="9015984"/>
            <a:ext cx="3959352" cy="603504"/>
          </a:xfrm>
          <a:prstGeom prst="rect">
            <a:avLst/>
          </a:prstGeom>
          <a:noFill/>
        </p:spPr>
        <p:txBody>
          <a:bodyPr wrap="square" lIns="0" rIns="0" tIns="0" bIns="0" anchor="ctr">
            <a:noAutofit/>
          </a:bodyPr>
          <a:lstStyle/>
          <a:p>
            <a:pPr algn="ctr"/>
            <a:r>
              <a:rPr sz="1900" b="1" i="0">
                <a:solidFill>
                  <a:srgbClr val="005DBE"/>
                </a:solidFill>
                <a:latin typeface="Segoe UI"/>
                <a:cs typeface="Segoe UI"/>
              </a:rPr>
              <a:t>0–180 min  </a:t>
            </a:r>
            <a:r>
              <a:rPr sz="1700" b="1" i="0">
                <a:solidFill>
                  <a:srgbClr val="0B0D11"/>
                </a:solidFill>
                <a:latin typeface="Segoe UI"/>
                <a:cs typeface="Segoe UI"/>
              </a:rPr>
              <a:t>forecast horizon</a:t>
            </a:r>
          </a:p>
        </p:txBody>
      </p:sp>
      <p:cxnSp>
        <p:nvCxnSpPr>
          <p:cNvPr id="85" name="Connector 84"/>
          <p:cNvCxnSpPr/>
          <p:nvPr/>
        </p:nvCxnSpPr>
        <p:spPr>
          <a:xfrm>
            <a:off x="4782312" y="9125712"/>
            <a:ext cx="0" cy="384048"/>
          </a:xfrm>
          <a:prstGeom prst="line">
            <a:avLst/>
          </a:prstGeom>
          <a:ln w="19050">
            <a:solidFill>
              <a:srgbClr val="CBD5E1"/>
            </a:solidFill>
            <a:round/>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782312" y="9015984"/>
            <a:ext cx="3959352" cy="603504"/>
          </a:xfrm>
          <a:prstGeom prst="rect">
            <a:avLst/>
          </a:prstGeom>
          <a:noFill/>
        </p:spPr>
        <p:txBody>
          <a:bodyPr wrap="square" lIns="0" rIns="0" tIns="0" bIns="0" anchor="ctr">
            <a:noAutofit/>
          </a:bodyPr>
          <a:lstStyle/>
          <a:p>
            <a:pPr algn="ctr"/>
            <a:r>
              <a:rPr sz="1900" b="1" i="0">
                <a:solidFill>
                  <a:srgbClr val="005DBE"/>
                </a:solidFill>
                <a:latin typeface="Segoe UI"/>
                <a:cs typeface="Segoe UI"/>
              </a:rPr>
              <a:t>5 m  </a:t>
            </a:r>
            <a:r>
              <a:rPr sz="1700" b="1" i="0">
                <a:solidFill>
                  <a:srgbClr val="0B0D11"/>
                </a:solidFill>
                <a:latin typeface="Segoe UI"/>
                <a:cs typeface="Segoe UI"/>
              </a:rPr>
              <a:t>street-level grid</a:t>
            </a:r>
          </a:p>
        </p:txBody>
      </p:sp>
      <p:sp>
        <p:nvSpPr>
          <p:cNvPr id="87" name="Rounded Rectangle 86"/>
          <p:cNvSpPr/>
          <p:nvPr/>
        </p:nvSpPr>
        <p:spPr>
          <a:xfrm>
            <a:off x="9253728" y="5394960"/>
            <a:ext cx="8430768" cy="4389120"/>
          </a:xfrm>
          <a:prstGeom prst="roundRect">
            <a:avLst>
              <a:gd name="adj" fmla="val 2916"/>
            </a:avLst>
          </a:prstGeom>
          <a:solidFill>
            <a:srgbClr val="FFFFFF"/>
          </a:solidFill>
          <a:ln w="15875">
            <a:solidFill>
              <a:srgbClr val="BAD7F0"/>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TextBox 87"/>
          <p:cNvSpPr txBox="1"/>
          <p:nvPr/>
        </p:nvSpPr>
        <p:spPr>
          <a:xfrm>
            <a:off x="9418320" y="5486400"/>
            <a:ext cx="8138160" cy="329184"/>
          </a:xfrm>
          <a:prstGeom prst="rect">
            <a:avLst/>
          </a:prstGeom>
          <a:noFill/>
        </p:spPr>
        <p:txBody>
          <a:bodyPr wrap="square" lIns="0" rIns="0" tIns="0" bIns="0" anchor="t">
            <a:noAutofit/>
          </a:bodyPr>
          <a:lstStyle/>
          <a:p>
            <a:pPr algn="ctr"/>
            <a:r>
              <a:rPr sz="1650" b="1" i="0">
                <a:solidFill>
                  <a:srgbClr val="123668"/>
                </a:solidFill>
                <a:latin typeface="Segoe UI"/>
                <a:cs typeface="Segoe UI"/>
              </a:rPr>
              <a:t>DRAINAGE HEALTH WATCHDOG</a:t>
            </a:r>
          </a:p>
        </p:txBody>
      </p:sp>
      <p:sp>
        <p:nvSpPr>
          <p:cNvPr id="89" name="TextBox 88"/>
          <p:cNvSpPr txBox="1"/>
          <p:nvPr/>
        </p:nvSpPr>
        <p:spPr>
          <a:xfrm>
            <a:off x="9509760" y="5815584"/>
            <a:ext cx="7955279" cy="310896"/>
          </a:xfrm>
          <a:prstGeom prst="rect">
            <a:avLst/>
          </a:prstGeom>
          <a:noFill/>
        </p:spPr>
        <p:txBody>
          <a:bodyPr wrap="square" lIns="0" rIns="0" tIns="0" bIns="0" anchor="t">
            <a:noAutofit/>
          </a:bodyPr>
          <a:lstStyle/>
          <a:p>
            <a:pPr algn="l"/>
            <a:r>
              <a:rPr sz="1300" b="0" i="0">
                <a:solidFill>
                  <a:srgbClr val="273F5E"/>
                </a:solidFill>
                <a:latin typeface="Segoe UI"/>
                <a:cs typeface="Segoe UI"/>
              </a:rPr>
              <a:t>The twin compares what the drains should do with what sensors see — and names the likely culprit.</a:t>
            </a:r>
          </a:p>
        </p:txBody>
      </p:sp>
      <p:sp>
        <p:nvSpPr>
          <p:cNvPr id="90" name="Oval 89"/>
          <p:cNvSpPr/>
          <p:nvPr/>
        </p:nvSpPr>
        <p:spPr>
          <a:xfrm>
            <a:off x="9528048" y="6272784"/>
            <a:ext cx="365760" cy="3657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1" name="Picture 90" descr="shield_w.png"/>
          <p:cNvPicPr>
            <a:picLocks noChangeAspect="1"/>
          </p:cNvPicPr>
          <p:nvPr/>
        </p:nvPicPr>
        <p:blipFill>
          <a:blip r:embed="rId35"/>
          <a:stretch>
            <a:fillRect/>
          </a:stretch>
        </p:blipFill>
        <p:spPr>
          <a:xfrm>
            <a:off x="9601200" y="6345936"/>
            <a:ext cx="219456" cy="219456"/>
          </a:xfrm>
          <a:prstGeom prst="rect">
            <a:avLst/>
          </a:prstGeom>
        </p:spPr>
      </p:pic>
      <p:sp>
        <p:nvSpPr>
          <p:cNvPr id="92" name="TextBox 91"/>
          <p:cNvSpPr txBox="1"/>
          <p:nvPr/>
        </p:nvSpPr>
        <p:spPr>
          <a:xfrm>
            <a:off x="10058400" y="6217920"/>
            <a:ext cx="7406640" cy="256032"/>
          </a:xfrm>
          <a:prstGeom prst="rect">
            <a:avLst/>
          </a:prstGeom>
          <a:noFill/>
        </p:spPr>
        <p:txBody>
          <a:bodyPr wrap="square" lIns="0" rIns="0" tIns="0" bIns="0" anchor="t">
            <a:noAutofit/>
          </a:bodyPr>
          <a:lstStyle/>
          <a:p>
            <a:pPr algn="l"/>
            <a:r>
              <a:rPr sz="1350" b="1" i="0">
                <a:solidFill>
                  <a:srgbClr val="0B0D11"/>
                </a:solidFill>
                <a:latin typeface="Segoe UI"/>
                <a:cs typeface="Segoe UI"/>
              </a:rPr>
              <a:t>Hidden blockages found</a:t>
            </a:r>
          </a:p>
        </p:txBody>
      </p:sp>
      <p:sp>
        <p:nvSpPr>
          <p:cNvPr id="93" name="TextBox 92"/>
          <p:cNvSpPr txBox="1"/>
          <p:nvPr/>
        </p:nvSpPr>
        <p:spPr>
          <a:xfrm>
            <a:off x="10058400" y="6455664"/>
            <a:ext cx="7406640" cy="237744"/>
          </a:xfrm>
          <a:prstGeom prst="rect">
            <a:avLst/>
          </a:prstGeom>
          <a:noFill/>
        </p:spPr>
        <p:txBody>
          <a:bodyPr wrap="square" lIns="0" rIns="0" tIns="0" bIns="0" anchor="t">
            <a:noAutofit/>
          </a:bodyPr>
          <a:lstStyle/>
          <a:p>
            <a:pPr algn="l"/>
            <a:r>
              <a:rPr sz="1200" b="0" i="0">
                <a:solidFill>
                  <a:srgbClr val="475569"/>
                </a:solidFill>
                <a:latin typeface="Segoe UI"/>
                <a:cs typeface="Segoe UI"/>
              </a:rPr>
              <a:t>Residuals ranked pipe P-49 as likely blocked — it was one of 2 hidden blockages</a:t>
            </a:r>
          </a:p>
        </p:txBody>
      </p:sp>
      <p:sp>
        <p:nvSpPr>
          <p:cNvPr id="94" name="Oval 93"/>
          <p:cNvSpPr/>
          <p:nvPr/>
        </p:nvSpPr>
        <p:spPr>
          <a:xfrm>
            <a:off x="9528048" y="6784848"/>
            <a:ext cx="365760" cy="36576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5" name="Picture 94" descr="alert_w.png"/>
          <p:cNvPicPr>
            <a:picLocks noChangeAspect="1"/>
          </p:cNvPicPr>
          <p:nvPr/>
        </p:nvPicPr>
        <p:blipFill>
          <a:blip r:embed="rId36"/>
          <a:stretch>
            <a:fillRect/>
          </a:stretch>
        </p:blipFill>
        <p:spPr>
          <a:xfrm>
            <a:off x="9601200" y="6858000"/>
            <a:ext cx="219456" cy="219456"/>
          </a:xfrm>
          <a:prstGeom prst="rect">
            <a:avLst/>
          </a:prstGeom>
        </p:spPr>
      </p:pic>
      <p:sp>
        <p:nvSpPr>
          <p:cNvPr id="96" name="TextBox 95"/>
          <p:cNvSpPr txBox="1"/>
          <p:nvPr/>
        </p:nvSpPr>
        <p:spPr>
          <a:xfrm>
            <a:off x="10058400" y="6729984"/>
            <a:ext cx="7406640" cy="256032"/>
          </a:xfrm>
          <a:prstGeom prst="rect">
            <a:avLst/>
          </a:prstGeom>
          <a:noFill/>
        </p:spPr>
        <p:txBody>
          <a:bodyPr wrap="square" lIns="0" rIns="0" tIns="0" bIns="0" anchor="t">
            <a:noAutofit/>
          </a:bodyPr>
          <a:lstStyle/>
          <a:p>
            <a:pPr algn="l"/>
            <a:r>
              <a:rPr sz="1350" b="1" i="0">
                <a:solidFill>
                  <a:srgbClr val="0B0D11"/>
                </a:solidFill>
                <a:latin typeface="Segoe UI"/>
                <a:cs typeface="Segoe UI"/>
              </a:rPr>
              <a:t>Faulty sensors isolated</a:t>
            </a:r>
          </a:p>
        </p:txBody>
      </p:sp>
      <p:sp>
        <p:nvSpPr>
          <p:cNvPr id="97" name="TextBox 96"/>
          <p:cNvSpPr txBox="1"/>
          <p:nvPr/>
        </p:nvSpPr>
        <p:spPr>
          <a:xfrm>
            <a:off x="10058400" y="6967728"/>
            <a:ext cx="7406640" cy="237744"/>
          </a:xfrm>
          <a:prstGeom prst="rect">
            <a:avLst/>
          </a:prstGeom>
          <a:noFill/>
        </p:spPr>
        <p:txBody>
          <a:bodyPr wrap="square" lIns="0" rIns="0" tIns="0" bIns="0" anchor="t">
            <a:noAutofit/>
          </a:bodyPr>
          <a:lstStyle/>
          <a:p>
            <a:pPr algn="l"/>
            <a:r>
              <a:rPr sz="1200" b="0" i="0">
                <a:solidFill>
                  <a:srgbClr val="475569"/>
                </a:solidFill>
                <a:latin typeface="Segoe UI"/>
                <a:cs typeface="Segoe UI"/>
              </a:rPr>
              <a:t>Stuck sensor S-27 drops to trust 0.28 and is ignored; the twin keeps running</a:t>
            </a:r>
          </a:p>
        </p:txBody>
      </p:sp>
      <p:sp>
        <p:nvSpPr>
          <p:cNvPr id="98" name="Oval 97"/>
          <p:cNvSpPr/>
          <p:nvPr/>
        </p:nvSpPr>
        <p:spPr>
          <a:xfrm>
            <a:off x="9528048" y="7296912"/>
            <a:ext cx="365760" cy="3657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9" name="Picture 98" descr="search_w.png"/>
          <p:cNvPicPr>
            <a:picLocks noChangeAspect="1"/>
          </p:cNvPicPr>
          <p:nvPr/>
        </p:nvPicPr>
        <p:blipFill>
          <a:blip r:embed="rId34"/>
          <a:stretch>
            <a:fillRect/>
          </a:stretch>
        </p:blipFill>
        <p:spPr>
          <a:xfrm>
            <a:off x="9601200" y="7370064"/>
            <a:ext cx="219456" cy="219456"/>
          </a:xfrm>
          <a:prstGeom prst="rect">
            <a:avLst/>
          </a:prstGeom>
        </p:spPr>
      </p:pic>
      <p:sp>
        <p:nvSpPr>
          <p:cNvPr id="100" name="TextBox 99"/>
          <p:cNvSpPr txBox="1"/>
          <p:nvPr/>
        </p:nvSpPr>
        <p:spPr>
          <a:xfrm>
            <a:off x="10058400" y="7242048"/>
            <a:ext cx="7406640" cy="256032"/>
          </a:xfrm>
          <a:prstGeom prst="rect">
            <a:avLst/>
          </a:prstGeom>
          <a:noFill/>
        </p:spPr>
        <p:txBody>
          <a:bodyPr wrap="square" lIns="0" rIns="0" tIns="0" bIns="0" anchor="t">
            <a:noAutofit/>
          </a:bodyPr>
          <a:lstStyle/>
          <a:p>
            <a:pPr algn="l"/>
            <a:r>
              <a:rPr sz="1350" b="1" i="0">
                <a:solidFill>
                  <a:srgbClr val="0B0D11"/>
                </a:solidFill>
                <a:latin typeface="Segoe UI"/>
                <a:cs typeface="Segoe UI"/>
              </a:rPr>
              <a:t>Forecast corrected by live sensors</a:t>
            </a:r>
          </a:p>
        </p:txBody>
      </p:sp>
      <p:sp>
        <p:nvSpPr>
          <p:cNvPr id="101" name="TextBox 100"/>
          <p:cNvSpPr txBox="1"/>
          <p:nvPr/>
        </p:nvSpPr>
        <p:spPr>
          <a:xfrm>
            <a:off x="10058400" y="7479792"/>
            <a:ext cx="7406640" cy="237744"/>
          </a:xfrm>
          <a:prstGeom prst="rect">
            <a:avLst/>
          </a:prstGeom>
          <a:noFill/>
        </p:spPr>
        <p:txBody>
          <a:bodyPr wrap="square" lIns="0" rIns="0" tIns="0" bIns="0" anchor="t">
            <a:noAutofit/>
          </a:bodyPr>
          <a:lstStyle/>
          <a:p>
            <a:pPr algn="l"/>
            <a:r>
              <a:rPr sz="1200" b="0" i="0">
                <a:solidFill>
                  <a:srgbClr val="475569"/>
                </a:solidFill>
                <a:latin typeface="Segoe UI"/>
                <a:cs typeface="Segoe UI"/>
              </a:rPr>
              <a:t>Kalman update cuts sensor-level error from 19.9 cm to 2.7 cm</a:t>
            </a:r>
          </a:p>
        </p:txBody>
      </p:sp>
      <p:sp>
        <p:nvSpPr>
          <p:cNvPr id="102" name="Oval 101"/>
          <p:cNvSpPr/>
          <p:nvPr/>
        </p:nvSpPr>
        <p:spPr>
          <a:xfrm>
            <a:off x="9528048" y="7808975"/>
            <a:ext cx="365760" cy="36576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3" name="Picture 102" descr="check_w.png"/>
          <p:cNvPicPr>
            <a:picLocks noChangeAspect="1"/>
          </p:cNvPicPr>
          <p:nvPr/>
        </p:nvPicPr>
        <p:blipFill>
          <a:blip r:embed="rId37"/>
          <a:stretch>
            <a:fillRect/>
          </a:stretch>
        </p:blipFill>
        <p:spPr>
          <a:xfrm>
            <a:off x="9601200" y="7882127"/>
            <a:ext cx="219456" cy="219456"/>
          </a:xfrm>
          <a:prstGeom prst="rect">
            <a:avLst/>
          </a:prstGeom>
        </p:spPr>
      </p:pic>
      <p:sp>
        <p:nvSpPr>
          <p:cNvPr id="104" name="TextBox 103"/>
          <p:cNvSpPr txBox="1"/>
          <p:nvPr/>
        </p:nvSpPr>
        <p:spPr>
          <a:xfrm>
            <a:off x="10058400" y="7754112"/>
            <a:ext cx="7406640" cy="256032"/>
          </a:xfrm>
          <a:prstGeom prst="rect">
            <a:avLst/>
          </a:prstGeom>
          <a:noFill/>
        </p:spPr>
        <p:txBody>
          <a:bodyPr wrap="square" lIns="0" rIns="0" tIns="0" bIns="0" anchor="t">
            <a:noAutofit/>
          </a:bodyPr>
          <a:lstStyle/>
          <a:p>
            <a:pPr algn="l"/>
            <a:r>
              <a:rPr sz="1350" b="1" i="0">
                <a:solidFill>
                  <a:srgbClr val="0B0D11"/>
                </a:solidFill>
                <a:latin typeface="Segoe UI"/>
                <a:cs typeface="Segoe UI"/>
              </a:rPr>
              <a:t>Recommend, never auto-control</a:t>
            </a:r>
          </a:p>
        </p:txBody>
      </p:sp>
      <p:sp>
        <p:nvSpPr>
          <p:cNvPr id="105" name="TextBox 104"/>
          <p:cNvSpPr txBox="1"/>
          <p:nvPr/>
        </p:nvSpPr>
        <p:spPr>
          <a:xfrm>
            <a:off x="10058400" y="7991856"/>
            <a:ext cx="7406640" cy="237744"/>
          </a:xfrm>
          <a:prstGeom prst="rect">
            <a:avLst/>
          </a:prstGeom>
          <a:noFill/>
        </p:spPr>
        <p:txBody>
          <a:bodyPr wrap="square" lIns="0" rIns="0" tIns="0" bIns="0" anchor="t">
            <a:noAutofit/>
          </a:bodyPr>
          <a:lstStyle/>
          <a:p>
            <a:pPr algn="l"/>
            <a:r>
              <a:rPr sz="1200" b="0" i="0">
                <a:solidFill>
                  <a:srgbClr val="475569"/>
                </a:solidFill>
                <a:latin typeface="Segoe UI"/>
                <a:cs typeface="Segoe UI"/>
              </a:rPr>
              <a:t>Work orders and actions wait for a human to approve them</a:t>
            </a:r>
          </a:p>
        </p:txBody>
      </p:sp>
      <p:sp>
        <p:nvSpPr>
          <p:cNvPr id="106" name="Rounded Rectangle 105"/>
          <p:cNvSpPr/>
          <p:nvPr/>
        </p:nvSpPr>
        <p:spPr>
          <a:xfrm>
            <a:off x="9509760" y="8293608"/>
            <a:ext cx="7955279" cy="640080"/>
          </a:xfrm>
          <a:prstGeom prst="roundRect">
            <a:avLst>
              <a:gd name="adj" fmla="val 11428"/>
            </a:avLst>
          </a:prstGeom>
          <a:solidFill>
            <a:srgbClr val="FFF5F5"/>
          </a:solidFill>
          <a:ln w="15875">
            <a:solidFill>
              <a:srgbClr val="F5A3A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7" name="Rounded Rectangle 106"/>
          <p:cNvSpPr/>
          <p:nvPr/>
        </p:nvSpPr>
        <p:spPr>
          <a:xfrm>
            <a:off x="9646920" y="8394192"/>
            <a:ext cx="438912" cy="438912"/>
          </a:xfrm>
          <a:prstGeom prst="roundRect">
            <a:avLst>
              <a:gd name="adj" fmla="val 20833"/>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8" name="Picture 107" descr="wifioff_w.png"/>
          <p:cNvPicPr>
            <a:picLocks noChangeAspect="1"/>
          </p:cNvPicPr>
          <p:nvPr/>
        </p:nvPicPr>
        <p:blipFill>
          <a:blip r:embed="rId38"/>
          <a:stretch>
            <a:fillRect/>
          </a:stretch>
        </p:blipFill>
        <p:spPr>
          <a:xfrm>
            <a:off x="9734702" y="8481974"/>
            <a:ext cx="263347" cy="263347"/>
          </a:xfrm>
          <a:prstGeom prst="rect">
            <a:avLst/>
          </a:prstGeom>
        </p:spPr>
      </p:pic>
      <p:sp>
        <p:nvSpPr>
          <p:cNvPr id="109" name="TextBox 108"/>
          <p:cNvSpPr txBox="1"/>
          <p:nvPr/>
        </p:nvSpPr>
        <p:spPr>
          <a:xfrm>
            <a:off x="10241280" y="8321040"/>
            <a:ext cx="7132320" cy="274320"/>
          </a:xfrm>
          <a:prstGeom prst="rect">
            <a:avLst/>
          </a:prstGeom>
          <a:noFill/>
        </p:spPr>
        <p:txBody>
          <a:bodyPr wrap="square" lIns="0" rIns="0" tIns="0" bIns="0" anchor="t">
            <a:noAutofit/>
          </a:bodyPr>
          <a:lstStyle/>
          <a:p>
            <a:pPr algn="l"/>
            <a:r>
              <a:rPr sz="1350" b="1" i="0">
                <a:solidFill>
                  <a:srgbClr val="DC2626"/>
                </a:solidFill>
                <a:latin typeface="Segoe UI"/>
                <a:cs typeface="Segoe UI"/>
              </a:rPr>
              <a:t>DEGRADED-MODE HONESTY</a:t>
            </a:r>
          </a:p>
        </p:txBody>
      </p:sp>
      <p:sp>
        <p:nvSpPr>
          <p:cNvPr id="110" name="TextBox 109"/>
          <p:cNvSpPr txBox="1"/>
          <p:nvPr/>
        </p:nvSpPr>
        <p:spPr>
          <a:xfrm>
            <a:off x="10241280" y="8577072"/>
            <a:ext cx="7132320" cy="329184"/>
          </a:xfrm>
          <a:prstGeom prst="rect">
            <a:avLst/>
          </a:prstGeom>
          <a:noFill/>
        </p:spPr>
        <p:txBody>
          <a:bodyPr wrap="square" lIns="0" rIns="0" tIns="0" bIns="0" anchor="t">
            <a:noAutofit/>
          </a:bodyPr>
          <a:lstStyle/>
          <a:p>
            <a:pPr algn="l"/>
            <a:r>
              <a:rPr sz="1150" b="0" i="0">
                <a:solidFill>
                  <a:srgbClr val="334155"/>
                </a:solidFill>
                <a:latin typeface="Segoe UI"/>
                <a:cs typeface="Segoe UI"/>
              </a:rPr>
              <a:t>Radar lost? Falls back to gauges, widens uncertainty and shows DEGRADED — never silently guesses.</a:t>
            </a:r>
          </a:p>
        </p:txBody>
      </p:sp>
      <p:sp>
        <p:nvSpPr>
          <p:cNvPr id="111" name="Rounded Rectangle 110"/>
          <p:cNvSpPr/>
          <p:nvPr/>
        </p:nvSpPr>
        <p:spPr>
          <a:xfrm>
            <a:off x="9509760" y="9015984"/>
            <a:ext cx="7955279" cy="603504"/>
          </a:xfrm>
          <a:prstGeom prst="roundRect">
            <a:avLst>
              <a:gd name="adj" fmla="val 15151"/>
            </a:avLst>
          </a:prstGeom>
          <a:solidFill>
            <a:srgbClr val="FFFFFF"/>
          </a:solidFill>
          <a:ln w="12700">
            <a:solidFill>
              <a:srgbClr val="CBD5E1"/>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2" name="TextBox 111"/>
          <p:cNvSpPr txBox="1"/>
          <p:nvPr/>
        </p:nvSpPr>
        <p:spPr>
          <a:xfrm>
            <a:off x="9509760" y="9015984"/>
            <a:ext cx="3977639" cy="603504"/>
          </a:xfrm>
          <a:prstGeom prst="rect">
            <a:avLst/>
          </a:prstGeom>
          <a:noFill/>
        </p:spPr>
        <p:txBody>
          <a:bodyPr wrap="square" lIns="0" rIns="0" tIns="0" bIns="0" anchor="ctr">
            <a:noAutofit/>
          </a:bodyPr>
          <a:lstStyle/>
          <a:p>
            <a:pPr algn="ctr"/>
            <a:r>
              <a:rPr sz="1900" b="1" i="0">
                <a:solidFill>
                  <a:srgbClr val="005DBE"/>
                </a:solidFill>
                <a:latin typeface="Segoe UI"/>
                <a:cs typeface="Segoe UI"/>
              </a:rPr>
              <a:t>19 s  </a:t>
            </a:r>
            <a:r>
              <a:rPr sz="1700" b="1" i="0">
                <a:solidFill>
                  <a:srgbClr val="0B0D11"/>
                </a:solidFill>
                <a:latin typeface="Segoe UI"/>
                <a:cs typeface="Segoe UI"/>
              </a:rPr>
              <a:t>full forecast cycle</a:t>
            </a:r>
          </a:p>
        </p:txBody>
      </p:sp>
      <p:cxnSp>
        <p:nvCxnSpPr>
          <p:cNvPr id="113" name="Connector 112"/>
          <p:cNvCxnSpPr/>
          <p:nvPr/>
        </p:nvCxnSpPr>
        <p:spPr>
          <a:xfrm>
            <a:off x="13487400" y="9125712"/>
            <a:ext cx="0" cy="384048"/>
          </a:xfrm>
          <a:prstGeom prst="line">
            <a:avLst/>
          </a:prstGeom>
          <a:ln w="19050">
            <a:solidFill>
              <a:srgbClr val="CBD5E1"/>
            </a:solidFill>
            <a:round/>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3487400" y="9015984"/>
            <a:ext cx="3977639" cy="603504"/>
          </a:xfrm>
          <a:prstGeom prst="rect">
            <a:avLst/>
          </a:prstGeom>
          <a:noFill/>
        </p:spPr>
        <p:txBody>
          <a:bodyPr wrap="square" lIns="0" rIns="0" tIns="0" bIns="0" anchor="ctr">
            <a:noAutofit/>
          </a:bodyPr>
          <a:lstStyle/>
          <a:p>
            <a:pPr algn="ctr"/>
            <a:r>
              <a:rPr sz="1900" b="1" i="0">
                <a:solidFill>
                  <a:srgbClr val="005DBE"/>
                </a:solidFill>
                <a:latin typeface="Segoe UI"/>
                <a:cs typeface="Segoe UI"/>
              </a:rPr>
              <a:t>67%  </a:t>
            </a:r>
            <a:r>
              <a:rPr sz="1700" b="1" i="0">
                <a:solidFill>
                  <a:srgbClr val="0B0D11"/>
                </a:solidFill>
                <a:latin typeface="Segoe UI"/>
                <a:cs typeface="Segoe UI"/>
              </a:rPr>
              <a:t>cells warned in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1">
            <a:extLst>
              <a:ext uri="{FF2B5EF4-FFF2-40B4-BE49-F238E27FC236}">
                <a16:creationId xmlns:a16="http://schemas.microsoft.com/office/drawing/2014/main" id="{53211D12-C970-93B9-657A-21A20189011F}"/>
              </a:ext>
            </a:extLst>
          </p:cNvPr>
          <p:cNvGrpSpPr/>
          <p:nvPr/>
        </p:nvGrpSpPr>
        <p:grpSpPr>
          <a:xfrm>
            <a:off x="0" y="10023170"/>
            <a:ext cx="18288000" cy="262890"/>
            <a:chOff x="0" y="0"/>
            <a:chExt cx="24384000" cy="730669"/>
          </a:xfrm>
        </p:grpSpPr>
        <p:sp>
          <p:nvSpPr>
            <p:cNvPr id="5" name="Freeform 22">
              <a:extLst>
                <a:ext uri="{FF2B5EF4-FFF2-40B4-BE49-F238E27FC236}">
                  <a16:creationId xmlns:a16="http://schemas.microsoft.com/office/drawing/2014/main" id="{673C779D-0257-6299-9634-BA8F33AD7812}"/>
                </a:ext>
              </a:extLst>
            </p:cNvPr>
            <p:cNvSpPr/>
            <p:nvPr/>
          </p:nvSpPr>
          <p:spPr>
            <a:xfrm>
              <a:off x="0" y="0"/>
              <a:ext cx="24384000" cy="730377"/>
            </a:xfrm>
            <a:custGeom>
              <a:avLst/>
              <a:gdLst/>
              <a:ahLst/>
              <a:cxnLst/>
              <a:rect l="l" t="t" r="r" b="b"/>
              <a:pathLst>
                <a:path w="24384000" h="730377">
                  <a:moveTo>
                    <a:pt x="24384000" y="730377"/>
                  </a:moveTo>
                  <a:lnTo>
                    <a:pt x="0" y="730377"/>
                  </a:lnTo>
                  <a:lnTo>
                    <a:pt x="0" y="0"/>
                  </a:lnTo>
                  <a:lnTo>
                    <a:pt x="24384000" y="0"/>
                  </a:lnTo>
                  <a:lnTo>
                    <a:pt x="24384000" y="730377"/>
                  </a:lnTo>
                  <a:close/>
                </a:path>
              </a:pathLst>
            </a:custGeom>
            <a:solidFill>
              <a:srgbClr val="0070C0"/>
            </a:solidFill>
          </p:spPr>
        </p:sp>
      </p:grpSp>
      <p:grpSp>
        <p:nvGrpSpPr>
          <p:cNvPr id="2" name="Group 12">
            <a:extLst>
              <a:ext uri="{FF2B5EF4-FFF2-40B4-BE49-F238E27FC236}">
                <a16:creationId xmlns:a16="http://schemas.microsoft.com/office/drawing/2014/main" id="{FFE6D176-A414-A189-1A88-63CD6DB8531D}"/>
              </a:ext>
            </a:extLst>
          </p:cNvPr>
          <p:cNvGrpSpPr/>
          <p:nvPr/>
        </p:nvGrpSpPr>
        <p:grpSpPr>
          <a:xfrm>
            <a:off x="15849600" y="57267"/>
            <a:ext cx="2209800" cy="1123833"/>
            <a:chOff x="0" y="0"/>
            <a:chExt cx="4499737" cy="2124710"/>
          </a:xfrm>
        </p:grpSpPr>
        <p:sp>
          <p:nvSpPr>
            <p:cNvPr id="4" name="Freeform 13">
              <a:extLst>
                <a:ext uri="{FF2B5EF4-FFF2-40B4-BE49-F238E27FC236}">
                  <a16:creationId xmlns:a16="http://schemas.microsoft.com/office/drawing/2014/main" id="{0CB5EC0E-839B-ED85-2B00-31C714475BAA}"/>
                </a:ext>
              </a:extLst>
            </p:cNvPr>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66"/>
              <a:stretch>
                <a:fillRect t="-22" b="-21"/>
              </a:stretch>
            </a:blipFill>
          </p:spPr>
        </p:sp>
      </p:grpSp>
      <p:grpSp>
        <p:nvGrpSpPr>
          <p:cNvPr id="11" name="Group 16">
            <a:extLst>
              <a:ext uri="{FF2B5EF4-FFF2-40B4-BE49-F238E27FC236}">
                <a16:creationId xmlns:a16="http://schemas.microsoft.com/office/drawing/2014/main" id="{7E387788-25E5-CAF0-DD92-EAF7F526C637}"/>
              </a:ext>
            </a:extLst>
          </p:cNvPr>
          <p:cNvGrpSpPr/>
          <p:nvPr/>
        </p:nvGrpSpPr>
        <p:grpSpPr>
          <a:xfrm>
            <a:off x="-100348" y="-161905"/>
            <a:ext cx="1869475" cy="924131"/>
            <a:chOff x="-90054" y="-102024"/>
            <a:chExt cx="3998937" cy="2752524"/>
          </a:xfrm>
        </p:grpSpPr>
        <p:sp>
          <p:nvSpPr>
            <p:cNvPr id="12" name="Freeform 17" descr="Your startup LOGO">
              <a:extLst>
                <a:ext uri="{FF2B5EF4-FFF2-40B4-BE49-F238E27FC236}">
                  <a16:creationId xmlns:a16="http://schemas.microsoft.com/office/drawing/2014/main" id="{DFD1D654-3C08-E9FB-4E49-656A9DCF48EC}"/>
                </a:ext>
              </a:extLst>
            </p:cNvPr>
            <p:cNvSpPr/>
            <p:nvPr/>
          </p:nvSpPr>
          <p:spPr>
            <a:xfrm>
              <a:off x="489929" y="422094"/>
              <a:ext cx="2748917" cy="1806308"/>
            </a:xfrm>
            <a:custGeom>
              <a:avLst/>
              <a:gdLst/>
              <a:ahLst/>
              <a:cxnLst/>
              <a:rect l="l" t="t" r="r" b="b"/>
              <a:pathLst>
                <a:path w="2748917" h="1806308">
                  <a:moveTo>
                    <a:pt x="0" y="0"/>
                  </a:moveTo>
                  <a:lnTo>
                    <a:pt x="2748917" y="0"/>
                  </a:lnTo>
                  <a:lnTo>
                    <a:pt x="2748917" y="1806308"/>
                  </a:lnTo>
                  <a:lnTo>
                    <a:pt x="0" y="1806308"/>
                  </a:lnTo>
                  <a:lnTo>
                    <a:pt x="0" y="0"/>
                  </a:lnTo>
                  <a:close/>
                </a:path>
              </a:pathLst>
            </a:custGeom>
            <a:blipFill>
              <a:blip>
                <a:extLst>
                  <a:ext uri="{96DAC541-7B7A-43D3-8B79-37D633B846F1}">
                    <asvg:svgBlip xmlns:asvg="http://schemas.microsoft.com/office/drawing/2016/SVG/main" r:embed="rId67"/>
                  </a:ext>
                </a:extLst>
              </a:blip>
              <a:stretch>
                <a:fillRect/>
              </a:stretch>
            </a:blipFill>
          </p:spPr>
        </p:sp>
        <p:grpSp>
          <p:nvGrpSpPr>
            <p:cNvPr id="13" name="Group 18">
              <a:extLst>
                <a:ext uri="{FF2B5EF4-FFF2-40B4-BE49-F238E27FC236}">
                  <a16:creationId xmlns:a16="http://schemas.microsoft.com/office/drawing/2014/main" id="{99F9DF74-3C12-347D-13DD-50E12EC6EA24}"/>
                </a:ext>
              </a:extLst>
            </p:cNvPr>
            <p:cNvGrpSpPr/>
            <p:nvPr/>
          </p:nvGrpSpPr>
          <p:grpSpPr>
            <a:xfrm>
              <a:off x="-90054" y="-102024"/>
              <a:ext cx="3998937" cy="2752524"/>
              <a:chOff x="-58852" y="-66674"/>
              <a:chExt cx="2613368" cy="1798817"/>
            </a:xfrm>
          </p:grpSpPr>
          <p:sp>
            <p:nvSpPr>
              <p:cNvPr id="14" name="Freeform 19">
                <a:extLst>
                  <a:ext uri="{FF2B5EF4-FFF2-40B4-BE49-F238E27FC236}">
                    <a16:creationId xmlns:a16="http://schemas.microsoft.com/office/drawing/2014/main" id="{273145CA-66EF-B882-D062-5056D6E61150}"/>
                  </a:ext>
                </a:extLst>
              </p:cNvPr>
              <p:cNvSpPr/>
              <p:nvPr/>
            </p:nvSpPr>
            <p:spPr>
              <a:xfrm>
                <a:off x="0" y="0"/>
                <a:ext cx="2554516" cy="1732143"/>
              </a:xfrm>
              <a:custGeom>
                <a:avLst/>
                <a:gdLst/>
                <a:ahLst/>
                <a:cxnLst/>
                <a:rect l="l" t="t" r="r" b="b"/>
                <a:pathLst>
                  <a:path w="2554516" h="1732143">
                    <a:moveTo>
                      <a:pt x="0" y="0"/>
                    </a:moveTo>
                    <a:lnTo>
                      <a:pt x="2554516" y="0"/>
                    </a:lnTo>
                    <a:lnTo>
                      <a:pt x="2554516" y="1732143"/>
                    </a:lnTo>
                    <a:lnTo>
                      <a:pt x="0" y="1732143"/>
                    </a:lnTo>
                    <a:close/>
                  </a:path>
                </a:pathLst>
              </a:custGeom>
              <a:blipFill>
                <a:blip r:embed="rId68">
                  <a:alphaModFix amt="0"/>
                </a:blip>
                <a:stretch>
                  <a:fillRect l="-36998" r="-36998"/>
                </a:stretch>
              </a:blipFill>
            </p:spPr>
            <p:txBody>
              <a:bodyPr/>
              <a:lstStyle/>
              <a:p>
                <a:endParaRPr lang="en-IN" dirty="0"/>
              </a:p>
            </p:txBody>
          </p:sp>
          <p:sp>
            <p:nvSpPr>
              <p:cNvPr id="15" name="TextBox 20">
                <a:extLst>
                  <a:ext uri="{FF2B5EF4-FFF2-40B4-BE49-F238E27FC236}">
                    <a16:creationId xmlns:a16="http://schemas.microsoft.com/office/drawing/2014/main" id="{D4893CDC-0DBD-3475-548E-80147C7C12FA}"/>
                  </a:ext>
                </a:extLst>
              </p:cNvPr>
              <p:cNvSpPr txBox="1"/>
              <p:nvPr/>
            </p:nvSpPr>
            <p:spPr>
              <a:xfrm>
                <a:off x="-58852" y="-66674"/>
                <a:ext cx="2554516" cy="1798815"/>
              </a:xfrm>
              <a:prstGeom prst="rect">
                <a:avLst/>
              </a:prstGeom>
            </p:spPr>
            <p:txBody>
              <a:bodyPr lIns="0" tIns="0" rIns="0" bIns="0" rtlCol="0" anchor="ctr"/>
              <a:lstStyle/>
              <a:p>
                <a:pPr algn="ctr"/>
                <a:r>
                  <a:rPr lang="en-US" sz="3498" dirty="0" err="1">
                    <a:solidFill>
                      <a:srgbClr val="000000"/>
                    </a:solidFill>
                    <a:latin typeface="Calibri (MS)"/>
                    <a:ea typeface="Calibri (MS)"/>
                    <a:cs typeface="Calibri (MS)"/>
                    <a:sym typeface="Calibri (MS)"/>
                  </a:rPr>
                  <a:t>LLMao</a:t>
                </a:r>
                <a:endParaRPr lang="en-US" sz="3498" dirty="0">
                  <a:solidFill>
                    <a:srgbClr val="000000"/>
                  </a:solidFill>
                  <a:latin typeface="Calibri (MS)"/>
                  <a:ea typeface="Calibri (MS)"/>
                  <a:cs typeface="Calibri (MS)"/>
                  <a:sym typeface="Calibri (MS)"/>
                </a:endParaRPr>
              </a:p>
            </p:txBody>
          </p:sp>
        </p:grpSp>
      </p:grpSp>
      <p:sp>
        <p:nvSpPr>
          <p:cNvPr id="16" name="TextBox 15"/>
          <p:cNvSpPr txBox="1"/>
          <p:nvPr/>
        </p:nvSpPr>
        <p:spPr>
          <a:xfrm>
            <a:off x="6419088" y="0"/>
            <a:ext cx="5486400" cy="502920"/>
          </a:xfrm>
          <a:prstGeom prst="rect">
            <a:avLst/>
          </a:prstGeom>
          <a:noFill/>
        </p:spPr>
        <p:txBody>
          <a:bodyPr wrap="none" lIns="0" rIns="0" tIns="0" bIns="0" anchor="t">
            <a:noAutofit/>
          </a:bodyPr>
          <a:lstStyle/>
          <a:p>
            <a:pPr algn="l"/>
            <a:r>
              <a:rPr sz="3060" b="1" i="0" spc="276">
                <a:solidFill>
                  <a:srgbClr val="0B0D11"/>
                </a:solidFill>
                <a:latin typeface="Arial Narrow"/>
                <a:cs typeface="Arial Narrow"/>
              </a:rPr>
              <a:t>TECHNICAL APPROACH</a:t>
            </a:r>
          </a:p>
        </p:txBody>
      </p:sp>
      <p:sp>
        <p:nvSpPr>
          <p:cNvPr id="17" name="Rounded Rectangle 16"/>
          <p:cNvSpPr/>
          <p:nvPr/>
        </p:nvSpPr>
        <p:spPr>
          <a:xfrm>
            <a:off x="155448" y="804672"/>
            <a:ext cx="5861304" cy="4754880"/>
          </a:xfrm>
          <a:prstGeom prst="roundRect">
            <a:avLst>
              <a:gd name="adj" fmla="val 1923"/>
            </a:avLst>
          </a:prstGeom>
          <a:solidFill>
            <a:srgbClr val="FFFFFF"/>
          </a:solidFill>
          <a:ln w="12700">
            <a:solidFill>
              <a:srgbClr val="E6EB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ounded Rectangle 17"/>
          <p:cNvSpPr/>
          <p:nvPr/>
        </p:nvSpPr>
        <p:spPr>
          <a:xfrm>
            <a:off x="265176" y="987552"/>
            <a:ext cx="5641848" cy="4480560"/>
          </a:xfrm>
          <a:prstGeom prst="roundRect">
            <a:avLst>
              <a:gd name="adj" fmla="val 1632"/>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Rectangle 18"/>
          <p:cNvSpPr/>
          <p:nvPr/>
        </p:nvSpPr>
        <p:spPr>
          <a:xfrm>
            <a:off x="329184" y="1042415"/>
            <a:ext cx="228600" cy="4370832"/>
          </a:xfrm>
          <a:prstGeom prst="rect">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rot="16200000">
            <a:off x="-1741932" y="3113532"/>
            <a:ext cx="4370832" cy="228600"/>
          </a:xfrm>
          <a:prstGeom prst="rect">
            <a:avLst/>
          </a:prstGeom>
          <a:noFill/>
        </p:spPr>
        <p:txBody>
          <a:bodyPr wrap="square" lIns="0" rIns="0" tIns="0" bIns="0" anchor="ctr">
            <a:noAutofit/>
          </a:bodyPr>
          <a:lstStyle/>
          <a:p>
            <a:pPr algn="ctr"/>
            <a:r>
              <a:rPr sz="1100" b="1" i="0" spc="200">
                <a:solidFill>
                  <a:srgbClr val="2563EB"/>
                </a:solidFill>
                <a:latin typeface="Segoe UI"/>
                <a:cs typeface="Segoe UI"/>
              </a:rPr>
              <a:t>CONFIG-DRIVEN  ·  YAML  ·  ONE REPO</a:t>
            </a:r>
          </a:p>
        </p:txBody>
      </p:sp>
      <p:sp>
        <p:nvSpPr>
          <p:cNvPr id="21" name="Rounded Rectangle 20"/>
          <p:cNvSpPr/>
          <p:nvPr/>
        </p:nvSpPr>
        <p:spPr>
          <a:xfrm>
            <a:off x="5596128" y="1042415"/>
            <a:ext cx="246888" cy="4370832"/>
          </a:xfrm>
          <a:prstGeom prst="roundRect">
            <a:avLst>
              <a:gd name="adj" fmla="val 18518"/>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rot="16200000">
            <a:off x="3534156" y="3113532"/>
            <a:ext cx="4370832" cy="228600"/>
          </a:xfrm>
          <a:prstGeom prst="rect">
            <a:avLst/>
          </a:prstGeom>
          <a:noFill/>
        </p:spPr>
        <p:txBody>
          <a:bodyPr wrap="square" lIns="0" rIns="0" tIns="0" bIns="0" anchor="ctr">
            <a:noAutofit/>
          </a:bodyPr>
          <a:lstStyle/>
          <a:p>
            <a:pPr algn="ctr"/>
            <a:r>
              <a:rPr sz="1100" b="1" i="0" spc="200">
                <a:solidFill>
                  <a:srgbClr val="FFFFFF"/>
                </a:solidFill>
                <a:latin typeface="Segoe UI"/>
                <a:cs typeface="Segoe UI"/>
              </a:rPr>
              <a:t>PROVENANCE  ·  LABELS  ·  31 TESTS</a:t>
            </a:r>
          </a:p>
        </p:txBody>
      </p:sp>
      <p:sp>
        <p:nvSpPr>
          <p:cNvPr id="23" name="Rounded Rectangle 22"/>
          <p:cNvSpPr/>
          <p:nvPr/>
        </p:nvSpPr>
        <p:spPr>
          <a:xfrm>
            <a:off x="731520" y="1097280"/>
            <a:ext cx="4754880" cy="493776"/>
          </a:xfrm>
          <a:prstGeom prst="roundRect">
            <a:avLst>
              <a:gd name="adj" fmla="val 14814"/>
            </a:avLst>
          </a:prstGeom>
          <a:solidFill>
            <a:srgbClr val="FFFFFF"/>
          </a:solidFill>
          <a:ln w="12700">
            <a:solidFill>
              <a:srgbClr val="CBD5E1"/>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ounded Rectangle 23"/>
          <p:cNvSpPr/>
          <p:nvPr/>
        </p:nvSpPr>
        <p:spPr>
          <a:xfrm>
            <a:off x="822960" y="1152144"/>
            <a:ext cx="384048" cy="384048"/>
          </a:xfrm>
          <a:prstGeom prst="roundRect">
            <a:avLst>
              <a:gd name="adj" fmla="val 23809"/>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5" name="Picture 24" descr="python_b.png"/>
          <p:cNvPicPr>
            <a:picLocks noChangeAspect="1"/>
          </p:cNvPicPr>
          <p:nvPr/>
        </p:nvPicPr>
        <p:blipFill>
          <a:blip r:embed="rId69"/>
          <a:stretch>
            <a:fillRect/>
          </a:stretch>
        </p:blipFill>
        <p:spPr>
          <a:xfrm>
            <a:off x="884407" y="1213591"/>
            <a:ext cx="261152" cy="261152"/>
          </a:xfrm>
          <a:prstGeom prst="rect">
            <a:avLst/>
          </a:prstGeom>
        </p:spPr>
      </p:pic>
      <p:sp>
        <p:nvSpPr>
          <p:cNvPr id="26" name="TextBox 25"/>
          <p:cNvSpPr txBox="1"/>
          <p:nvPr/>
        </p:nvSpPr>
        <p:spPr>
          <a:xfrm>
            <a:off x="1298448" y="1097280"/>
            <a:ext cx="3566160" cy="493776"/>
          </a:xfrm>
          <a:prstGeom prst="rect">
            <a:avLst/>
          </a:prstGeom>
          <a:noFill/>
        </p:spPr>
        <p:txBody>
          <a:bodyPr wrap="square" lIns="0" rIns="0" tIns="0" bIns="0" anchor="ctr">
            <a:noAutofit/>
          </a:bodyPr>
          <a:lstStyle/>
          <a:p>
            <a:pPr algn="l"/>
            <a:r>
              <a:rPr sz="1500" b="1" i="0">
                <a:solidFill>
                  <a:srgbClr val="0B0D11"/>
                </a:solidFill>
                <a:latin typeface="Segoe UI"/>
                <a:cs typeface="Segoe UI"/>
              </a:rPr>
              <a:t>PYTHON  ·  NUMPY PHYSICS CORE</a:t>
            </a:r>
          </a:p>
        </p:txBody>
      </p:sp>
      <p:pic>
        <p:nvPicPr>
          <p:cNvPr id="27" name="Picture 26" descr="numpy_b.png"/>
          <p:cNvPicPr>
            <a:picLocks noChangeAspect="1"/>
          </p:cNvPicPr>
          <p:nvPr/>
        </p:nvPicPr>
        <p:blipFill>
          <a:blip r:embed="rId70"/>
          <a:stretch>
            <a:fillRect/>
          </a:stretch>
        </p:blipFill>
        <p:spPr>
          <a:xfrm>
            <a:off x="4818888" y="1234440"/>
            <a:ext cx="219456" cy="219456"/>
          </a:xfrm>
          <a:prstGeom prst="rect">
            <a:avLst/>
          </a:prstGeom>
        </p:spPr>
      </p:pic>
      <p:pic>
        <p:nvPicPr>
          <p:cNvPr id="28" name="Picture 27" descr="pytorch_o.png"/>
          <p:cNvPicPr>
            <a:picLocks noChangeAspect="1"/>
          </p:cNvPicPr>
          <p:nvPr/>
        </p:nvPicPr>
        <p:blipFill>
          <a:blip r:embed="rId71"/>
          <a:stretch>
            <a:fillRect/>
          </a:stretch>
        </p:blipFill>
        <p:spPr>
          <a:xfrm>
            <a:off x="5120640" y="1234440"/>
            <a:ext cx="219456" cy="219456"/>
          </a:xfrm>
          <a:prstGeom prst="rect">
            <a:avLst/>
          </a:prstGeom>
        </p:spPr>
      </p:pic>
      <p:sp>
        <p:nvSpPr>
          <p:cNvPr id="29" name="Rounded Rectangle 28"/>
          <p:cNvSpPr/>
          <p:nvPr/>
        </p:nvSpPr>
        <p:spPr>
          <a:xfrm>
            <a:off x="731520" y="1737360"/>
            <a:ext cx="2304288" cy="603504"/>
          </a:xfrm>
          <a:prstGeom prst="roundRect">
            <a:avLst>
              <a:gd name="adj" fmla="val 909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Rounded Rectangle 29"/>
          <p:cNvSpPr/>
          <p:nvPr/>
        </p:nvSpPr>
        <p:spPr>
          <a:xfrm>
            <a:off x="822960" y="1828800"/>
            <a:ext cx="420624" cy="420624"/>
          </a:xfrm>
          <a:prstGeom prst="roundRect">
            <a:avLst>
              <a:gd name="adj" fmla="val 21739"/>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1" name="Picture 30" descr="mountain_w.png"/>
          <p:cNvPicPr>
            <a:picLocks noChangeAspect="1"/>
          </p:cNvPicPr>
          <p:nvPr/>
        </p:nvPicPr>
        <p:blipFill>
          <a:blip r:embed="rId72"/>
          <a:stretch>
            <a:fillRect/>
          </a:stretch>
        </p:blipFill>
        <p:spPr>
          <a:xfrm>
            <a:off x="907084" y="1912924"/>
            <a:ext cx="252374" cy="252374"/>
          </a:xfrm>
          <a:prstGeom prst="rect">
            <a:avLst/>
          </a:prstGeom>
        </p:spPr>
      </p:pic>
      <p:sp>
        <p:nvSpPr>
          <p:cNvPr id="32" name="Rounded Rectangle 31"/>
          <p:cNvSpPr/>
          <p:nvPr/>
        </p:nvSpPr>
        <p:spPr>
          <a:xfrm>
            <a:off x="1335024" y="1810512"/>
            <a:ext cx="566928" cy="173736"/>
          </a:xfrm>
          <a:prstGeom prst="roundRect">
            <a:avLst>
              <a:gd name="adj" fmla="val 15789"/>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850" b="1" i="0" spc="40">
                <a:solidFill>
                  <a:srgbClr val="FFFFFF"/>
                </a:solidFill>
                <a:latin typeface="Segoe UI"/>
                <a:cs typeface="Segoe UI"/>
              </a:rPr>
              <a:t>PART 01</a:t>
            </a:r>
          </a:p>
        </p:txBody>
      </p:sp>
      <p:sp>
        <p:nvSpPr>
          <p:cNvPr id="33" name="TextBox 32"/>
          <p:cNvSpPr txBox="1"/>
          <p:nvPr/>
        </p:nvSpPr>
        <p:spPr>
          <a:xfrm>
            <a:off x="1335024" y="2011679"/>
            <a:ext cx="1664208" cy="274320"/>
          </a:xfrm>
          <a:prstGeom prst="rect">
            <a:avLst/>
          </a:prstGeom>
          <a:noFill/>
        </p:spPr>
        <p:txBody>
          <a:bodyPr wrap="square" lIns="0" rIns="0" tIns="0" bIns="0" anchor="t">
            <a:noAutofit/>
          </a:bodyPr>
          <a:lstStyle/>
          <a:p>
            <a:pPr algn="l"/>
            <a:r>
              <a:rPr sz="1350" b="1" i="0">
                <a:solidFill>
                  <a:srgbClr val="0B0D11"/>
                </a:solidFill>
                <a:latin typeface="Segoe UI"/>
                <a:cs typeface="Segoe UI"/>
              </a:rPr>
              <a:t>TERRAIN TWIN</a:t>
            </a:r>
          </a:p>
        </p:txBody>
      </p:sp>
      <p:sp>
        <p:nvSpPr>
          <p:cNvPr id="34" name="Rounded Rectangle 33"/>
          <p:cNvSpPr/>
          <p:nvPr/>
        </p:nvSpPr>
        <p:spPr>
          <a:xfrm>
            <a:off x="3182112" y="1737360"/>
            <a:ext cx="2304288" cy="603504"/>
          </a:xfrm>
          <a:prstGeom prst="roundRect">
            <a:avLst>
              <a:gd name="adj" fmla="val 909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Rounded Rectangle 34"/>
          <p:cNvSpPr/>
          <p:nvPr/>
        </p:nvSpPr>
        <p:spPr>
          <a:xfrm>
            <a:off x="3273552" y="1828800"/>
            <a:ext cx="420624" cy="420624"/>
          </a:xfrm>
          <a:prstGeom prst="roundRect">
            <a:avLst>
              <a:gd name="adj" fmla="val 21739"/>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6" name="Picture 35" descr="waves_w.png"/>
          <p:cNvPicPr>
            <a:picLocks noChangeAspect="1"/>
          </p:cNvPicPr>
          <p:nvPr/>
        </p:nvPicPr>
        <p:blipFill>
          <a:blip r:embed="rId73"/>
          <a:stretch>
            <a:fillRect/>
          </a:stretch>
        </p:blipFill>
        <p:spPr>
          <a:xfrm>
            <a:off x="3357676" y="1912924"/>
            <a:ext cx="252374" cy="252374"/>
          </a:xfrm>
          <a:prstGeom prst="rect">
            <a:avLst/>
          </a:prstGeom>
        </p:spPr>
      </p:pic>
      <p:sp>
        <p:nvSpPr>
          <p:cNvPr id="37" name="Rounded Rectangle 36"/>
          <p:cNvSpPr/>
          <p:nvPr/>
        </p:nvSpPr>
        <p:spPr>
          <a:xfrm>
            <a:off x="3785615" y="1810512"/>
            <a:ext cx="566928" cy="173736"/>
          </a:xfrm>
          <a:prstGeom prst="roundRect">
            <a:avLst>
              <a:gd name="adj" fmla="val 15789"/>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850" b="1" i="0" spc="40">
                <a:solidFill>
                  <a:srgbClr val="FFFFFF"/>
                </a:solidFill>
                <a:latin typeface="Segoe UI"/>
                <a:cs typeface="Segoe UI"/>
              </a:rPr>
              <a:t>PART 02</a:t>
            </a:r>
          </a:p>
        </p:txBody>
      </p:sp>
      <p:sp>
        <p:nvSpPr>
          <p:cNvPr id="38" name="TextBox 37"/>
          <p:cNvSpPr txBox="1"/>
          <p:nvPr/>
        </p:nvSpPr>
        <p:spPr>
          <a:xfrm>
            <a:off x="3785615" y="2011679"/>
            <a:ext cx="1664208" cy="274320"/>
          </a:xfrm>
          <a:prstGeom prst="rect">
            <a:avLst/>
          </a:prstGeom>
          <a:noFill/>
        </p:spPr>
        <p:txBody>
          <a:bodyPr wrap="square" lIns="0" rIns="0" tIns="0" bIns="0" anchor="t">
            <a:noAutofit/>
          </a:bodyPr>
          <a:lstStyle/>
          <a:p>
            <a:pPr algn="l"/>
            <a:r>
              <a:rPr sz="1350" b="1" i="0">
                <a:solidFill>
                  <a:srgbClr val="0B0D11"/>
                </a:solidFill>
                <a:latin typeface="Segoe UI"/>
                <a:cs typeface="Segoe UI"/>
              </a:rPr>
              <a:t>COUPLED PHYSICS</a:t>
            </a:r>
          </a:p>
        </p:txBody>
      </p:sp>
      <p:sp>
        <p:nvSpPr>
          <p:cNvPr id="39" name="Rounded Rectangle 38"/>
          <p:cNvSpPr/>
          <p:nvPr/>
        </p:nvSpPr>
        <p:spPr>
          <a:xfrm>
            <a:off x="731520" y="2450592"/>
            <a:ext cx="2304288" cy="603504"/>
          </a:xfrm>
          <a:prstGeom prst="roundRect">
            <a:avLst>
              <a:gd name="adj" fmla="val 909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Rounded Rectangle 39"/>
          <p:cNvSpPr/>
          <p:nvPr/>
        </p:nvSpPr>
        <p:spPr>
          <a:xfrm>
            <a:off x="822960" y="2542032"/>
            <a:ext cx="420624" cy="420624"/>
          </a:xfrm>
          <a:prstGeom prst="roundRect">
            <a:avLst>
              <a:gd name="adj" fmla="val 21739"/>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1" name="Picture 40" descr="radar_w.png"/>
          <p:cNvPicPr>
            <a:picLocks noChangeAspect="1"/>
          </p:cNvPicPr>
          <p:nvPr/>
        </p:nvPicPr>
        <p:blipFill>
          <a:blip r:embed="rId74"/>
          <a:stretch>
            <a:fillRect/>
          </a:stretch>
        </p:blipFill>
        <p:spPr>
          <a:xfrm>
            <a:off x="907084" y="2626156"/>
            <a:ext cx="252374" cy="252374"/>
          </a:xfrm>
          <a:prstGeom prst="rect">
            <a:avLst/>
          </a:prstGeom>
        </p:spPr>
      </p:pic>
      <p:sp>
        <p:nvSpPr>
          <p:cNvPr id="42" name="Rounded Rectangle 41"/>
          <p:cNvSpPr/>
          <p:nvPr/>
        </p:nvSpPr>
        <p:spPr>
          <a:xfrm>
            <a:off x="1335024" y="2523744"/>
            <a:ext cx="566928" cy="173736"/>
          </a:xfrm>
          <a:prstGeom prst="roundRect">
            <a:avLst>
              <a:gd name="adj" fmla="val 15789"/>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850" b="1" i="0" spc="40">
                <a:solidFill>
                  <a:srgbClr val="FFFFFF"/>
                </a:solidFill>
                <a:latin typeface="Segoe UI"/>
                <a:cs typeface="Segoe UI"/>
              </a:rPr>
              <a:t>PART 03</a:t>
            </a:r>
          </a:p>
        </p:txBody>
      </p:sp>
      <p:sp>
        <p:nvSpPr>
          <p:cNvPr id="43" name="TextBox 42"/>
          <p:cNvSpPr txBox="1"/>
          <p:nvPr/>
        </p:nvSpPr>
        <p:spPr>
          <a:xfrm>
            <a:off x="1335024" y="2724912"/>
            <a:ext cx="1664208" cy="274320"/>
          </a:xfrm>
          <a:prstGeom prst="rect">
            <a:avLst/>
          </a:prstGeom>
          <a:noFill/>
        </p:spPr>
        <p:txBody>
          <a:bodyPr wrap="square" lIns="0" rIns="0" tIns="0" bIns="0" anchor="t">
            <a:noAutofit/>
          </a:bodyPr>
          <a:lstStyle/>
          <a:p>
            <a:pPr algn="l"/>
            <a:r>
              <a:rPr sz="1350" b="1" i="0">
                <a:solidFill>
                  <a:srgbClr val="0B0D11"/>
                </a:solidFill>
                <a:latin typeface="Segoe UI"/>
                <a:cs typeface="Segoe UI"/>
              </a:rPr>
              <a:t>FORECAST ENGINE</a:t>
            </a:r>
          </a:p>
        </p:txBody>
      </p:sp>
      <p:sp>
        <p:nvSpPr>
          <p:cNvPr id="44" name="Rounded Rectangle 43"/>
          <p:cNvSpPr/>
          <p:nvPr/>
        </p:nvSpPr>
        <p:spPr>
          <a:xfrm>
            <a:off x="3182112" y="2450592"/>
            <a:ext cx="2304288" cy="603504"/>
          </a:xfrm>
          <a:prstGeom prst="roundRect">
            <a:avLst>
              <a:gd name="adj" fmla="val 909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Rounded Rectangle 44"/>
          <p:cNvSpPr/>
          <p:nvPr/>
        </p:nvSpPr>
        <p:spPr>
          <a:xfrm>
            <a:off x="3273552" y="2542032"/>
            <a:ext cx="420624" cy="420624"/>
          </a:xfrm>
          <a:prstGeom prst="roundRect">
            <a:avLst>
              <a:gd name="adj" fmla="val 21739"/>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6" name="Picture 45" descr="refresh_w.png"/>
          <p:cNvPicPr>
            <a:picLocks noChangeAspect="1"/>
          </p:cNvPicPr>
          <p:nvPr/>
        </p:nvPicPr>
        <p:blipFill>
          <a:blip r:embed="rId75"/>
          <a:stretch>
            <a:fillRect/>
          </a:stretch>
        </p:blipFill>
        <p:spPr>
          <a:xfrm>
            <a:off x="3357676" y="2626156"/>
            <a:ext cx="252374" cy="252374"/>
          </a:xfrm>
          <a:prstGeom prst="rect">
            <a:avLst/>
          </a:prstGeom>
        </p:spPr>
      </p:pic>
      <p:sp>
        <p:nvSpPr>
          <p:cNvPr id="47" name="Rounded Rectangle 46"/>
          <p:cNvSpPr/>
          <p:nvPr/>
        </p:nvSpPr>
        <p:spPr>
          <a:xfrm>
            <a:off x="3785615" y="2523744"/>
            <a:ext cx="566928" cy="173736"/>
          </a:xfrm>
          <a:prstGeom prst="roundRect">
            <a:avLst>
              <a:gd name="adj" fmla="val 15789"/>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850" b="1" i="0" spc="40">
                <a:solidFill>
                  <a:srgbClr val="FFFFFF"/>
                </a:solidFill>
                <a:latin typeface="Segoe UI"/>
                <a:cs typeface="Segoe UI"/>
              </a:rPr>
              <a:t>PART 04</a:t>
            </a:r>
          </a:p>
        </p:txBody>
      </p:sp>
      <p:sp>
        <p:nvSpPr>
          <p:cNvPr id="48" name="TextBox 47"/>
          <p:cNvSpPr txBox="1"/>
          <p:nvPr/>
        </p:nvSpPr>
        <p:spPr>
          <a:xfrm>
            <a:off x="3785615" y="2724912"/>
            <a:ext cx="1664208" cy="274320"/>
          </a:xfrm>
          <a:prstGeom prst="rect">
            <a:avLst/>
          </a:prstGeom>
          <a:noFill/>
        </p:spPr>
        <p:txBody>
          <a:bodyPr wrap="square" lIns="0" rIns="0" tIns="0" bIns="0" anchor="t">
            <a:noAutofit/>
          </a:bodyPr>
          <a:lstStyle/>
          <a:p>
            <a:pPr algn="l"/>
            <a:r>
              <a:rPr sz="1350" b="1" i="0">
                <a:solidFill>
                  <a:srgbClr val="0B0D11"/>
                </a:solidFill>
                <a:latin typeface="Segoe UI"/>
                <a:cs typeface="Segoe UI"/>
              </a:rPr>
              <a:t>CLOSED LOOP</a:t>
            </a:r>
          </a:p>
        </p:txBody>
      </p:sp>
      <p:sp>
        <p:nvSpPr>
          <p:cNvPr id="49" name="Rounded Rectangle 48"/>
          <p:cNvSpPr/>
          <p:nvPr/>
        </p:nvSpPr>
        <p:spPr>
          <a:xfrm>
            <a:off x="1097280" y="3163824"/>
            <a:ext cx="4023360" cy="603504"/>
          </a:xfrm>
          <a:prstGeom prst="roundRect">
            <a:avLst>
              <a:gd name="adj" fmla="val 909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Rounded Rectangle 49"/>
          <p:cNvSpPr/>
          <p:nvPr/>
        </p:nvSpPr>
        <p:spPr>
          <a:xfrm>
            <a:off x="1188720" y="3255264"/>
            <a:ext cx="420624" cy="420624"/>
          </a:xfrm>
          <a:prstGeom prst="roundRect">
            <a:avLst>
              <a:gd name="adj" fmla="val 21739"/>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51" name="Picture 50" descr="route_w.png"/>
          <p:cNvPicPr>
            <a:picLocks noChangeAspect="1"/>
          </p:cNvPicPr>
          <p:nvPr/>
        </p:nvPicPr>
        <p:blipFill>
          <a:blip r:embed="rId76"/>
          <a:stretch>
            <a:fillRect/>
          </a:stretch>
        </p:blipFill>
        <p:spPr>
          <a:xfrm>
            <a:off x="1272844" y="3339388"/>
            <a:ext cx="252374" cy="252374"/>
          </a:xfrm>
          <a:prstGeom prst="rect">
            <a:avLst/>
          </a:prstGeom>
        </p:spPr>
      </p:pic>
      <p:sp>
        <p:nvSpPr>
          <p:cNvPr id="52" name="Rounded Rectangle 51"/>
          <p:cNvSpPr/>
          <p:nvPr/>
        </p:nvSpPr>
        <p:spPr>
          <a:xfrm>
            <a:off x="1700784" y="3236976"/>
            <a:ext cx="566928" cy="173736"/>
          </a:xfrm>
          <a:prstGeom prst="roundRect">
            <a:avLst>
              <a:gd name="adj" fmla="val 15789"/>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850" b="1" i="0" spc="40">
                <a:solidFill>
                  <a:srgbClr val="FFFFFF"/>
                </a:solidFill>
                <a:latin typeface="Segoe UI"/>
                <a:cs typeface="Segoe UI"/>
              </a:rPr>
              <a:t>PART 05</a:t>
            </a:r>
          </a:p>
        </p:txBody>
      </p:sp>
      <p:sp>
        <p:nvSpPr>
          <p:cNvPr id="53" name="TextBox 52"/>
          <p:cNvSpPr txBox="1"/>
          <p:nvPr/>
        </p:nvSpPr>
        <p:spPr>
          <a:xfrm>
            <a:off x="1700784" y="3438144"/>
            <a:ext cx="3383280" cy="274320"/>
          </a:xfrm>
          <a:prstGeom prst="rect">
            <a:avLst/>
          </a:prstGeom>
          <a:noFill/>
        </p:spPr>
        <p:txBody>
          <a:bodyPr wrap="square" lIns="0" rIns="0" tIns="0" bIns="0" anchor="t">
            <a:noAutofit/>
          </a:bodyPr>
          <a:lstStyle/>
          <a:p>
            <a:pPr algn="l"/>
            <a:r>
              <a:rPr sz="1350" b="1" i="0">
                <a:solidFill>
                  <a:srgbClr val="0B0D11"/>
                </a:solidFill>
                <a:latin typeface="Segoe UI"/>
                <a:cs typeface="Segoe UI"/>
              </a:rPr>
              <a:t>DECISIONS · ALERTS · API</a:t>
            </a:r>
          </a:p>
        </p:txBody>
      </p:sp>
      <p:sp>
        <p:nvSpPr>
          <p:cNvPr id="54" name="TextBox 53"/>
          <p:cNvSpPr txBox="1"/>
          <p:nvPr/>
        </p:nvSpPr>
        <p:spPr>
          <a:xfrm>
            <a:off x="731520" y="3840480"/>
            <a:ext cx="2743200" cy="182880"/>
          </a:xfrm>
          <a:prstGeom prst="rect">
            <a:avLst/>
          </a:prstGeom>
          <a:noFill/>
        </p:spPr>
        <p:txBody>
          <a:bodyPr wrap="square" lIns="0" rIns="0" tIns="0" bIns="0" anchor="t">
            <a:noAutofit/>
          </a:bodyPr>
          <a:lstStyle/>
          <a:p>
            <a:pPr algn="l"/>
            <a:r>
              <a:rPr sz="1050" b="1" i="0" spc="100">
                <a:solidFill>
                  <a:srgbClr val="64748B"/>
                </a:solidFill>
                <a:latin typeface="Segoe UI"/>
                <a:cs typeface="Segoe UI"/>
              </a:rPr>
              <a:t>DATA SOURCES</a:t>
            </a:r>
          </a:p>
        </p:txBody>
      </p:sp>
      <p:sp>
        <p:nvSpPr>
          <p:cNvPr id="55" name="Rounded Rectangle 54"/>
          <p:cNvSpPr/>
          <p:nvPr/>
        </p:nvSpPr>
        <p:spPr>
          <a:xfrm>
            <a:off x="731520" y="4041648"/>
            <a:ext cx="1115568" cy="731520"/>
          </a:xfrm>
          <a:prstGeom prst="roundRect">
            <a:avLst>
              <a:gd name="adj" fmla="val 75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56" name="Picture 55" descr="mountain_s.png"/>
          <p:cNvPicPr>
            <a:picLocks noChangeAspect="1"/>
          </p:cNvPicPr>
          <p:nvPr/>
        </p:nvPicPr>
        <p:blipFill>
          <a:blip r:embed="rId77"/>
          <a:stretch>
            <a:fillRect/>
          </a:stretch>
        </p:blipFill>
        <p:spPr>
          <a:xfrm>
            <a:off x="1133856" y="4114800"/>
            <a:ext cx="310896" cy="310896"/>
          </a:xfrm>
          <a:prstGeom prst="rect">
            <a:avLst/>
          </a:prstGeom>
        </p:spPr>
      </p:pic>
      <p:sp>
        <p:nvSpPr>
          <p:cNvPr id="57" name="TextBox 56"/>
          <p:cNvSpPr txBox="1"/>
          <p:nvPr/>
        </p:nvSpPr>
        <p:spPr>
          <a:xfrm>
            <a:off x="731520" y="4480560"/>
            <a:ext cx="1115568" cy="228600"/>
          </a:xfrm>
          <a:prstGeom prst="rect">
            <a:avLst/>
          </a:prstGeom>
          <a:noFill/>
        </p:spPr>
        <p:txBody>
          <a:bodyPr wrap="square" lIns="0" rIns="0" tIns="0" bIns="0" anchor="t">
            <a:noAutofit/>
          </a:bodyPr>
          <a:lstStyle/>
          <a:p>
            <a:pPr algn="ctr"/>
            <a:r>
              <a:rPr sz="1050" b="1" i="0">
                <a:solidFill>
                  <a:srgbClr val="0B0D11"/>
                </a:solidFill>
                <a:latin typeface="Segoe UI"/>
                <a:cs typeface="Segoe UI"/>
              </a:rPr>
              <a:t>Copernicus DEM</a:t>
            </a:r>
          </a:p>
        </p:txBody>
      </p:sp>
      <p:sp>
        <p:nvSpPr>
          <p:cNvPr id="58" name="Rounded Rectangle 57"/>
          <p:cNvSpPr/>
          <p:nvPr/>
        </p:nvSpPr>
        <p:spPr>
          <a:xfrm>
            <a:off x="1929384" y="4041648"/>
            <a:ext cx="1115568" cy="731520"/>
          </a:xfrm>
          <a:prstGeom prst="roundRect">
            <a:avLst>
              <a:gd name="adj" fmla="val 75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59" name="Picture 58" descr="osm_s.png"/>
          <p:cNvPicPr>
            <a:picLocks noChangeAspect="1"/>
          </p:cNvPicPr>
          <p:nvPr/>
        </p:nvPicPr>
        <p:blipFill>
          <a:blip r:embed="rId78"/>
          <a:stretch>
            <a:fillRect/>
          </a:stretch>
        </p:blipFill>
        <p:spPr>
          <a:xfrm>
            <a:off x="2331720" y="4114800"/>
            <a:ext cx="310896" cy="310896"/>
          </a:xfrm>
          <a:prstGeom prst="rect">
            <a:avLst/>
          </a:prstGeom>
        </p:spPr>
      </p:pic>
      <p:sp>
        <p:nvSpPr>
          <p:cNvPr id="60" name="TextBox 59"/>
          <p:cNvSpPr txBox="1"/>
          <p:nvPr/>
        </p:nvSpPr>
        <p:spPr>
          <a:xfrm>
            <a:off x="1929384" y="4480560"/>
            <a:ext cx="1115568" cy="228600"/>
          </a:xfrm>
          <a:prstGeom prst="rect">
            <a:avLst/>
          </a:prstGeom>
          <a:noFill/>
        </p:spPr>
        <p:txBody>
          <a:bodyPr wrap="square" lIns="0" rIns="0" tIns="0" bIns="0" anchor="t">
            <a:noAutofit/>
          </a:bodyPr>
          <a:lstStyle/>
          <a:p>
            <a:pPr algn="ctr"/>
            <a:r>
              <a:rPr sz="1050" b="1" i="0">
                <a:solidFill>
                  <a:srgbClr val="0B0D11"/>
                </a:solidFill>
                <a:latin typeface="Segoe UI"/>
                <a:cs typeface="Segoe UI"/>
              </a:rPr>
              <a:t>OpenStreetMap</a:t>
            </a:r>
          </a:p>
        </p:txBody>
      </p:sp>
      <p:sp>
        <p:nvSpPr>
          <p:cNvPr id="61" name="Rounded Rectangle 60"/>
          <p:cNvSpPr/>
          <p:nvPr/>
        </p:nvSpPr>
        <p:spPr>
          <a:xfrm>
            <a:off x="3127248" y="4041648"/>
            <a:ext cx="1115568" cy="731520"/>
          </a:xfrm>
          <a:prstGeom prst="roundRect">
            <a:avLst>
              <a:gd name="adj" fmla="val 75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62" name="Picture 61" descr="satellite_s.png"/>
          <p:cNvPicPr>
            <a:picLocks noChangeAspect="1"/>
          </p:cNvPicPr>
          <p:nvPr/>
        </p:nvPicPr>
        <p:blipFill>
          <a:blip r:embed="rId79"/>
          <a:stretch>
            <a:fillRect/>
          </a:stretch>
        </p:blipFill>
        <p:spPr>
          <a:xfrm>
            <a:off x="3529584" y="4114800"/>
            <a:ext cx="310896" cy="310896"/>
          </a:xfrm>
          <a:prstGeom prst="rect">
            <a:avLst/>
          </a:prstGeom>
        </p:spPr>
      </p:pic>
      <p:sp>
        <p:nvSpPr>
          <p:cNvPr id="63" name="TextBox 62"/>
          <p:cNvSpPr txBox="1"/>
          <p:nvPr/>
        </p:nvSpPr>
        <p:spPr>
          <a:xfrm>
            <a:off x="3127248" y="4480560"/>
            <a:ext cx="1115568" cy="228600"/>
          </a:xfrm>
          <a:prstGeom prst="rect">
            <a:avLst/>
          </a:prstGeom>
          <a:noFill/>
        </p:spPr>
        <p:txBody>
          <a:bodyPr wrap="square" lIns="0" rIns="0" tIns="0" bIns="0" anchor="t">
            <a:noAutofit/>
          </a:bodyPr>
          <a:lstStyle/>
          <a:p>
            <a:pPr algn="ctr"/>
            <a:r>
              <a:rPr sz="1050" b="1" i="0">
                <a:solidFill>
                  <a:srgbClr val="0B0D11"/>
                </a:solidFill>
                <a:latin typeface="Segoe UI"/>
                <a:cs typeface="Segoe UI"/>
              </a:rPr>
              <a:t>GPM-IMERG</a:t>
            </a:r>
          </a:p>
        </p:txBody>
      </p:sp>
      <p:sp>
        <p:nvSpPr>
          <p:cNvPr id="64" name="Rounded Rectangle 63"/>
          <p:cNvSpPr/>
          <p:nvPr/>
        </p:nvSpPr>
        <p:spPr>
          <a:xfrm>
            <a:off x="4325112" y="4041648"/>
            <a:ext cx="1115568" cy="731520"/>
          </a:xfrm>
          <a:prstGeom prst="roundRect">
            <a:avLst>
              <a:gd name="adj" fmla="val 7500"/>
            </a:avLst>
          </a:prstGeom>
          <a:solidFill>
            <a:srgbClr val="F8FAFC"/>
          </a:solidFill>
          <a:ln w="12700">
            <a:solidFill>
              <a:srgbClr val="CBD5E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65" name="Picture 64" descr="radar_s.png"/>
          <p:cNvPicPr>
            <a:picLocks noChangeAspect="1"/>
          </p:cNvPicPr>
          <p:nvPr/>
        </p:nvPicPr>
        <p:blipFill>
          <a:blip r:embed="rId80"/>
          <a:stretch>
            <a:fillRect/>
          </a:stretch>
        </p:blipFill>
        <p:spPr>
          <a:xfrm>
            <a:off x="4727448" y="4114800"/>
            <a:ext cx="310896" cy="310896"/>
          </a:xfrm>
          <a:prstGeom prst="rect">
            <a:avLst/>
          </a:prstGeom>
        </p:spPr>
      </p:pic>
      <p:sp>
        <p:nvSpPr>
          <p:cNvPr id="66" name="TextBox 65"/>
          <p:cNvSpPr txBox="1"/>
          <p:nvPr/>
        </p:nvSpPr>
        <p:spPr>
          <a:xfrm>
            <a:off x="4325112" y="4480560"/>
            <a:ext cx="1115568" cy="228600"/>
          </a:xfrm>
          <a:prstGeom prst="rect">
            <a:avLst/>
          </a:prstGeom>
          <a:noFill/>
        </p:spPr>
        <p:txBody>
          <a:bodyPr wrap="square" lIns="0" rIns="0" tIns="0" bIns="0" anchor="t">
            <a:noAutofit/>
          </a:bodyPr>
          <a:lstStyle/>
          <a:p>
            <a:pPr algn="ctr"/>
            <a:r>
              <a:rPr sz="1050" b="1" i="0">
                <a:solidFill>
                  <a:srgbClr val="0B0D11"/>
                </a:solidFill>
                <a:latin typeface="Segoe UI"/>
                <a:cs typeface="Segoe UI"/>
              </a:rPr>
              <a:t>Radar (MOSDAC)</a:t>
            </a:r>
          </a:p>
        </p:txBody>
      </p:sp>
      <p:sp>
        <p:nvSpPr>
          <p:cNvPr id="67" name="Rounded Rectangle 66"/>
          <p:cNvSpPr/>
          <p:nvPr/>
        </p:nvSpPr>
        <p:spPr>
          <a:xfrm>
            <a:off x="731520" y="4873752"/>
            <a:ext cx="1062532" cy="219456"/>
          </a:xfrm>
          <a:prstGeom prst="roundRect">
            <a:avLst>
              <a:gd name="adj" fmla="val 2083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spc="0">
                <a:solidFill>
                  <a:srgbClr val="0B0D11"/>
                </a:solidFill>
                <a:latin typeface="Segoe UI"/>
                <a:cs typeface="Segoe UI"/>
              </a:rPr>
              <a:t>NumPy · SciPy</a:t>
            </a:r>
          </a:p>
        </p:txBody>
      </p:sp>
      <p:sp>
        <p:nvSpPr>
          <p:cNvPr id="68" name="Rounded Rectangle 67"/>
          <p:cNvSpPr/>
          <p:nvPr/>
        </p:nvSpPr>
        <p:spPr>
          <a:xfrm>
            <a:off x="1858060" y="4873752"/>
            <a:ext cx="656539" cy="219456"/>
          </a:xfrm>
          <a:prstGeom prst="roundRect">
            <a:avLst>
              <a:gd name="adj" fmla="val 2083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spc="0">
                <a:solidFill>
                  <a:srgbClr val="0B0D11"/>
                </a:solidFill>
                <a:latin typeface="Segoe UI"/>
                <a:cs typeface="Segoe UI"/>
              </a:rPr>
              <a:t>PyTorch</a:t>
            </a:r>
          </a:p>
        </p:txBody>
      </p:sp>
      <p:sp>
        <p:nvSpPr>
          <p:cNvPr id="69" name="Rounded Rectangle 68"/>
          <p:cNvSpPr/>
          <p:nvPr/>
        </p:nvSpPr>
        <p:spPr>
          <a:xfrm>
            <a:off x="2578608" y="4873752"/>
            <a:ext cx="994867" cy="219456"/>
          </a:xfrm>
          <a:prstGeom prst="roundRect">
            <a:avLst>
              <a:gd name="adj" fmla="val 2083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spc="0">
                <a:solidFill>
                  <a:srgbClr val="0B0D11"/>
                </a:solidFill>
                <a:latin typeface="Segoe UI"/>
                <a:cs typeface="Segoe UI"/>
              </a:rPr>
              <a:t>ONNX Runtime</a:t>
            </a:r>
          </a:p>
        </p:txBody>
      </p:sp>
      <p:sp>
        <p:nvSpPr>
          <p:cNvPr id="70" name="Rounded Rectangle 69"/>
          <p:cNvSpPr/>
          <p:nvPr/>
        </p:nvSpPr>
        <p:spPr>
          <a:xfrm>
            <a:off x="3637483" y="4873752"/>
            <a:ext cx="453542" cy="219456"/>
          </a:xfrm>
          <a:prstGeom prst="roundRect">
            <a:avLst>
              <a:gd name="adj" fmla="val 2083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spc="0">
                <a:solidFill>
                  <a:srgbClr val="0B0D11"/>
                </a:solidFill>
                <a:latin typeface="Segoe UI"/>
                <a:cs typeface="Segoe UI"/>
              </a:rPr>
              <a:t>HDF5</a:t>
            </a:r>
          </a:p>
        </p:txBody>
      </p:sp>
      <p:sp>
        <p:nvSpPr>
          <p:cNvPr id="71" name="Rounded Rectangle 70"/>
          <p:cNvSpPr/>
          <p:nvPr/>
        </p:nvSpPr>
        <p:spPr>
          <a:xfrm>
            <a:off x="4155033" y="4873752"/>
            <a:ext cx="927201" cy="219456"/>
          </a:xfrm>
          <a:prstGeom prst="roundRect">
            <a:avLst>
              <a:gd name="adj" fmla="val 2083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spc="0">
                <a:solidFill>
                  <a:srgbClr val="0B0D11"/>
                </a:solidFill>
                <a:latin typeface="Segoe UI"/>
                <a:cs typeface="Segoe UI"/>
              </a:rPr>
              <a:t>MapLibre GL</a:t>
            </a:r>
          </a:p>
        </p:txBody>
      </p:sp>
      <p:sp>
        <p:nvSpPr>
          <p:cNvPr id="72" name="Rounded Rectangle 71"/>
          <p:cNvSpPr/>
          <p:nvPr/>
        </p:nvSpPr>
        <p:spPr>
          <a:xfrm>
            <a:off x="731520" y="5157216"/>
            <a:ext cx="724204" cy="219456"/>
          </a:xfrm>
          <a:prstGeom prst="roundRect">
            <a:avLst>
              <a:gd name="adj" fmla="val 2083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spc="0">
                <a:solidFill>
                  <a:srgbClr val="0B0D11"/>
                </a:solidFill>
                <a:latin typeface="Segoe UI"/>
                <a:cs typeface="Segoe UI"/>
              </a:rPr>
              <a:t>Three.js</a:t>
            </a:r>
          </a:p>
        </p:txBody>
      </p:sp>
      <p:sp>
        <p:nvSpPr>
          <p:cNvPr id="73" name="Rounded Rectangle 72"/>
          <p:cNvSpPr/>
          <p:nvPr/>
        </p:nvSpPr>
        <p:spPr>
          <a:xfrm>
            <a:off x="1519732" y="5157216"/>
            <a:ext cx="724204" cy="219456"/>
          </a:xfrm>
          <a:prstGeom prst="roundRect">
            <a:avLst>
              <a:gd name="adj" fmla="val 2083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spc="0">
                <a:solidFill>
                  <a:srgbClr val="0B0D11"/>
                </a:solidFill>
                <a:latin typeface="Segoe UI"/>
                <a:cs typeface="Segoe UI"/>
              </a:rPr>
              <a:t>Chart.js</a:t>
            </a:r>
          </a:p>
        </p:txBody>
      </p:sp>
      <p:sp>
        <p:nvSpPr>
          <p:cNvPr id="74" name="Rounded Rectangle 73"/>
          <p:cNvSpPr/>
          <p:nvPr/>
        </p:nvSpPr>
        <p:spPr>
          <a:xfrm>
            <a:off x="2307945" y="5157216"/>
            <a:ext cx="588873" cy="219456"/>
          </a:xfrm>
          <a:prstGeom prst="roundRect">
            <a:avLst>
              <a:gd name="adj" fmla="val 2083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spc="0">
                <a:solidFill>
                  <a:srgbClr val="0B0D11"/>
                </a:solidFill>
                <a:latin typeface="Segoe UI"/>
                <a:cs typeface="Segoe UI"/>
              </a:rPr>
              <a:t>pytest</a:t>
            </a:r>
          </a:p>
        </p:txBody>
      </p:sp>
      <p:sp>
        <p:nvSpPr>
          <p:cNvPr id="75" name="Rounded Rectangle 74"/>
          <p:cNvSpPr/>
          <p:nvPr/>
        </p:nvSpPr>
        <p:spPr>
          <a:xfrm>
            <a:off x="2960827" y="5157216"/>
            <a:ext cx="927201" cy="219456"/>
          </a:xfrm>
          <a:prstGeom prst="roundRect">
            <a:avLst>
              <a:gd name="adj" fmla="val 2083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spc="0">
                <a:solidFill>
                  <a:srgbClr val="0B0D11"/>
                </a:solidFill>
                <a:latin typeface="Segoe UI"/>
                <a:cs typeface="Segoe UI"/>
              </a:rPr>
              <a:t>YAML config</a:t>
            </a:r>
          </a:p>
        </p:txBody>
      </p:sp>
      <p:sp>
        <p:nvSpPr>
          <p:cNvPr id="76" name="Rounded Rectangle 75"/>
          <p:cNvSpPr/>
          <p:nvPr/>
        </p:nvSpPr>
        <p:spPr>
          <a:xfrm>
            <a:off x="3952036" y="5157216"/>
            <a:ext cx="1062532" cy="219456"/>
          </a:xfrm>
          <a:prstGeom prst="roundRect">
            <a:avLst>
              <a:gd name="adj" fmla="val 2083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spc="0">
                <a:solidFill>
                  <a:srgbClr val="0B0D11"/>
                </a:solidFill>
                <a:latin typeface="Segoe UI"/>
                <a:cs typeface="Segoe UI"/>
              </a:rPr>
              <a:t>Vercel static</a:t>
            </a:r>
          </a:p>
        </p:txBody>
      </p:sp>
      <p:sp>
        <p:nvSpPr>
          <p:cNvPr id="77" name="Rounded Rectangle 76"/>
          <p:cNvSpPr/>
          <p:nvPr/>
        </p:nvSpPr>
        <p:spPr>
          <a:xfrm>
            <a:off x="155448" y="5833872"/>
            <a:ext cx="5861304" cy="2816352"/>
          </a:xfrm>
          <a:prstGeom prst="roundRect">
            <a:avLst>
              <a:gd name="adj" fmla="val 3246"/>
            </a:avLst>
          </a:prstGeom>
          <a:solidFill>
            <a:srgbClr val="FFFFFF"/>
          </a:solidFill>
          <a:ln w="12700">
            <a:solidFill>
              <a:srgbClr val="E6EB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Rounded Rectangle 77"/>
          <p:cNvSpPr/>
          <p:nvPr/>
        </p:nvSpPr>
        <p:spPr>
          <a:xfrm>
            <a:off x="274320" y="5989320"/>
            <a:ext cx="1325880" cy="1115568"/>
          </a:xfrm>
          <a:prstGeom prst="roundRect">
            <a:avLst>
              <a:gd name="adj" fmla="val 4918"/>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Rounded Rectangle 78"/>
          <p:cNvSpPr/>
          <p:nvPr/>
        </p:nvSpPr>
        <p:spPr>
          <a:xfrm>
            <a:off x="731520" y="6062472"/>
            <a:ext cx="411480" cy="411480"/>
          </a:xfrm>
          <a:prstGeom prst="roundRect">
            <a:avLst>
              <a:gd name="adj" fmla="val 22222"/>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80" name="Picture 79" descr="brain_w.png"/>
          <p:cNvPicPr>
            <a:picLocks noChangeAspect="1"/>
          </p:cNvPicPr>
          <p:nvPr/>
        </p:nvPicPr>
        <p:blipFill>
          <a:blip r:embed="rId81"/>
          <a:stretch>
            <a:fillRect/>
          </a:stretch>
        </p:blipFill>
        <p:spPr>
          <a:xfrm>
            <a:off x="813816" y="6144768"/>
            <a:ext cx="246888" cy="246888"/>
          </a:xfrm>
          <a:prstGeom prst="rect">
            <a:avLst/>
          </a:prstGeom>
        </p:spPr>
      </p:pic>
      <p:sp>
        <p:nvSpPr>
          <p:cNvPr id="81" name="TextBox 80"/>
          <p:cNvSpPr txBox="1"/>
          <p:nvPr/>
        </p:nvSpPr>
        <p:spPr>
          <a:xfrm>
            <a:off x="274320" y="6510528"/>
            <a:ext cx="1325880" cy="274320"/>
          </a:xfrm>
          <a:prstGeom prst="rect">
            <a:avLst/>
          </a:prstGeom>
          <a:noFill/>
        </p:spPr>
        <p:txBody>
          <a:bodyPr wrap="square" lIns="0" rIns="0" tIns="0" bIns="0" anchor="t">
            <a:noAutofit/>
          </a:bodyPr>
          <a:lstStyle/>
          <a:p>
            <a:pPr algn="ctr"/>
            <a:r>
              <a:rPr sz="1400" b="1" i="0">
                <a:solidFill>
                  <a:srgbClr val="0B0D11"/>
                </a:solidFill>
                <a:latin typeface="Segoe UI"/>
                <a:cs typeface="Segoe UI"/>
              </a:rPr>
              <a:t>U-Net</a:t>
            </a:r>
          </a:p>
        </p:txBody>
      </p:sp>
      <p:sp>
        <p:nvSpPr>
          <p:cNvPr id="82" name="TextBox 81"/>
          <p:cNvSpPr txBox="1"/>
          <p:nvPr/>
        </p:nvSpPr>
        <p:spPr>
          <a:xfrm>
            <a:off x="274320" y="6793992"/>
            <a:ext cx="1325880" cy="228600"/>
          </a:xfrm>
          <a:prstGeom prst="rect">
            <a:avLst/>
          </a:prstGeom>
          <a:noFill/>
        </p:spPr>
        <p:txBody>
          <a:bodyPr wrap="square" lIns="0" rIns="0" tIns="0" bIns="0" anchor="t">
            <a:noAutofit/>
          </a:bodyPr>
          <a:lstStyle/>
          <a:p>
            <a:pPr algn="ctr"/>
            <a:r>
              <a:rPr sz="950" b="0" i="0">
                <a:solidFill>
                  <a:srgbClr val="475569"/>
                </a:solidFill>
                <a:latin typeface="Segoe UI"/>
                <a:cs typeface="Segoe UI"/>
              </a:rPr>
              <a:t>residual · 270k params</a:t>
            </a:r>
          </a:p>
        </p:txBody>
      </p:sp>
      <p:sp>
        <p:nvSpPr>
          <p:cNvPr id="83" name="Rounded Rectangle 82"/>
          <p:cNvSpPr/>
          <p:nvPr/>
        </p:nvSpPr>
        <p:spPr>
          <a:xfrm>
            <a:off x="1691640" y="5989320"/>
            <a:ext cx="1325880" cy="1115568"/>
          </a:xfrm>
          <a:prstGeom prst="roundRect">
            <a:avLst>
              <a:gd name="adj" fmla="val 4918"/>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Rounded Rectangle 83"/>
          <p:cNvSpPr/>
          <p:nvPr/>
        </p:nvSpPr>
        <p:spPr>
          <a:xfrm>
            <a:off x="2148840" y="6062472"/>
            <a:ext cx="411480" cy="411480"/>
          </a:xfrm>
          <a:prstGeom prst="roundRect">
            <a:avLst>
              <a:gd name="adj" fmla="val 22222"/>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85" name="Picture 84" descr="layers_w.png"/>
          <p:cNvPicPr>
            <a:picLocks noChangeAspect="1"/>
          </p:cNvPicPr>
          <p:nvPr/>
        </p:nvPicPr>
        <p:blipFill>
          <a:blip r:embed="rId82"/>
          <a:stretch>
            <a:fillRect/>
          </a:stretch>
        </p:blipFill>
        <p:spPr>
          <a:xfrm>
            <a:off x="2231136" y="6144768"/>
            <a:ext cx="246888" cy="246888"/>
          </a:xfrm>
          <a:prstGeom prst="rect">
            <a:avLst/>
          </a:prstGeom>
        </p:spPr>
      </p:pic>
      <p:sp>
        <p:nvSpPr>
          <p:cNvPr id="86" name="TextBox 85"/>
          <p:cNvSpPr txBox="1"/>
          <p:nvPr/>
        </p:nvSpPr>
        <p:spPr>
          <a:xfrm>
            <a:off x="1691640" y="6510528"/>
            <a:ext cx="1325880" cy="274320"/>
          </a:xfrm>
          <a:prstGeom prst="rect">
            <a:avLst/>
          </a:prstGeom>
          <a:noFill/>
        </p:spPr>
        <p:txBody>
          <a:bodyPr wrap="square" lIns="0" rIns="0" tIns="0" bIns="0" anchor="t">
            <a:noAutofit/>
          </a:bodyPr>
          <a:lstStyle/>
          <a:p>
            <a:pPr algn="ctr"/>
            <a:r>
              <a:rPr sz="1400" b="1" i="0">
                <a:solidFill>
                  <a:srgbClr val="0B0D11"/>
                </a:solidFill>
                <a:latin typeface="Segoe UI"/>
                <a:cs typeface="Segoe UI"/>
              </a:rPr>
              <a:t>36 inputs</a:t>
            </a:r>
          </a:p>
        </p:txBody>
      </p:sp>
      <p:sp>
        <p:nvSpPr>
          <p:cNvPr id="87" name="TextBox 86"/>
          <p:cNvSpPr txBox="1"/>
          <p:nvPr/>
        </p:nvSpPr>
        <p:spPr>
          <a:xfrm>
            <a:off x="1691640" y="6793992"/>
            <a:ext cx="1325880" cy="228600"/>
          </a:xfrm>
          <a:prstGeom prst="rect">
            <a:avLst/>
          </a:prstGeom>
          <a:noFill/>
        </p:spPr>
        <p:txBody>
          <a:bodyPr wrap="square" lIns="0" rIns="0" tIns="0" bIns="0" anchor="t">
            <a:noAutofit/>
          </a:bodyPr>
          <a:lstStyle/>
          <a:p>
            <a:pPr algn="ctr"/>
            <a:r>
              <a:rPr sz="950" b="0" i="0">
                <a:solidFill>
                  <a:srgbClr val="475569"/>
                </a:solidFill>
                <a:latin typeface="Segoe UI"/>
                <a:cs typeface="Segoe UI"/>
              </a:rPr>
              <a:t>rain · depth · terrain</a:t>
            </a:r>
          </a:p>
        </p:txBody>
      </p:sp>
      <p:sp>
        <p:nvSpPr>
          <p:cNvPr id="88" name="Rounded Rectangle 87"/>
          <p:cNvSpPr/>
          <p:nvPr/>
        </p:nvSpPr>
        <p:spPr>
          <a:xfrm>
            <a:off x="3108960" y="5989320"/>
            <a:ext cx="1325880" cy="1115568"/>
          </a:xfrm>
          <a:prstGeom prst="roundRect">
            <a:avLst>
              <a:gd name="adj" fmla="val 4918"/>
            </a:avLst>
          </a:prstGeom>
          <a:solidFill>
            <a:srgbClr val="FFFBEB"/>
          </a:solidFill>
          <a:ln w="12700">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Rounded Rectangle 88"/>
          <p:cNvSpPr/>
          <p:nvPr/>
        </p:nvSpPr>
        <p:spPr>
          <a:xfrm>
            <a:off x="3566160" y="6062472"/>
            <a:ext cx="411480" cy="411480"/>
          </a:xfrm>
          <a:prstGeom prst="roundRect">
            <a:avLst>
              <a:gd name="adj" fmla="val 22222"/>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0" name="Picture 89" descr="timer_w.png"/>
          <p:cNvPicPr>
            <a:picLocks noChangeAspect="1"/>
          </p:cNvPicPr>
          <p:nvPr/>
        </p:nvPicPr>
        <p:blipFill>
          <a:blip r:embed="rId83"/>
          <a:stretch>
            <a:fillRect/>
          </a:stretch>
        </p:blipFill>
        <p:spPr>
          <a:xfrm>
            <a:off x="3648456" y="6144768"/>
            <a:ext cx="246888" cy="246888"/>
          </a:xfrm>
          <a:prstGeom prst="rect">
            <a:avLst/>
          </a:prstGeom>
        </p:spPr>
      </p:pic>
      <p:sp>
        <p:nvSpPr>
          <p:cNvPr id="91" name="TextBox 90"/>
          <p:cNvSpPr txBox="1"/>
          <p:nvPr/>
        </p:nvSpPr>
        <p:spPr>
          <a:xfrm>
            <a:off x="3108960" y="6510528"/>
            <a:ext cx="1325880" cy="274320"/>
          </a:xfrm>
          <a:prstGeom prst="rect">
            <a:avLst/>
          </a:prstGeom>
          <a:noFill/>
        </p:spPr>
        <p:txBody>
          <a:bodyPr wrap="square" lIns="0" rIns="0" tIns="0" bIns="0" anchor="t">
            <a:noAutofit/>
          </a:bodyPr>
          <a:lstStyle/>
          <a:p>
            <a:pPr algn="ctr"/>
            <a:r>
              <a:rPr sz="1400" b="1" i="0">
                <a:solidFill>
                  <a:srgbClr val="0B0D11"/>
                </a:solidFill>
                <a:latin typeface="Segoe UI"/>
                <a:cs typeface="Segoe UI"/>
              </a:rPr>
              <a:t>14 leads</a:t>
            </a:r>
          </a:p>
        </p:txBody>
      </p:sp>
      <p:sp>
        <p:nvSpPr>
          <p:cNvPr id="92" name="TextBox 91"/>
          <p:cNvSpPr txBox="1"/>
          <p:nvPr/>
        </p:nvSpPr>
        <p:spPr>
          <a:xfrm>
            <a:off x="3108960" y="6793992"/>
            <a:ext cx="1325880" cy="228600"/>
          </a:xfrm>
          <a:prstGeom prst="rect">
            <a:avLst/>
          </a:prstGeom>
          <a:noFill/>
        </p:spPr>
        <p:txBody>
          <a:bodyPr wrap="square" lIns="0" rIns="0" tIns="0" bIns="0" anchor="t">
            <a:noAutofit/>
          </a:bodyPr>
          <a:lstStyle/>
          <a:p>
            <a:pPr algn="ctr"/>
            <a:r>
              <a:rPr sz="950" b="0" i="0">
                <a:solidFill>
                  <a:srgbClr val="475569"/>
                </a:solidFill>
                <a:latin typeface="Segoe UI"/>
                <a:cs typeface="Segoe UI"/>
              </a:rPr>
              <a:t>5 → 180 min</a:t>
            </a:r>
          </a:p>
        </p:txBody>
      </p:sp>
      <p:sp>
        <p:nvSpPr>
          <p:cNvPr id="93" name="Rounded Rectangle 92"/>
          <p:cNvSpPr/>
          <p:nvPr/>
        </p:nvSpPr>
        <p:spPr>
          <a:xfrm>
            <a:off x="4526280" y="5989320"/>
            <a:ext cx="1325880" cy="1115568"/>
          </a:xfrm>
          <a:prstGeom prst="roundRect">
            <a:avLst>
              <a:gd name="adj" fmla="val 4918"/>
            </a:avLst>
          </a:prstGeom>
          <a:solidFill>
            <a:srgbClr val="ECFDF5"/>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Rounded Rectangle 93"/>
          <p:cNvSpPr/>
          <p:nvPr/>
        </p:nvSpPr>
        <p:spPr>
          <a:xfrm>
            <a:off x="4983480" y="6062472"/>
            <a:ext cx="411480" cy="411480"/>
          </a:xfrm>
          <a:prstGeom prst="roundRect">
            <a:avLst>
              <a:gd name="adj" fmla="val 22222"/>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5" name="Picture 94" descr="zap_w.png"/>
          <p:cNvPicPr>
            <a:picLocks noChangeAspect="1"/>
          </p:cNvPicPr>
          <p:nvPr/>
        </p:nvPicPr>
        <p:blipFill>
          <a:blip r:embed="rId84"/>
          <a:stretch>
            <a:fillRect/>
          </a:stretch>
        </p:blipFill>
        <p:spPr>
          <a:xfrm>
            <a:off x="5065776" y="6144768"/>
            <a:ext cx="246888" cy="246888"/>
          </a:xfrm>
          <a:prstGeom prst="rect">
            <a:avLst/>
          </a:prstGeom>
        </p:spPr>
      </p:pic>
      <p:sp>
        <p:nvSpPr>
          <p:cNvPr id="96" name="TextBox 95"/>
          <p:cNvSpPr txBox="1"/>
          <p:nvPr/>
        </p:nvSpPr>
        <p:spPr>
          <a:xfrm>
            <a:off x="4526280" y="6510528"/>
            <a:ext cx="1325880" cy="274320"/>
          </a:xfrm>
          <a:prstGeom prst="rect">
            <a:avLst/>
          </a:prstGeom>
          <a:noFill/>
        </p:spPr>
        <p:txBody>
          <a:bodyPr wrap="square" lIns="0" rIns="0" tIns="0" bIns="0" anchor="t">
            <a:noAutofit/>
          </a:bodyPr>
          <a:lstStyle/>
          <a:p>
            <a:pPr algn="ctr"/>
            <a:r>
              <a:rPr sz="1400" b="1" i="0">
                <a:solidFill>
                  <a:srgbClr val="0B0D11"/>
                </a:solidFill>
                <a:latin typeface="Segoe UI"/>
                <a:cs typeface="Segoe UI"/>
              </a:rPr>
              <a:t>0.2 s</a:t>
            </a:r>
          </a:p>
        </p:txBody>
      </p:sp>
      <p:sp>
        <p:nvSpPr>
          <p:cNvPr id="97" name="TextBox 96"/>
          <p:cNvSpPr txBox="1"/>
          <p:nvPr/>
        </p:nvSpPr>
        <p:spPr>
          <a:xfrm>
            <a:off x="4526280" y="6793992"/>
            <a:ext cx="1325880" cy="228600"/>
          </a:xfrm>
          <a:prstGeom prst="rect">
            <a:avLst/>
          </a:prstGeom>
          <a:noFill/>
        </p:spPr>
        <p:txBody>
          <a:bodyPr wrap="square" lIns="0" rIns="0" tIns="0" bIns="0" anchor="t">
            <a:noAutofit/>
          </a:bodyPr>
          <a:lstStyle/>
          <a:p>
            <a:pPr algn="ctr"/>
            <a:r>
              <a:rPr sz="950" b="0" i="0">
                <a:solidFill>
                  <a:srgbClr val="475569"/>
                </a:solidFill>
                <a:latin typeface="Segoe UI"/>
                <a:cs typeface="Segoe UI"/>
              </a:rPr>
              <a:t>ONNX · 1 MB</a:t>
            </a:r>
          </a:p>
        </p:txBody>
      </p:sp>
      <p:sp>
        <p:nvSpPr>
          <p:cNvPr id="98" name="Rounded Rectangle 97"/>
          <p:cNvSpPr/>
          <p:nvPr/>
        </p:nvSpPr>
        <p:spPr>
          <a:xfrm>
            <a:off x="274320" y="7223760"/>
            <a:ext cx="1325880" cy="658368"/>
          </a:xfrm>
          <a:prstGeom prst="roundRect">
            <a:avLst>
              <a:gd name="adj" fmla="val 8333"/>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Oval 98"/>
          <p:cNvSpPr/>
          <p:nvPr/>
        </p:nvSpPr>
        <p:spPr>
          <a:xfrm>
            <a:off x="365760" y="7306056"/>
            <a:ext cx="219456" cy="219456"/>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a:solidFill>
                  <a:srgbClr val="FFFFFF"/>
                </a:solidFill>
                <a:latin typeface="Segoe UI"/>
                <a:cs typeface="Segoe UI"/>
              </a:rPr>
              <a:t>1</a:t>
            </a:r>
          </a:p>
        </p:txBody>
      </p:sp>
      <p:sp>
        <p:nvSpPr>
          <p:cNvPr id="100" name="TextBox 99"/>
          <p:cNvSpPr txBox="1"/>
          <p:nvPr/>
        </p:nvSpPr>
        <p:spPr>
          <a:xfrm>
            <a:off x="621792" y="7223760"/>
            <a:ext cx="960120" cy="658368"/>
          </a:xfrm>
          <a:prstGeom prst="rect">
            <a:avLst/>
          </a:prstGeom>
          <a:noFill/>
        </p:spPr>
        <p:txBody>
          <a:bodyPr wrap="square" lIns="0" rIns="0" tIns="0" bIns="0" anchor="ctr">
            <a:noAutofit/>
          </a:bodyPr>
          <a:lstStyle/>
          <a:p>
            <a:pPr algn="l">
              <a:lnSpc>
                <a:spcPct val="95000"/>
              </a:lnSpc>
            </a:pPr>
            <a:r>
              <a:rPr sz="1050" b="1" i="0">
                <a:solidFill>
                  <a:srgbClr val="0B0D11"/>
                </a:solidFill>
                <a:latin typeface="Segoe UI"/>
                <a:cs typeface="Segoe UI"/>
              </a:rPr>
              <a:t>290 PHYSICS</a:t>
            </a:r>
          </a:p>
          <a:p>
            <a:pPr algn="l">
              <a:lnSpc>
                <a:spcPct val="95000"/>
              </a:lnSpc>
            </a:pPr>
            <a:r>
              <a:rPr sz="1050" b="1" i="0">
                <a:solidFill>
                  <a:srgbClr val="0B0D11"/>
                </a:solidFill>
                <a:latin typeface="Segoe UI"/>
                <a:cs typeface="Segoe UI"/>
              </a:rPr>
              <a:t>STORM RUNS</a:t>
            </a:r>
          </a:p>
        </p:txBody>
      </p:sp>
      <p:cxnSp>
        <p:nvCxnSpPr>
          <p:cNvPr id="101" name="Connector 100"/>
          <p:cNvCxnSpPr/>
          <p:nvPr/>
        </p:nvCxnSpPr>
        <p:spPr>
          <a:xfrm>
            <a:off x="1609344" y="7552944"/>
            <a:ext cx="73152" cy="0"/>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02" name="Rounded Rectangle 101"/>
          <p:cNvSpPr/>
          <p:nvPr/>
        </p:nvSpPr>
        <p:spPr>
          <a:xfrm>
            <a:off x="1691640" y="7223760"/>
            <a:ext cx="1325880" cy="658368"/>
          </a:xfrm>
          <a:prstGeom prst="roundRect">
            <a:avLst>
              <a:gd name="adj" fmla="val 8333"/>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3" name="Oval 102"/>
          <p:cNvSpPr/>
          <p:nvPr/>
        </p:nvSpPr>
        <p:spPr>
          <a:xfrm>
            <a:off x="1783080" y="7306056"/>
            <a:ext cx="219456" cy="219456"/>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a:solidFill>
                  <a:srgbClr val="FFFFFF"/>
                </a:solidFill>
                <a:latin typeface="Segoe UI"/>
                <a:cs typeface="Segoe UI"/>
              </a:rPr>
              <a:t>2</a:t>
            </a:r>
          </a:p>
        </p:txBody>
      </p:sp>
      <p:sp>
        <p:nvSpPr>
          <p:cNvPr id="104" name="TextBox 103"/>
          <p:cNvSpPr txBox="1"/>
          <p:nvPr/>
        </p:nvSpPr>
        <p:spPr>
          <a:xfrm>
            <a:off x="2039112" y="7223760"/>
            <a:ext cx="960120" cy="658368"/>
          </a:xfrm>
          <a:prstGeom prst="rect">
            <a:avLst/>
          </a:prstGeom>
          <a:noFill/>
        </p:spPr>
        <p:txBody>
          <a:bodyPr wrap="square" lIns="0" rIns="0" tIns="0" bIns="0" anchor="ctr">
            <a:noAutofit/>
          </a:bodyPr>
          <a:lstStyle/>
          <a:p>
            <a:pPr algn="l">
              <a:lnSpc>
                <a:spcPct val="95000"/>
              </a:lnSpc>
            </a:pPr>
            <a:r>
              <a:rPr sz="1050" b="1" i="0">
                <a:solidFill>
                  <a:srgbClr val="0B0D11"/>
                </a:solidFill>
                <a:latin typeface="Segoe UI"/>
                <a:cs typeface="Segoe UI"/>
              </a:rPr>
              <a:t>6,448</a:t>
            </a:r>
          </a:p>
          <a:p>
            <a:pPr algn="l">
              <a:lnSpc>
                <a:spcPct val="95000"/>
              </a:lnSpc>
            </a:pPr>
            <a:r>
              <a:rPr sz="1050" b="1" i="0">
                <a:solidFill>
                  <a:srgbClr val="0B0D11"/>
                </a:solidFill>
                <a:latin typeface="Segoe UI"/>
                <a:cs typeface="Segoe UI"/>
              </a:rPr>
              <a:t>WINDOWS</a:t>
            </a:r>
          </a:p>
        </p:txBody>
      </p:sp>
      <p:cxnSp>
        <p:nvCxnSpPr>
          <p:cNvPr id="105" name="Connector 104"/>
          <p:cNvCxnSpPr/>
          <p:nvPr/>
        </p:nvCxnSpPr>
        <p:spPr>
          <a:xfrm>
            <a:off x="3026664" y="7552944"/>
            <a:ext cx="73152" cy="0"/>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06" name="Rounded Rectangle 105"/>
          <p:cNvSpPr/>
          <p:nvPr/>
        </p:nvSpPr>
        <p:spPr>
          <a:xfrm>
            <a:off x="3108960" y="7223760"/>
            <a:ext cx="1325880" cy="658368"/>
          </a:xfrm>
          <a:prstGeom prst="roundRect">
            <a:avLst>
              <a:gd name="adj" fmla="val 8333"/>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7" name="Oval 106"/>
          <p:cNvSpPr/>
          <p:nvPr/>
        </p:nvSpPr>
        <p:spPr>
          <a:xfrm>
            <a:off x="3200400" y="7306056"/>
            <a:ext cx="219456" cy="219456"/>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a:solidFill>
                  <a:srgbClr val="FFFFFF"/>
                </a:solidFill>
                <a:latin typeface="Segoe UI"/>
                <a:cs typeface="Segoe UI"/>
              </a:rPr>
              <a:t>3</a:t>
            </a:r>
          </a:p>
        </p:txBody>
      </p:sp>
      <p:sp>
        <p:nvSpPr>
          <p:cNvPr id="108" name="TextBox 107"/>
          <p:cNvSpPr txBox="1"/>
          <p:nvPr/>
        </p:nvSpPr>
        <p:spPr>
          <a:xfrm>
            <a:off x="3456432" y="7223760"/>
            <a:ext cx="960120" cy="658368"/>
          </a:xfrm>
          <a:prstGeom prst="rect">
            <a:avLst/>
          </a:prstGeom>
          <a:noFill/>
        </p:spPr>
        <p:txBody>
          <a:bodyPr wrap="square" lIns="0" rIns="0" tIns="0" bIns="0" anchor="ctr">
            <a:noAutofit/>
          </a:bodyPr>
          <a:lstStyle/>
          <a:p>
            <a:pPr algn="l">
              <a:lnSpc>
                <a:spcPct val="95000"/>
              </a:lnSpc>
            </a:pPr>
            <a:r>
              <a:rPr sz="1050" b="1" i="0">
                <a:solidFill>
                  <a:srgbClr val="0B0D11"/>
                </a:solidFill>
                <a:latin typeface="Segoe UI"/>
                <a:cs typeface="Segoe UI"/>
              </a:rPr>
              <a:t>TRAIN</a:t>
            </a:r>
          </a:p>
          <a:p>
            <a:pPr algn="l">
              <a:lnSpc>
                <a:spcPct val="95000"/>
              </a:lnSpc>
            </a:pPr>
            <a:r>
              <a:rPr sz="1050" b="1" i="0">
                <a:solidFill>
                  <a:srgbClr val="0B0D11"/>
                </a:solidFill>
                <a:latin typeface="Segoe UI"/>
                <a:cs typeface="Segoe UI"/>
              </a:rPr>
              <a:t>12 EPOCHS</a:t>
            </a:r>
          </a:p>
        </p:txBody>
      </p:sp>
      <p:cxnSp>
        <p:nvCxnSpPr>
          <p:cNvPr id="109" name="Connector 108"/>
          <p:cNvCxnSpPr/>
          <p:nvPr/>
        </p:nvCxnSpPr>
        <p:spPr>
          <a:xfrm>
            <a:off x="4443983" y="7552944"/>
            <a:ext cx="73153" cy="0"/>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10" name="Rounded Rectangle 109"/>
          <p:cNvSpPr/>
          <p:nvPr/>
        </p:nvSpPr>
        <p:spPr>
          <a:xfrm>
            <a:off x="4526280" y="7223760"/>
            <a:ext cx="1325880" cy="658368"/>
          </a:xfrm>
          <a:prstGeom prst="roundRect">
            <a:avLst>
              <a:gd name="adj" fmla="val 8333"/>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1" name="Oval 110"/>
          <p:cNvSpPr/>
          <p:nvPr/>
        </p:nvSpPr>
        <p:spPr>
          <a:xfrm>
            <a:off x="4617720" y="7306056"/>
            <a:ext cx="219456" cy="219456"/>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a:solidFill>
                  <a:srgbClr val="FFFFFF"/>
                </a:solidFill>
                <a:latin typeface="Segoe UI"/>
                <a:cs typeface="Segoe UI"/>
              </a:rPr>
              <a:t>4</a:t>
            </a:r>
          </a:p>
        </p:txBody>
      </p:sp>
      <p:sp>
        <p:nvSpPr>
          <p:cNvPr id="112" name="TextBox 111"/>
          <p:cNvSpPr txBox="1"/>
          <p:nvPr/>
        </p:nvSpPr>
        <p:spPr>
          <a:xfrm>
            <a:off x="4873752" y="7223760"/>
            <a:ext cx="960120" cy="658368"/>
          </a:xfrm>
          <a:prstGeom prst="rect">
            <a:avLst/>
          </a:prstGeom>
          <a:noFill/>
        </p:spPr>
        <p:txBody>
          <a:bodyPr wrap="square" lIns="0" rIns="0" tIns="0" bIns="0" anchor="ctr">
            <a:noAutofit/>
          </a:bodyPr>
          <a:lstStyle/>
          <a:p>
            <a:pPr algn="l">
              <a:lnSpc>
                <a:spcPct val="95000"/>
              </a:lnSpc>
            </a:pPr>
            <a:r>
              <a:rPr sz="1050" b="1" i="0">
                <a:solidFill>
                  <a:srgbClr val="0B0D11"/>
                </a:solidFill>
                <a:latin typeface="Segoe UI"/>
                <a:cs typeface="Segoe UI"/>
              </a:rPr>
              <a:t>EXPORT</a:t>
            </a:r>
          </a:p>
          <a:p>
            <a:pPr algn="l">
              <a:lnSpc>
                <a:spcPct val="95000"/>
              </a:lnSpc>
            </a:pPr>
            <a:r>
              <a:rPr sz="1050" b="1" i="0">
                <a:solidFill>
                  <a:srgbClr val="0B0D11"/>
                </a:solidFill>
                <a:latin typeface="Segoe UI"/>
                <a:cs typeface="Segoe UI"/>
              </a:rPr>
              <a:t>TO ONNX</a:t>
            </a:r>
          </a:p>
        </p:txBody>
      </p:sp>
      <p:sp>
        <p:nvSpPr>
          <p:cNvPr id="113" name="Rounded Rectangle 112"/>
          <p:cNvSpPr/>
          <p:nvPr/>
        </p:nvSpPr>
        <p:spPr>
          <a:xfrm>
            <a:off x="274320" y="8010144"/>
            <a:ext cx="1737360" cy="548640"/>
          </a:xfrm>
          <a:prstGeom prst="roundRect">
            <a:avLst>
              <a:gd name="adj" fmla="val 10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4" name="Oval 113"/>
          <p:cNvSpPr/>
          <p:nvPr/>
        </p:nvSpPr>
        <p:spPr>
          <a:xfrm>
            <a:off x="365760" y="8174736"/>
            <a:ext cx="219456" cy="21945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a:solidFill>
                  <a:srgbClr val="FFFFFF"/>
                </a:solidFill>
                <a:latin typeface="Segoe UI"/>
                <a:cs typeface="Segoe UI"/>
              </a:rPr>
              <a:t>5</a:t>
            </a:r>
          </a:p>
        </p:txBody>
      </p:sp>
      <p:sp>
        <p:nvSpPr>
          <p:cNvPr id="115" name="TextBox 114"/>
          <p:cNvSpPr txBox="1"/>
          <p:nvPr/>
        </p:nvSpPr>
        <p:spPr>
          <a:xfrm>
            <a:off x="658368" y="8010144"/>
            <a:ext cx="1325880" cy="548640"/>
          </a:xfrm>
          <a:prstGeom prst="rect">
            <a:avLst/>
          </a:prstGeom>
          <a:noFill/>
        </p:spPr>
        <p:txBody>
          <a:bodyPr wrap="square" lIns="0" rIns="0" tIns="0" bIns="0" anchor="ctr">
            <a:noAutofit/>
          </a:bodyPr>
          <a:lstStyle/>
          <a:p>
            <a:pPr algn="l">
              <a:lnSpc>
                <a:spcPct val="95000"/>
              </a:lnSpc>
            </a:pPr>
            <a:r>
              <a:rPr sz="1050" b="1" i="0">
                <a:solidFill>
                  <a:srgbClr val="0B0D11"/>
                </a:solidFill>
                <a:latin typeface="Segoe UI"/>
                <a:cs typeface="Segoe UI"/>
              </a:rPr>
              <a:t>SCORE vs</a:t>
            </a:r>
          </a:p>
          <a:p>
            <a:pPr algn="l">
              <a:lnSpc>
                <a:spcPct val="95000"/>
              </a:lnSpc>
            </a:pPr>
            <a:r>
              <a:rPr sz="1050" b="1" i="0">
                <a:solidFill>
                  <a:srgbClr val="0B0D11"/>
                </a:solidFill>
                <a:latin typeface="Segoe UI"/>
                <a:cs typeface="Segoe UI"/>
              </a:rPr>
              <a:t>PERSISTENCE</a:t>
            </a:r>
          </a:p>
        </p:txBody>
      </p:sp>
      <p:cxnSp>
        <p:nvCxnSpPr>
          <p:cNvPr id="116" name="Connector 115"/>
          <p:cNvCxnSpPr/>
          <p:nvPr/>
        </p:nvCxnSpPr>
        <p:spPr>
          <a:xfrm>
            <a:off x="2029968" y="8284464"/>
            <a:ext cx="182880" cy="0"/>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17" name="Rounded Rectangle 116"/>
          <p:cNvSpPr/>
          <p:nvPr/>
        </p:nvSpPr>
        <p:spPr>
          <a:xfrm>
            <a:off x="2240280" y="8010144"/>
            <a:ext cx="3657600" cy="548640"/>
          </a:xfrm>
          <a:prstGeom prst="roundRect">
            <a:avLst>
              <a:gd name="adj" fmla="val 10000"/>
            </a:avLst>
          </a:prstGeom>
          <a:solidFill>
            <a:srgbClr val="ECFDF5"/>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8" name="TextBox 117"/>
          <p:cNvSpPr txBox="1"/>
          <p:nvPr/>
        </p:nvSpPr>
        <p:spPr>
          <a:xfrm>
            <a:off x="2240280" y="8010144"/>
            <a:ext cx="3657600" cy="548640"/>
          </a:xfrm>
          <a:prstGeom prst="rect">
            <a:avLst/>
          </a:prstGeom>
          <a:noFill/>
        </p:spPr>
        <p:txBody>
          <a:bodyPr wrap="square" lIns="0" rIns="0" tIns="0" bIns="0" anchor="ctr">
            <a:noAutofit/>
          </a:bodyPr>
          <a:lstStyle/>
          <a:p>
            <a:pPr algn="ctr"/>
            <a:r>
              <a:rPr sz="1500" b="1" i="0">
                <a:solidFill>
                  <a:srgbClr val="059669"/>
                </a:solidFill>
                <a:latin typeface="Segoe UI"/>
                <a:cs typeface="Segoe UI"/>
              </a:rPr>
              <a:t>CSI 0.79</a:t>
            </a:r>
            <a:r>
              <a:rPr sz="1150" b="1" i="0">
                <a:solidFill>
                  <a:srgbClr val="0B0D11"/>
                </a:solidFill>
                <a:latin typeface="Segoe UI"/>
                <a:cs typeface="Segoe UI"/>
              </a:rPr>
              <a:t>  vs 0.24 persistence at +180 min</a:t>
            </a:r>
          </a:p>
        </p:txBody>
      </p:sp>
      <p:sp>
        <p:nvSpPr>
          <p:cNvPr id="119" name="Rounded Rectangle 118"/>
          <p:cNvSpPr/>
          <p:nvPr/>
        </p:nvSpPr>
        <p:spPr>
          <a:xfrm>
            <a:off x="155448" y="8887968"/>
            <a:ext cx="5166360" cy="1078992"/>
          </a:xfrm>
          <a:prstGeom prst="roundRect">
            <a:avLst>
              <a:gd name="adj" fmla="val 8474"/>
            </a:avLst>
          </a:prstGeom>
          <a:solidFill>
            <a:srgbClr val="FFFFFF"/>
          </a:solidFill>
          <a:ln w="12700">
            <a:solidFill>
              <a:srgbClr val="E6EB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0" name="Rounded Rectangle 119"/>
          <p:cNvSpPr/>
          <p:nvPr/>
        </p:nvSpPr>
        <p:spPr>
          <a:xfrm>
            <a:off x="246888" y="9052560"/>
            <a:ext cx="1609344" cy="859536"/>
          </a:xfrm>
          <a:prstGeom prst="roundRect">
            <a:avLst>
              <a:gd name="adj" fmla="val 6382"/>
            </a:avLst>
          </a:prstGeom>
          <a:solidFill>
            <a:srgbClr val="FEF2F2"/>
          </a:solidFill>
          <a:ln w="12700">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1" name="Rounded Rectangle 120"/>
          <p:cNvSpPr/>
          <p:nvPr/>
        </p:nvSpPr>
        <p:spPr>
          <a:xfrm>
            <a:off x="850392" y="9098280"/>
            <a:ext cx="384048" cy="384048"/>
          </a:xfrm>
          <a:prstGeom prst="roundRect">
            <a:avLst>
              <a:gd name="adj" fmla="val 23809"/>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2" name="Picture 121" descr="flag_w.png"/>
          <p:cNvPicPr>
            <a:picLocks noChangeAspect="1"/>
          </p:cNvPicPr>
          <p:nvPr/>
        </p:nvPicPr>
        <p:blipFill>
          <a:blip r:embed="rId85"/>
          <a:stretch>
            <a:fillRect/>
          </a:stretch>
        </p:blipFill>
        <p:spPr>
          <a:xfrm>
            <a:off x="927201" y="9175089"/>
            <a:ext cx="230428" cy="230428"/>
          </a:xfrm>
          <a:prstGeom prst="rect">
            <a:avLst/>
          </a:prstGeom>
        </p:spPr>
      </p:pic>
      <p:sp>
        <p:nvSpPr>
          <p:cNvPr id="123" name="TextBox 122"/>
          <p:cNvSpPr txBox="1"/>
          <p:nvPr/>
        </p:nvSpPr>
        <p:spPr>
          <a:xfrm>
            <a:off x="246888" y="9491472"/>
            <a:ext cx="1609344" cy="411480"/>
          </a:xfrm>
          <a:prstGeom prst="rect">
            <a:avLst/>
          </a:prstGeom>
          <a:noFill/>
        </p:spPr>
        <p:txBody>
          <a:bodyPr wrap="square" lIns="0" rIns="0" tIns="0" bIns="0" anchor="t">
            <a:noAutofit/>
          </a:bodyPr>
          <a:lstStyle/>
          <a:p>
            <a:pPr algn="ctr">
              <a:lnSpc>
                <a:spcPct val="95000"/>
              </a:lnSpc>
            </a:pPr>
            <a:r>
              <a:rPr sz="1000" b="1" i="0">
                <a:solidFill>
                  <a:srgbClr val="0B0D11"/>
                </a:solidFill>
                <a:latin typeface="Segoe UI"/>
                <a:cs typeface="Segoe UI"/>
              </a:rPr>
              <a:t>SYNTHETIC DRAINS</a:t>
            </a:r>
          </a:p>
          <a:p>
            <a:pPr algn="ctr">
              <a:lnSpc>
                <a:spcPct val="95000"/>
              </a:lnSpc>
            </a:pPr>
            <a:r>
              <a:rPr sz="1000" b="1" i="0">
                <a:solidFill>
                  <a:srgbClr val="0B0D11"/>
                </a:solidFill>
                <a:latin typeface="Segoe UI"/>
                <a:cs typeface="Segoe UI"/>
              </a:rPr>
              <a:t>LABELLED</a:t>
            </a:r>
          </a:p>
        </p:txBody>
      </p:sp>
      <p:sp>
        <p:nvSpPr>
          <p:cNvPr id="124" name="Rounded Rectangle 123"/>
          <p:cNvSpPr/>
          <p:nvPr/>
        </p:nvSpPr>
        <p:spPr>
          <a:xfrm>
            <a:off x="1929384" y="9052560"/>
            <a:ext cx="1609344" cy="859536"/>
          </a:xfrm>
          <a:prstGeom prst="roundRect">
            <a:avLst>
              <a:gd name="adj" fmla="val 6382"/>
            </a:avLst>
          </a:prstGeom>
          <a:solidFill>
            <a:srgbClr val="FFFBEB"/>
          </a:solidFill>
          <a:ln w="12700">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5" name="Rounded Rectangle 124"/>
          <p:cNvSpPr/>
          <p:nvPr/>
        </p:nvSpPr>
        <p:spPr>
          <a:xfrm>
            <a:off x="2532888" y="9098280"/>
            <a:ext cx="384048" cy="384048"/>
          </a:xfrm>
          <a:prstGeom prst="roundRect">
            <a:avLst>
              <a:gd name="adj" fmla="val 23809"/>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6" name="Picture 125" descr="mountain_w.png"/>
          <p:cNvPicPr>
            <a:picLocks noChangeAspect="1"/>
          </p:cNvPicPr>
          <p:nvPr/>
        </p:nvPicPr>
        <p:blipFill>
          <a:blip r:embed="rId72"/>
          <a:stretch>
            <a:fillRect/>
          </a:stretch>
        </p:blipFill>
        <p:spPr>
          <a:xfrm>
            <a:off x="2609697" y="9175089"/>
            <a:ext cx="230428" cy="230428"/>
          </a:xfrm>
          <a:prstGeom prst="rect">
            <a:avLst/>
          </a:prstGeom>
        </p:spPr>
      </p:pic>
      <p:sp>
        <p:nvSpPr>
          <p:cNvPr id="127" name="TextBox 126"/>
          <p:cNvSpPr txBox="1"/>
          <p:nvPr/>
        </p:nvSpPr>
        <p:spPr>
          <a:xfrm>
            <a:off x="1929384" y="9491472"/>
            <a:ext cx="1609344" cy="411480"/>
          </a:xfrm>
          <a:prstGeom prst="rect">
            <a:avLst/>
          </a:prstGeom>
          <a:noFill/>
        </p:spPr>
        <p:txBody>
          <a:bodyPr wrap="square" lIns="0" rIns="0" tIns="0" bIns="0" anchor="t">
            <a:noAutofit/>
          </a:bodyPr>
          <a:lstStyle/>
          <a:p>
            <a:pPr algn="ctr">
              <a:lnSpc>
                <a:spcPct val="95000"/>
              </a:lnSpc>
            </a:pPr>
            <a:r>
              <a:rPr sz="1000" b="1" i="0">
                <a:solidFill>
                  <a:srgbClr val="0B0D11"/>
                </a:solidFill>
                <a:latin typeface="Segoe UI"/>
                <a:cs typeface="Segoe UI"/>
              </a:rPr>
              <a:t>30 m DEM TIER</a:t>
            </a:r>
          </a:p>
          <a:p>
            <a:pPr algn="ctr">
              <a:lnSpc>
                <a:spcPct val="95000"/>
              </a:lnSpc>
            </a:pPr>
            <a:r>
              <a:rPr sz="1000" b="1" i="0">
                <a:solidFill>
                  <a:srgbClr val="0B0D11"/>
                </a:solidFill>
                <a:latin typeface="Segoe UI"/>
                <a:cs typeface="Segoe UI"/>
              </a:rPr>
              <a:t>SHOWN IN UI</a:t>
            </a:r>
          </a:p>
        </p:txBody>
      </p:sp>
      <p:sp>
        <p:nvSpPr>
          <p:cNvPr id="128" name="Rounded Rectangle 127"/>
          <p:cNvSpPr/>
          <p:nvPr/>
        </p:nvSpPr>
        <p:spPr>
          <a:xfrm>
            <a:off x="3611880" y="9052560"/>
            <a:ext cx="1609344" cy="859536"/>
          </a:xfrm>
          <a:prstGeom prst="roundRect">
            <a:avLst>
              <a:gd name="adj" fmla="val 6382"/>
            </a:avLst>
          </a:prstGeom>
          <a:solidFill>
            <a:srgbClr val="ECFDF5"/>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9" name="Rounded Rectangle 128"/>
          <p:cNvSpPr/>
          <p:nvPr/>
        </p:nvSpPr>
        <p:spPr>
          <a:xfrm>
            <a:off x="4215384" y="9098280"/>
            <a:ext cx="384048" cy="384048"/>
          </a:xfrm>
          <a:prstGeom prst="roundRect">
            <a:avLst>
              <a:gd name="adj" fmla="val 23809"/>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0" name="Picture 129" descr="route_w.png"/>
          <p:cNvPicPr>
            <a:picLocks noChangeAspect="1"/>
          </p:cNvPicPr>
          <p:nvPr/>
        </p:nvPicPr>
        <p:blipFill>
          <a:blip r:embed="rId76"/>
          <a:stretch>
            <a:fillRect/>
          </a:stretch>
        </p:blipFill>
        <p:spPr>
          <a:xfrm>
            <a:off x="4292193" y="9175089"/>
            <a:ext cx="230428" cy="230428"/>
          </a:xfrm>
          <a:prstGeom prst="rect">
            <a:avLst/>
          </a:prstGeom>
        </p:spPr>
      </p:pic>
      <p:sp>
        <p:nvSpPr>
          <p:cNvPr id="131" name="TextBox 130"/>
          <p:cNvSpPr txBox="1"/>
          <p:nvPr/>
        </p:nvSpPr>
        <p:spPr>
          <a:xfrm>
            <a:off x="3611880" y="9491472"/>
            <a:ext cx="1609344" cy="411480"/>
          </a:xfrm>
          <a:prstGeom prst="rect">
            <a:avLst/>
          </a:prstGeom>
          <a:noFill/>
        </p:spPr>
        <p:txBody>
          <a:bodyPr wrap="square" lIns="0" rIns="0" tIns="0" bIns="0" anchor="t">
            <a:noAutofit/>
          </a:bodyPr>
          <a:lstStyle/>
          <a:p>
            <a:pPr algn="ctr">
              <a:lnSpc>
                <a:spcPct val="95000"/>
              </a:lnSpc>
            </a:pPr>
            <a:r>
              <a:rPr sz="1000" b="1" i="0">
                <a:solidFill>
                  <a:srgbClr val="0B0D11"/>
                </a:solidFill>
                <a:latin typeface="Segoe UI"/>
                <a:cs typeface="Segoe UI"/>
              </a:rPr>
              <a:t>NO ROUTE EVER</a:t>
            </a:r>
          </a:p>
          <a:p>
            <a:pPr algn="ctr">
              <a:lnSpc>
                <a:spcPct val="95000"/>
              </a:lnSpc>
            </a:pPr>
            <a:r>
              <a:rPr sz="1000" b="1" i="0">
                <a:solidFill>
                  <a:srgbClr val="0B0D11"/>
                </a:solidFill>
                <a:latin typeface="Segoe UI"/>
                <a:cs typeface="Segoe UI"/>
              </a:rPr>
              <a:t>CALLED 'SAFE'</a:t>
            </a:r>
          </a:p>
        </p:txBody>
      </p:sp>
      <p:sp>
        <p:nvSpPr>
          <p:cNvPr id="132" name="Rounded Rectangle 131"/>
          <p:cNvSpPr/>
          <p:nvPr/>
        </p:nvSpPr>
        <p:spPr>
          <a:xfrm>
            <a:off x="6144768" y="804672"/>
            <a:ext cx="6446520" cy="7973568"/>
          </a:xfrm>
          <a:prstGeom prst="roundRect">
            <a:avLst>
              <a:gd name="adj" fmla="val 1418"/>
            </a:avLst>
          </a:prstGeom>
          <a:solidFill>
            <a:srgbClr val="FFFFFF"/>
          </a:solidFill>
          <a:ln w="12700">
            <a:solidFill>
              <a:srgbClr val="E6EB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3" name="Rounded Rectangle 132"/>
          <p:cNvSpPr/>
          <p:nvPr/>
        </p:nvSpPr>
        <p:spPr>
          <a:xfrm>
            <a:off x="6236208" y="896112"/>
            <a:ext cx="219456" cy="7818120"/>
          </a:xfrm>
          <a:prstGeom prst="roundRect">
            <a:avLst>
              <a:gd name="adj" fmla="val 20833"/>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4" name="TextBox 133"/>
          <p:cNvSpPr txBox="1"/>
          <p:nvPr/>
        </p:nvSpPr>
        <p:spPr>
          <a:xfrm rot="16200000">
            <a:off x="2441448" y="4690872"/>
            <a:ext cx="7818120" cy="219456"/>
          </a:xfrm>
          <a:prstGeom prst="rect">
            <a:avLst/>
          </a:prstGeom>
          <a:noFill/>
        </p:spPr>
        <p:txBody>
          <a:bodyPr wrap="square" lIns="0" rIns="0" tIns="0" bIns="0" anchor="ctr">
            <a:noAutofit/>
          </a:bodyPr>
          <a:lstStyle/>
          <a:p>
            <a:pPr algn="ctr"/>
            <a:r>
              <a:rPr sz="1150" b="1" i="0" spc="250">
                <a:solidFill>
                  <a:srgbClr val="FFFFFF"/>
                </a:solidFill>
                <a:latin typeface="Segoe UI"/>
                <a:cs typeface="Segoe UI"/>
              </a:rPr>
              <a:t>PROVENANCE  ·  LOGGED ON EVERY STEP</a:t>
            </a:r>
          </a:p>
        </p:txBody>
      </p:sp>
      <p:sp>
        <p:nvSpPr>
          <p:cNvPr id="135" name="Rounded Rectangle 134"/>
          <p:cNvSpPr/>
          <p:nvPr/>
        </p:nvSpPr>
        <p:spPr>
          <a:xfrm>
            <a:off x="7818120" y="987552"/>
            <a:ext cx="3017520" cy="548640"/>
          </a:xfrm>
          <a:prstGeom prst="roundRect">
            <a:avLst>
              <a:gd name="adj" fmla="val 10000"/>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6" name="Rounded Rectangle 135"/>
          <p:cNvSpPr/>
          <p:nvPr/>
        </p:nvSpPr>
        <p:spPr>
          <a:xfrm>
            <a:off x="7909560" y="1060704"/>
            <a:ext cx="402336" cy="402336"/>
          </a:xfrm>
          <a:prstGeom prst="roundRect">
            <a:avLst>
              <a:gd name="adj" fmla="val 22727"/>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7" name="Picture 136" descr="rain_w.png"/>
          <p:cNvPicPr>
            <a:picLocks noChangeAspect="1"/>
          </p:cNvPicPr>
          <p:nvPr/>
        </p:nvPicPr>
        <p:blipFill>
          <a:blip r:embed="rId86"/>
          <a:stretch>
            <a:fillRect/>
          </a:stretch>
        </p:blipFill>
        <p:spPr>
          <a:xfrm>
            <a:off x="7990027" y="1141171"/>
            <a:ext cx="241401" cy="241401"/>
          </a:xfrm>
          <a:prstGeom prst="rect">
            <a:avLst/>
          </a:prstGeom>
        </p:spPr>
      </p:pic>
      <p:sp>
        <p:nvSpPr>
          <p:cNvPr id="138" name="TextBox 137"/>
          <p:cNvSpPr txBox="1"/>
          <p:nvPr/>
        </p:nvSpPr>
        <p:spPr>
          <a:xfrm>
            <a:off x="8421624" y="987552"/>
            <a:ext cx="2377439" cy="548640"/>
          </a:xfrm>
          <a:prstGeom prst="rect">
            <a:avLst/>
          </a:prstGeom>
          <a:noFill/>
        </p:spPr>
        <p:txBody>
          <a:bodyPr wrap="square" lIns="0" rIns="0" tIns="0" bIns="0" anchor="ctr">
            <a:noAutofit/>
          </a:bodyPr>
          <a:lstStyle/>
          <a:p>
            <a:pPr algn="l"/>
            <a:r>
              <a:rPr sz="1350" b="1" i="0">
                <a:solidFill>
                  <a:srgbClr val="0B0D11"/>
                </a:solidFill>
                <a:latin typeface="Segoe UI"/>
                <a:cs typeface="Segoe UI"/>
              </a:rPr>
              <a:t>RAIN OBSERVATIONS</a:t>
            </a:r>
          </a:p>
        </p:txBody>
      </p:sp>
      <p:cxnSp>
        <p:nvCxnSpPr>
          <p:cNvPr id="139" name="Connector 138"/>
          <p:cNvCxnSpPr/>
          <p:nvPr/>
        </p:nvCxnSpPr>
        <p:spPr>
          <a:xfrm>
            <a:off x="9326880" y="1563624"/>
            <a:ext cx="0" cy="164592"/>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40" name="Rounded Rectangle 139"/>
          <p:cNvSpPr/>
          <p:nvPr/>
        </p:nvSpPr>
        <p:spPr>
          <a:xfrm>
            <a:off x="7818120" y="1755648"/>
            <a:ext cx="3017520" cy="548640"/>
          </a:xfrm>
          <a:prstGeom prst="roundRect">
            <a:avLst>
              <a:gd name="adj" fmla="val 10000"/>
            </a:avLst>
          </a:prstGeom>
          <a:solidFill>
            <a:srgbClr val="FEF2F2"/>
          </a:solidFill>
          <a:ln w="12700">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1" name="Rounded Rectangle 140"/>
          <p:cNvSpPr/>
          <p:nvPr/>
        </p:nvSpPr>
        <p:spPr>
          <a:xfrm>
            <a:off x="7909560" y="1828800"/>
            <a:ext cx="402336" cy="402336"/>
          </a:xfrm>
          <a:prstGeom prst="roundRect">
            <a:avLst>
              <a:gd name="adj" fmla="val 22727"/>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42" name="Picture 141" descr="filter_w.png"/>
          <p:cNvPicPr>
            <a:picLocks noChangeAspect="1"/>
          </p:cNvPicPr>
          <p:nvPr/>
        </p:nvPicPr>
        <p:blipFill>
          <a:blip r:embed="rId87"/>
          <a:stretch>
            <a:fillRect/>
          </a:stretch>
        </p:blipFill>
        <p:spPr>
          <a:xfrm>
            <a:off x="7990027" y="1909267"/>
            <a:ext cx="241401" cy="241401"/>
          </a:xfrm>
          <a:prstGeom prst="rect">
            <a:avLst/>
          </a:prstGeom>
        </p:spPr>
      </p:pic>
      <p:sp>
        <p:nvSpPr>
          <p:cNvPr id="143" name="TextBox 142"/>
          <p:cNvSpPr txBox="1"/>
          <p:nvPr/>
        </p:nvSpPr>
        <p:spPr>
          <a:xfrm>
            <a:off x="8421624" y="1755648"/>
            <a:ext cx="2377439" cy="548640"/>
          </a:xfrm>
          <a:prstGeom prst="rect">
            <a:avLst/>
          </a:prstGeom>
          <a:noFill/>
        </p:spPr>
        <p:txBody>
          <a:bodyPr wrap="square" lIns="0" rIns="0" tIns="0" bIns="0" anchor="ctr">
            <a:noAutofit/>
          </a:bodyPr>
          <a:lstStyle/>
          <a:p>
            <a:pPr algn="l"/>
            <a:r>
              <a:rPr sz="1350" b="1" i="0">
                <a:solidFill>
                  <a:srgbClr val="0B0D11"/>
                </a:solidFill>
                <a:latin typeface="Segoe UI"/>
                <a:cs typeface="Segoe UI"/>
              </a:rPr>
              <a:t>QUALITY CHECK</a:t>
            </a:r>
          </a:p>
        </p:txBody>
      </p:sp>
      <p:cxnSp>
        <p:nvCxnSpPr>
          <p:cNvPr id="144" name="Connector 143"/>
          <p:cNvCxnSpPr/>
          <p:nvPr/>
        </p:nvCxnSpPr>
        <p:spPr>
          <a:xfrm>
            <a:off x="9326880" y="2331720"/>
            <a:ext cx="0" cy="164592"/>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45" name="Rounded Rectangle 144"/>
          <p:cNvSpPr/>
          <p:nvPr/>
        </p:nvSpPr>
        <p:spPr>
          <a:xfrm>
            <a:off x="11045952" y="1810512"/>
            <a:ext cx="1444752" cy="438912"/>
          </a:xfrm>
          <a:prstGeom prst="roundRect">
            <a:avLst>
              <a:gd name="adj" fmla="val 125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6" name="TextBox 145"/>
          <p:cNvSpPr txBox="1"/>
          <p:nvPr/>
        </p:nvSpPr>
        <p:spPr>
          <a:xfrm>
            <a:off x="11045952" y="1810512"/>
            <a:ext cx="1444752" cy="438912"/>
          </a:xfrm>
          <a:prstGeom prst="rect">
            <a:avLst/>
          </a:prstGeom>
          <a:noFill/>
        </p:spPr>
        <p:txBody>
          <a:bodyPr wrap="square" lIns="0" rIns="0" tIns="0" bIns="0" anchor="ctr">
            <a:noAutofit/>
          </a:bodyPr>
          <a:lstStyle/>
          <a:p>
            <a:pPr algn="ctr">
              <a:lnSpc>
                <a:spcPct val="92000"/>
              </a:lnSpc>
            </a:pPr>
            <a:r>
              <a:rPr sz="1050" b="1" i="0">
                <a:solidFill>
                  <a:srgbClr val="0B0D11"/>
                </a:solidFill>
                <a:latin typeface="Segoe UI"/>
                <a:cs typeface="Segoe UI"/>
              </a:rPr>
              <a:t>FAULT → REJECTED</a:t>
            </a:r>
          </a:p>
        </p:txBody>
      </p:sp>
      <p:cxnSp>
        <p:nvCxnSpPr>
          <p:cNvPr id="147" name="Connector 146"/>
          <p:cNvCxnSpPr/>
          <p:nvPr/>
        </p:nvCxnSpPr>
        <p:spPr>
          <a:xfrm>
            <a:off x="10853928" y="2029967"/>
            <a:ext cx="173736" cy="0"/>
          </a:xfrm>
          <a:prstGeom prst="line">
            <a:avLst/>
          </a:prstGeom>
          <a:ln w="15875">
            <a:solidFill>
              <a:srgbClr val="DC2626"/>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48" name="Rounded Rectangle 147"/>
          <p:cNvSpPr/>
          <p:nvPr/>
        </p:nvSpPr>
        <p:spPr>
          <a:xfrm>
            <a:off x="7818120" y="2523744"/>
            <a:ext cx="3017520" cy="548640"/>
          </a:xfrm>
          <a:prstGeom prst="roundRect">
            <a:avLst>
              <a:gd name="adj" fmla="val 50000"/>
            </a:avLst>
          </a:prstGeom>
          <a:solidFill>
            <a:srgbClr val="FFFBEB"/>
          </a:solidFill>
          <a:ln w="15875">
            <a:solidFill>
              <a:srgbClr val="E8B8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49" name="Picture 148" descr="radar_a.png"/>
          <p:cNvPicPr>
            <a:picLocks noChangeAspect="1"/>
          </p:cNvPicPr>
          <p:nvPr/>
        </p:nvPicPr>
        <p:blipFill>
          <a:blip r:embed="rId88"/>
          <a:stretch>
            <a:fillRect/>
          </a:stretch>
        </p:blipFill>
        <p:spPr>
          <a:xfrm>
            <a:off x="8138160" y="2660903"/>
            <a:ext cx="274320" cy="274320"/>
          </a:xfrm>
          <a:prstGeom prst="rect">
            <a:avLst/>
          </a:prstGeom>
        </p:spPr>
      </p:pic>
      <p:sp>
        <p:nvSpPr>
          <p:cNvPr id="150" name="TextBox 149"/>
          <p:cNvSpPr txBox="1"/>
          <p:nvPr/>
        </p:nvSpPr>
        <p:spPr>
          <a:xfrm>
            <a:off x="8503920" y="2523744"/>
            <a:ext cx="2286000" cy="548640"/>
          </a:xfrm>
          <a:prstGeom prst="rect">
            <a:avLst/>
          </a:prstGeom>
          <a:noFill/>
        </p:spPr>
        <p:txBody>
          <a:bodyPr wrap="square" lIns="0" rIns="0" tIns="0" bIns="0" anchor="ctr">
            <a:noAutofit/>
          </a:bodyPr>
          <a:lstStyle/>
          <a:p>
            <a:pPr algn="l"/>
            <a:r>
              <a:rPr sz="1350" b="1" i="0">
                <a:solidFill>
                  <a:srgbClr val="B45309"/>
                </a:solidFill>
                <a:latin typeface="Segoe UI"/>
                <a:cs typeface="Segoe UI"/>
              </a:rPr>
              <a:t>RADAR USABLE?</a:t>
            </a:r>
          </a:p>
        </p:txBody>
      </p:sp>
      <p:cxnSp>
        <p:nvCxnSpPr>
          <p:cNvPr id="151" name="Connector 150"/>
          <p:cNvCxnSpPr/>
          <p:nvPr/>
        </p:nvCxnSpPr>
        <p:spPr>
          <a:xfrm>
            <a:off x="9326880" y="3099815"/>
            <a:ext cx="0" cy="164593"/>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52" name="Rounded Rectangle 151"/>
          <p:cNvSpPr/>
          <p:nvPr/>
        </p:nvSpPr>
        <p:spPr>
          <a:xfrm>
            <a:off x="6629400" y="2551175"/>
            <a:ext cx="1024128" cy="493776"/>
          </a:xfrm>
          <a:prstGeom prst="roundRect">
            <a:avLst>
              <a:gd name="adj" fmla="val 11111"/>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3" name="TextBox 152"/>
          <p:cNvSpPr txBox="1"/>
          <p:nvPr/>
        </p:nvSpPr>
        <p:spPr>
          <a:xfrm>
            <a:off x="6629400" y="2551175"/>
            <a:ext cx="1024128" cy="493776"/>
          </a:xfrm>
          <a:prstGeom prst="rect">
            <a:avLst/>
          </a:prstGeom>
          <a:noFill/>
        </p:spPr>
        <p:txBody>
          <a:bodyPr wrap="square" lIns="0" rIns="0" tIns="0" bIns="0" anchor="ctr">
            <a:noAutofit/>
          </a:bodyPr>
          <a:lstStyle/>
          <a:p>
            <a:pPr algn="ctr">
              <a:lnSpc>
                <a:spcPct val="90000"/>
              </a:lnSpc>
            </a:pPr>
            <a:r>
              <a:rPr sz="1000" b="1" i="0">
                <a:solidFill>
                  <a:srgbClr val="0B0D11"/>
                </a:solidFill>
                <a:latin typeface="Segoe UI"/>
                <a:cs typeface="Segoe UI"/>
              </a:rPr>
              <a:t>GAUGES ONLY</a:t>
            </a:r>
          </a:p>
          <a:p>
            <a:pPr algn="ctr">
              <a:lnSpc>
                <a:spcPct val="90000"/>
              </a:lnSpc>
            </a:pPr>
            <a:r>
              <a:rPr sz="1000" b="1" i="0">
                <a:solidFill>
                  <a:srgbClr val="0B0D11"/>
                </a:solidFill>
                <a:latin typeface="Segoe UI"/>
                <a:cs typeface="Segoe UI"/>
              </a:rPr>
              <a:t>= DEGRADED</a:t>
            </a:r>
          </a:p>
        </p:txBody>
      </p:sp>
      <p:cxnSp>
        <p:nvCxnSpPr>
          <p:cNvPr id="154" name="Connector 153"/>
          <p:cNvCxnSpPr/>
          <p:nvPr/>
        </p:nvCxnSpPr>
        <p:spPr>
          <a:xfrm flipH="1">
            <a:off x="7671816" y="2798063"/>
            <a:ext cx="128016" cy="0"/>
          </a:xfrm>
          <a:prstGeom prst="line">
            <a:avLst/>
          </a:prstGeom>
          <a:ln w="15875">
            <a:solidFill>
              <a:srgbClr val="D97706"/>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55" name="Rounded Rectangle 154"/>
          <p:cNvSpPr/>
          <p:nvPr/>
        </p:nvSpPr>
        <p:spPr>
          <a:xfrm>
            <a:off x="7818120" y="3291840"/>
            <a:ext cx="3017520" cy="548640"/>
          </a:xfrm>
          <a:prstGeom prst="roundRect">
            <a:avLst>
              <a:gd name="adj" fmla="val 10000"/>
            </a:avLst>
          </a:prstGeom>
          <a:solidFill>
            <a:srgbClr val="FFFBEB"/>
          </a:solidFill>
          <a:ln w="12700">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6" name="Rounded Rectangle 155"/>
          <p:cNvSpPr/>
          <p:nvPr/>
        </p:nvSpPr>
        <p:spPr>
          <a:xfrm>
            <a:off x="7909560" y="3364992"/>
            <a:ext cx="402336" cy="402336"/>
          </a:xfrm>
          <a:prstGeom prst="roundRect">
            <a:avLst>
              <a:gd name="adj" fmla="val 22727"/>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7" name="Picture 156" descr="dices_w.png"/>
          <p:cNvPicPr>
            <a:picLocks noChangeAspect="1"/>
          </p:cNvPicPr>
          <p:nvPr/>
        </p:nvPicPr>
        <p:blipFill>
          <a:blip r:embed="rId89"/>
          <a:stretch>
            <a:fillRect/>
          </a:stretch>
        </p:blipFill>
        <p:spPr>
          <a:xfrm>
            <a:off x="7990027" y="3445459"/>
            <a:ext cx="241401" cy="241401"/>
          </a:xfrm>
          <a:prstGeom prst="rect">
            <a:avLst/>
          </a:prstGeom>
        </p:spPr>
      </p:pic>
      <p:sp>
        <p:nvSpPr>
          <p:cNvPr id="158" name="TextBox 157"/>
          <p:cNvSpPr txBox="1"/>
          <p:nvPr/>
        </p:nvSpPr>
        <p:spPr>
          <a:xfrm>
            <a:off x="8421624" y="3291840"/>
            <a:ext cx="2377439" cy="548640"/>
          </a:xfrm>
          <a:prstGeom prst="rect">
            <a:avLst/>
          </a:prstGeom>
          <a:noFill/>
        </p:spPr>
        <p:txBody>
          <a:bodyPr wrap="square" lIns="0" rIns="0" tIns="0" bIns="0" anchor="ctr">
            <a:noAutofit/>
          </a:bodyPr>
          <a:lstStyle/>
          <a:p>
            <a:pPr algn="l"/>
            <a:r>
              <a:rPr sz="1350" b="1" i="0">
                <a:solidFill>
                  <a:srgbClr val="0B0D11"/>
                </a:solidFill>
                <a:latin typeface="Segoe UI"/>
                <a:cs typeface="Segoe UI"/>
              </a:rPr>
              <a:t>ENSEMBLE NOWCAST</a:t>
            </a:r>
          </a:p>
        </p:txBody>
      </p:sp>
      <p:cxnSp>
        <p:nvCxnSpPr>
          <p:cNvPr id="159" name="Connector 158"/>
          <p:cNvCxnSpPr/>
          <p:nvPr/>
        </p:nvCxnSpPr>
        <p:spPr>
          <a:xfrm>
            <a:off x="9326880" y="3867912"/>
            <a:ext cx="0" cy="164592"/>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60" name="Rounded Rectangle 159"/>
          <p:cNvSpPr/>
          <p:nvPr/>
        </p:nvSpPr>
        <p:spPr>
          <a:xfrm>
            <a:off x="11045952" y="3346704"/>
            <a:ext cx="1444752" cy="438912"/>
          </a:xfrm>
          <a:prstGeom prst="roundRect">
            <a:avLst>
              <a:gd name="adj" fmla="val 12500"/>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1" name="TextBox 160"/>
          <p:cNvSpPr txBox="1"/>
          <p:nvPr/>
        </p:nvSpPr>
        <p:spPr>
          <a:xfrm>
            <a:off x="11045952" y="3346704"/>
            <a:ext cx="1444752" cy="438912"/>
          </a:xfrm>
          <a:prstGeom prst="rect">
            <a:avLst/>
          </a:prstGeom>
          <a:noFill/>
        </p:spPr>
        <p:txBody>
          <a:bodyPr wrap="square" lIns="0" rIns="0" tIns="0" bIns="0" anchor="ctr">
            <a:noAutofit/>
          </a:bodyPr>
          <a:lstStyle/>
          <a:p>
            <a:pPr algn="ctr">
              <a:lnSpc>
                <a:spcPct val="92000"/>
              </a:lnSpc>
            </a:pPr>
            <a:r>
              <a:rPr sz="1050" b="1" i="0">
                <a:solidFill>
                  <a:srgbClr val="0B0D11"/>
                </a:solidFill>
                <a:latin typeface="Segoe UI"/>
                <a:cs typeface="Segoe UI"/>
              </a:rPr>
              <a:t>20 MEMBERS</a:t>
            </a:r>
          </a:p>
        </p:txBody>
      </p:sp>
      <p:cxnSp>
        <p:nvCxnSpPr>
          <p:cNvPr id="162" name="Connector 161"/>
          <p:cNvCxnSpPr/>
          <p:nvPr/>
        </p:nvCxnSpPr>
        <p:spPr>
          <a:xfrm>
            <a:off x="10853928" y="3566160"/>
            <a:ext cx="173736" cy="0"/>
          </a:xfrm>
          <a:prstGeom prst="line">
            <a:avLst/>
          </a:prstGeom>
          <a:ln w="15875">
            <a:solidFill>
              <a:srgbClr val="D97706"/>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63" name="Rounded Rectangle 162"/>
          <p:cNvSpPr/>
          <p:nvPr/>
        </p:nvSpPr>
        <p:spPr>
          <a:xfrm>
            <a:off x="7818120" y="4059935"/>
            <a:ext cx="3017520" cy="548640"/>
          </a:xfrm>
          <a:prstGeom prst="roundRect">
            <a:avLst>
              <a:gd name="adj" fmla="val 10000"/>
            </a:avLst>
          </a:prstGeom>
          <a:solidFill>
            <a:srgbClr val="F0FDFA"/>
          </a:solidFill>
          <a:ln w="1270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4" name="Rounded Rectangle 163"/>
          <p:cNvSpPr/>
          <p:nvPr/>
        </p:nvSpPr>
        <p:spPr>
          <a:xfrm>
            <a:off x="7909560" y="4133087"/>
            <a:ext cx="402336" cy="402336"/>
          </a:xfrm>
          <a:prstGeom prst="roundRect">
            <a:avLst>
              <a:gd name="adj" fmla="val 22727"/>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5" name="Picture 164" descr="waves_w.png"/>
          <p:cNvPicPr>
            <a:picLocks noChangeAspect="1"/>
          </p:cNvPicPr>
          <p:nvPr/>
        </p:nvPicPr>
        <p:blipFill>
          <a:blip r:embed="rId73"/>
          <a:stretch>
            <a:fillRect/>
          </a:stretch>
        </p:blipFill>
        <p:spPr>
          <a:xfrm>
            <a:off x="7990027" y="4213555"/>
            <a:ext cx="241401" cy="241401"/>
          </a:xfrm>
          <a:prstGeom prst="rect">
            <a:avLst/>
          </a:prstGeom>
        </p:spPr>
      </p:pic>
      <p:sp>
        <p:nvSpPr>
          <p:cNvPr id="166" name="TextBox 165"/>
          <p:cNvSpPr txBox="1"/>
          <p:nvPr/>
        </p:nvSpPr>
        <p:spPr>
          <a:xfrm>
            <a:off x="8421624" y="4059935"/>
            <a:ext cx="2377439" cy="548640"/>
          </a:xfrm>
          <a:prstGeom prst="rect">
            <a:avLst/>
          </a:prstGeom>
          <a:noFill/>
        </p:spPr>
        <p:txBody>
          <a:bodyPr wrap="square" lIns="0" rIns="0" tIns="0" bIns="0" anchor="ctr">
            <a:noAutofit/>
          </a:bodyPr>
          <a:lstStyle/>
          <a:p>
            <a:pPr algn="l"/>
            <a:r>
              <a:rPr sz="1350" b="1" i="0">
                <a:solidFill>
                  <a:srgbClr val="0B0D11"/>
                </a:solidFill>
                <a:latin typeface="Segoe UI"/>
                <a:cs typeface="Segoe UI"/>
              </a:rPr>
              <a:t>TWIN STATE AT t₀</a:t>
            </a:r>
          </a:p>
        </p:txBody>
      </p:sp>
      <p:cxnSp>
        <p:nvCxnSpPr>
          <p:cNvPr id="167" name="Connector 166"/>
          <p:cNvCxnSpPr/>
          <p:nvPr/>
        </p:nvCxnSpPr>
        <p:spPr>
          <a:xfrm>
            <a:off x="9326880" y="4636007"/>
            <a:ext cx="0" cy="164592"/>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68" name="Rounded Rectangle 167"/>
          <p:cNvSpPr/>
          <p:nvPr/>
        </p:nvSpPr>
        <p:spPr>
          <a:xfrm>
            <a:off x="7818120" y="4828032"/>
            <a:ext cx="3017520" cy="548640"/>
          </a:xfrm>
          <a:prstGeom prst="roundRect">
            <a:avLst>
              <a:gd name="adj" fmla="val 10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9" name="Rounded Rectangle 168"/>
          <p:cNvSpPr/>
          <p:nvPr/>
        </p:nvSpPr>
        <p:spPr>
          <a:xfrm>
            <a:off x="7909560" y="4901184"/>
            <a:ext cx="402336" cy="402336"/>
          </a:xfrm>
          <a:prstGeom prst="roundRect">
            <a:avLst>
              <a:gd name="adj" fmla="val 22727"/>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70" name="Picture 169" descr="brain_w.png"/>
          <p:cNvPicPr>
            <a:picLocks noChangeAspect="1"/>
          </p:cNvPicPr>
          <p:nvPr/>
        </p:nvPicPr>
        <p:blipFill>
          <a:blip r:embed="rId81"/>
          <a:stretch>
            <a:fillRect/>
          </a:stretch>
        </p:blipFill>
        <p:spPr>
          <a:xfrm>
            <a:off x="7990027" y="4981651"/>
            <a:ext cx="241401" cy="241401"/>
          </a:xfrm>
          <a:prstGeom prst="rect">
            <a:avLst/>
          </a:prstGeom>
        </p:spPr>
      </p:pic>
      <p:sp>
        <p:nvSpPr>
          <p:cNvPr id="171" name="TextBox 170"/>
          <p:cNvSpPr txBox="1"/>
          <p:nvPr/>
        </p:nvSpPr>
        <p:spPr>
          <a:xfrm>
            <a:off x="8421624" y="4828032"/>
            <a:ext cx="2377439" cy="548640"/>
          </a:xfrm>
          <a:prstGeom prst="rect">
            <a:avLst/>
          </a:prstGeom>
          <a:noFill/>
        </p:spPr>
        <p:txBody>
          <a:bodyPr wrap="square" lIns="0" rIns="0" tIns="0" bIns="0" anchor="ctr">
            <a:noAutofit/>
          </a:bodyPr>
          <a:lstStyle/>
          <a:p>
            <a:pPr algn="l"/>
            <a:r>
              <a:rPr sz="1350" b="1" i="0">
                <a:solidFill>
                  <a:srgbClr val="0B0D11"/>
                </a:solidFill>
                <a:latin typeface="Segoe UI"/>
                <a:cs typeface="Segoe UI"/>
              </a:rPr>
              <a:t>AI SURROGATE DEPTHS</a:t>
            </a:r>
          </a:p>
        </p:txBody>
      </p:sp>
      <p:cxnSp>
        <p:nvCxnSpPr>
          <p:cNvPr id="172" name="Connector 171"/>
          <p:cNvCxnSpPr/>
          <p:nvPr/>
        </p:nvCxnSpPr>
        <p:spPr>
          <a:xfrm>
            <a:off x="9326880" y="5404104"/>
            <a:ext cx="0" cy="164592"/>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73" name="Rounded Rectangle 172"/>
          <p:cNvSpPr/>
          <p:nvPr/>
        </p:nvSpPr>
        <p:spPr>
          <a:xfrm>
            <a:off x="7818120" y="5596128"/>
            <a:ext cx="3017520" cy="548640"/>
          </a:xfrm>
          <a:prstGeom prst="roundRect">
            <a:avLst>
              <a:gd name="adj" fmla="val 50000"/>
            </a:avLst>
          </a:prstGeom>
          <a:solidFill>
            <a:srgbClr val="FFFBEB"/>
          </a:solidFill>
          <a:ln w="15875">
            <a:solidFill>
              <a:srgbClr val="E8B8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74" name="Picture 173" descr="target_a.png"/>
          <p:cNvPicPr>
            <a:picLocks noChangeAspect="1"/>
          </p:cNvPicPr>
          <p:nvPr/>
        </p:nvPicPr>
        <p:blipFill>
          <a:blip r:embed="rId90"/>
          <a:stretch>
            <a:fillRect/>
          </a:stretch>
        </p:blipFill>
        <p:spPr>
          <a:xfrm>
            <a:off x="8138160" y="5733288"/>
            <a:ext cx="274320" cy="274320"/>
          </a:xfrm>
          <a:prstGeom prst="rect">
            <a:avLst/>
          </a:prstGeom>
        </p:spPr>
      </p:pic>
      <p:sp>
        <p:nvSpPr>
          <p:cNvPr id="175" name="TextBox 174"/>
          <p:cNvSpPr txBox="1"/>
          <p:nvPr/>
        </p:nvSpPr>
        <p:spPr>
          <a:xfrm>
            <a:off x="8503920" y="5596128"/>
            <a:ext cx="2286000" cy="548640"/>
          </a:xfrm>
          <a:prstGeom prst="rect">
            <a:avLst/>
          </a:prstGeom>
          <a:noFill/>
        </p:spPr>
        <p:txBody>
          <a:bodyPr wrap="square" lIns="0" rIns="0" tIns="0" bIns="0" anchor="ctr">
            <a:noAutofit/>
          </a:bodyPr>
          <a:lstStyle/>
          <a:p>
            <a:pPr algn="l"/>
            <a:r>
              <a:rPr sz="1350" b="1" i="0">
                <a:solidFill>
                  <a:srgbClr val="B45309"/>
                </a:solidFill>
                <a:latin typeface="Segoe UI"/>
                <a:cs typeface="Segoe UI"/>
              </a:rPr>
              <a:t>HOTSPOT RISK?</a:t>
            </a:r>
          </a:p>
        </p:txBody>
      </p:sp>
      <p:cxnSp>
        <p:nvCxnSpPr>
          <p:cNvPr id="176" name="Connector 175"/>
          <p:cNvCxnSpPr/>
          <p:nvPr/>
        </p:nvCxnSpPr>
        <p:spPr>
          <a:xfrm>
            <a:off x="9326880" y="6172200"/>
            <a:ext cx="0" cy="164592"/>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77" name="Rounded Rectangle 176"/>
          <p:cNvSpPr/>
          <p:nvPr/>
        </p:nvSpPr>
        <p:spPr>
          <a:xfrm>
            <a:off x="11045952" y="5650992"/>
            <a:ext cx="1444752" cy="438912"/>
          </a:xfrm>
          <a:prstGeom prst="roundRect">
            <a:avLst>
              <a:gd name="adj" fmla="val 12500"/>
            </a:avLst>
          </a:prstGeom>
          <a:solidFill>
            <a:srgbClr val="F5F3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8" name="TextBox 177"/>
          <p:cNvSpPr txBox="1"/>
          <p:nvPr/>
        </p:nvSpPr>
        <p:spPr>
          <a:xfrm>
            <a:off x="11045952" y="5650992"/>
            <a:ext cx="1444752" cy="438912"/>
          </a:xfrm>
          <a:prstGeom prst="rect">
            <a:avLst/>
          </a:prstGeom>
          <a:noFill/>
        </p:spPr>
        <p:txBody>
          <a:bodyPr wrap="square" lIns="0" rIns="0" tIns="0" bIns="0" anchor="ctr">
            <a:noAutofit/>
          </a:bodyPr>
          <a:lstStyle/>
          <a:p>
            <a:pPr algn="ctr">
              <a:lnSpc>
                <a:spcPct val="92000"/>
              </a:lnSpc>
            </a:pPr>
            <a:r>
              <a:rPr sz="1050" b="1" i="0">
                <a:solidFill>
                  <a:srgbClr val="0B0D11"/>
                </a:solidFill>
                <a:latin typeface="Segoe UI"/>
                <a:cs typeface="Segoe UI"/>
              </a:rPr>
              <a:t>FULL PHYSICS</a:t>
            </a:r>
          </a:p>
          <a:p>
            <a:pPr algn="ctr">
              <a:lnSpc>
                <a:spcPct val="92000"/>
              </a:lnSpc>
            </a:pPr>
            <a:r>
              <a:rPr sz="1050" b="1" i="0">
                <a:solidFill>
                  <a:srgbClr val="0B0D11"/>
                </a:solidFill>
                <a:latin typeface="Segoe UI"/>
                <a:cs typeface="Segoe UI"/>
              </a:rPr>
              <a:t>REFINE</a:t>
            </a:r>
          </a:p>
        </p:txBody>
      </p:sp>
      <p:cxnSp>
        <p:nvCxnSpPr>
          <p:cNvPr id="179" name="Connector 178"/>
          <p:cNvCxnSpPr/>
          <p:nvPr/>
        </p:nvCxnSpPr>
        <p:spPr>
          <a:xfrm>
            <a:off x="10853928" y="5870448"/>
            <a:ext cx="173736" cy="0"/>
          </a:xfrm>
          <a:prstGeom prst="line">
            <a:avLst/>
          </a:prstGeom>
          <a:ln w="15875">
            <a:solidFill>
              <a:srgbClr val="7C3AED"/>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80" name="Rounded Rectangle 179"/>
          <p:cNvSpPr/>
          <p:nvPr/>
        </p:nvSpPr>
        <p:spPr>
          <a:xfrm>
            <a:off x="7818120" y="6364224"/>
            <a:ext cx="3017520" cy="548640"/>
          </a:xfrm>
          <a:prstGeom prst="roundRect">
            <a:avLst>
              <a:gd name="adj" fmla="val 10000"/>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1" name="Rounded Rectangle 180"/>
          <p:cNvSpPr/>
          <p:nvPr/>
        </p:nvSpPr>
        <p:spPr>
          <a:xfrm>
            <a:off x="7909560" y="6437376"/>
            <a:ext cx="402336" cy="402336"/>
          </a:xfrm>
          <a:prstGeom prst="roundRect">
            <a:avLst>
              <a:gd name="adj" fmla="val 22727"/>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82" name="Picture 181" descr="layers3_w.png"/>
          <p:cNvPicPr>
            <a:picLocks noChangeAspect="1"/>
          </p:cNvPicPr>
          <p:nvPr/>
        </p:nvPicPr>
        <p:blipFill>
          <a:blip r:embed="rId91"/>
          <a:stretch>
            <a:fillRect/>
          </a:stretch>
        </p:blipFill>
        <p:spPr>
          <a:xfrm>
            <a:off x="7990027" y="6517843"/>
            <a:ext cx="241401" cy="241401"/>
          </a:xfrm>
          <a:prstGeom prst="rect">
            <a:avLst/>
          </a:prstGeom>
        </p:spPr>
      </p:pic>
      <p:sp>
        <p:nvSpPr>
          <p:cNvPr id="183" name="TextBox 182"/>
          <p:cNvSpPr txBox="1"/>
          <p:nvPr/>
        </p:nvSpPr>
        <p:spPr>
          <a:xfrm>
            <a:off x="8421624" y="6364224"/>
            <a:ext cx="2377439" cy="548640"/>
          </a:xfrm>
          <a:prstGeom prst="rect">
            <a:avLst/>
          </a:prstGeom>
          <a:noFill/>
        </p:spPr>
        <p:txBody>
          <a:bodyPr wrap="square" lIns="0" rIns="0" tIns="0" bIns="0" anchor="ctr">
            <a:noAutofit/>
          </a:bodyPr>
          <a:lstStyle/>
          <a:p>
            <a:pPr algn="l"/>
            <a:r>
              <a:rPr sz="1350" b="1" i="0">
                <a:solidFill>
                  <a:srgbClr val="0B0D11"/>
                </a:solidFill>
                <a:latin typeface="Segoe UI"/>
                <a:cs typeface="Segoe UI"/>
              </a:rPr>
              <a:t>PROBABILISTIC FORECAST</a:t>
            </a:r>
          </a:p>
        </p:txBody>
      </p:sp>
      <p:cxnSp>
        <p:nvCxnSpPr>
          <p:cNvPr id="184" name="Connector 183"/>
          <p:cNvCxnSpPr/>
          <p:nvPr/>
        </p:nvCxnSpPr>
        <p:spPr>
          <a:xfrm>
            <a:off x="9326880" y="6940296"/>
            <a:ext cx="0" cy="164592"/>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85" name="Rounded Rectangle 184"/>
          <p:cNvSpPr/>
          <p:nvPr/>
        </p:nvSpPr>
        <p:spPr>
          <a:xfrm>
            <a:off x="6629400" y="6391656"/>
            <a:ext cx="1024128" cy="493776"/>
          </a:xfrm>
          <a:prstGeom prst="roundRect">
            <a:avLst>
              <a:gd name="adj" fmla="val 11111"/>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6" name="TextBox 185"/>
          <p:cNvSpPr txBox="1"/>
          <p:nvPr/>
        </p:nvSpPr>
        <p:spPr>
          <a:xfrm>
            <a:off x="6629400" y="6391656"/>
            <a:ext cx="1024128" cy="493776"/>
          </a:xfrm>
          <a:prstGeom prst="rect">
            <a:avLst/>
          </a:prstGeom>
          <a:noFill/>
        </p:spPr>
        <p:txBody>
          <a:bodyPr wrap="square" lIns="0" rIns="0" tIns="0" bIns="0" anchor="ctr">
            <a:noAutofit/>
          </a:bodyPr>
          <a:lstStyle/>
          <a:p>
            <a:pPr algn="ctr">
              <a:lnSpc>
                <a:spcPct val="90000"/>
              </a:lnSpc>
            </a:pPr>
            <a:r>
              <a:rPr sz="1000" b="1" i="0">
                <a:solidFill>
                  <a:srgbClr val="0B0D11"/>
                </a:solidFill>
                <a:latin typeface="Segoe UI"/>
                <a:cs typeface="Segoe UI"/>
              </a:rPr>
              <a:t>P10 · P50</a:t>
            </a:r>
          </a:p>
          <a:p>
            <a:pPr algn="ctr">
              <a:lnSpc>
                <a:spcPct val="90000"/>
              </a:lnSpc>
            </a:pPr>
            <a:r>
              <a:rPr sz="1000" b="1" i="0">
                <a:solidFill>
                  <a:srgbClr val="0B0D11"/>
                </a:solidFill>
                <a:latin typeface="Segoe UI"/>
                <a:cs typeface="Segoe UI"/>
              </a:rPr>
              <a:t>· P90</a:t>
            </a:r>
          </a:p>
        </p:txBody>
      </p:sp>
      <p:cxnSp>
        <p:nvCxnSpPr>
          <p:cNvPr id="187" name="Connector 186"/>
          <p:cNvCxnSpPr/>
          <p:nvPr/>
        </p:nvCxnSpPr>
        <p:spPr>
          <a:xfrm flipH="1">
            <a:off x="7671816" y="6638544"/>
            <a:ext cx="128016" cy="0"/>
          </a:xfrm>
          <a:prstGeom prst="line">
            <a:avLst/>
          </a:prstGeom>
          <a:ln w="15875">
            <a:solidFill>
              <a:srgbClr val="2563EB"/>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88" name="Rounded Rectangle 187"/>
          <p:cNvSpPr/>
          <p:nvPr/>
        </p:nvSpPr>
        <p:spPr>
          <a:xfrm>
            <a:off x="7818120" y="7132320"/>
            <a:ext cx="3017520" cy="548640"/>
          </a:xfrm>
          <a:prstGeom prst="roundRect">
            <a:avLst>
              <a:gd name="adj" fmla="val 50000"/>
            </a:avLst>
          </a:prstGeom>
          <a:solidFill>
            <a:srgbClr val="FFFBEB"/>
          </a:solidFill>
          <a:ln w="15875">
            <a:solidFill>
              <a:srgbClr val="E8B8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89" name="Picture 188" descr="droplet_a.png"/>
          <p:cNvPicPr>
            <a:picLocks noChangeAspect="1"/>
          </p:cNvPicPr>
          <p:nvPr/>
        </p:nvPicPr>
        <p:blipFill>
          <a:blip r:embed="rId92"/>
          <a:stretch>
            <a:fillRect/>
          </a:stretch>
        </p:blipFill>
        <p:spPr>
          <a:xfrm>
            <a:off x="8138160" y="7269480"/>
            <a:ext cx="274320" cy="274320"/>
          </a:xfrm>
          <a:prstGeom prst="rect">
            <a:avLst/>
          </a:prstGeom>
        </p:spPr>
      </p:pic>
      <p:sp>
        <p:nvSpPr>
          <p:cNvPr id="190" name="TextBox 189"/>
          <p:cNvSpPr txBox="1"/>
          <p:nvPr/>
        </p:nvSpPr>
        <p:spPr>
          <a:xfrm>
            <a:off x="8503920" y="7132320"/>
            <a:ext cx="2286000" cy="548640"/>
          </a:xfrm>
          <a:prstGeom prst="rect">
            <a:avLst/>
          </a:prstGeom>
          <a:noFill/>
        </p:spPr>
        <p:txBody>
          <a:bodyPr wrap="square" lIns="0" rIns="0" tIns="0" bIns="0" anchor="ctr">
            <a:noAutofit/>
          </a:bodyPr>
          <a:lstStyle/>
          <a:p>
            <a:pPr algn="l"/>
            <a:r>
              <a:rPr sz="1350" b="1" i="0">
                <a:solidFill>
                  <a:srgbClr val="B45309"/>
                </a:solidFill>
                <a:latin typeface="Segoe UI"/>
                <a:cs typeface="Segoe UI"/>
              </a:rPr>
              <a:t>CROSSES 10 cm?</a:t>
            </a:r>
          </a:p>
        </p:txBody>
      </p:sp>
      <p:cxnSp>
        <p:nvCxnSpPr>
          <p:cNvPr id="191" name="Connector 190"/>
          <p:cNvCxnSpPr/>
          <p:nvPr/>
        </p:nvCxnSpPr>
        <p:spPr>
          <a:xfrm>
            <a:off x="9326880" y="7708392"/>
            <a:ext cx="0" cy="164592"/>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92" name="Rounded Rectangle 191"/>
          <p:cNvSpPr/>
          <p:nvPr/>
        </p:nvSpPr>
        <p:spPr>
          <a:xfrm>
            <a:off x="6629400" y="7159752"/>
            <a:ext cx="1024128" cy="493776"/>
          </a:xfrm>
          <a:prstGeom prst="roundRect">
            <a:avLst>
              <a:gd name="adj" fmla="val 11111"/>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3" name="TextBox 192"/>
          <p:cNvSpPr txBox="1"/>
          <p:nvPr/>
        </p:nvSpPr>
        <p:spPr>
          <a:xfrm>
            <a:off x="6629400" y="7159752"/>
            <a:ext cx="1024128" cy="493776"/>
          </a:xfrm>
          <a:prstGeom prst="rect">
            <a:avLst/>
          </a:prstGeom>
          <a:noFill/>
        </p:spPr>
        <p:txBody>
          <a:bodyPr wrap="square" lIns="0" rIns="0" tIns="0" bIns="0" anchor="ctr">
            <a:noAutofit/>
          </a:bodyPr>
          <a:lstStyle/>
          <a:p>
            <a:pPr algn="ctr">
              <a:lnSpc>
                <a:spcPct val="90000"/>
              </a:lnSpc>
            </a:pPr>
            <a:r>
              <a:rPr sz="1000" b="1" i="0">
                <a:solidFill>
                  <a:srgbClr val="0B0D11"/>
                </a:solidFill>
                <a:latin typeface="Segoe UI"/>
                <a:cs typeface="Segoe UI"/>
              </a:rPr>
              <a:t>EARLY</a:t>
            </a:r>
          </a:p>
          <a:p>
            <a:pPr algn="ctr">
              <a:lnSpc>
                <a:spcPct val="90000"/>
              </a:lnSpc>
            </a:pPr>
            <a:r>
              <a:rPr sz="1000" b="1" i="0">
                <a:solidFill>
                  <a:srgbClr val="0B0D11"/>
                </a:solidFill>
                <a:latin typeface="Segoe UI"/>
                <a:cs typeface="Segoe UI"/>
              </a:rPr>
              <a:t>WARNING</a:t>
            </a:r>
          </a:p>
        </p:txBody>
      </p:sp>
      <p:cxnSp>
        <p:nvCxnSpPr>
          <p:cNvPr id="194" name="Connector 193"/>
          <p:cNvCxnSpPr/>
          <p:nvPr/>
        </p:nvCxnSpPr>
        <p:spPr>
          <a:xfrm flipH="1">
            <a:off x="7671816" y="7406640"/>
            <a:ext cx="128016" cy="0"/>
          </a:xfrm>
          <a:prstGeom prst="line">
            <a:avLst/>
          </a:prstGeom>
          <a:ln w="15875">
            <a:solidFill>
              <a:srgbClr val="059669"/>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95" name="Rounded Rectangle 194"/>
          <p:cNvSpPr/>
          <p:nvPr/>
        </p:nvSpPr>
        <p:spPr>
          <a:xfrm>
            <a:off x="7818120" y="7900416"/>
            <a:ext cx="3017520" cy="548640"/>
          </a:xfrm>
          <a:prstGeom prst="roundRect">
            <a:avLst>
              <a:gd name="adj" fmla="val 10000"/>
            </a:avLst>
          </a:prstGeom>
          <a:solidFill>
            <a:srgbClr val="ECFDF5"/>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6" name="Rounded Rectangle 195"/>
          <p:cNvSpPr/>
          <p:nvPr/>
        </p:nvSpPr>
        <p:spPr>
          <a:xfrm>
            <a:off x="7909560" y="7973568"/>
            <a:ext cx="402336" cy="402336"/>
          </a:xfrm>
          <a:prstGeom prst="roundRect">
            <a:avLst>
              <a:gd name="adj" fmla="val 22727"/>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97" name="Picture 196" descr="megaphone_w.png"/>
          <p:cNvPicPr>
            <a:picLocks noChangeAspect="1"/>
          </p:cNvPicPr>
          <p:nvPr/>
        </p:nvPicPr>
        <p:blipFill>
          <a:blip r:embed="rId93"/>
          <a:stretch>
            <a:fillRect/>
          </a:stretch>
        </p:blipFill>
        <p:spPr>
          <a:xfrm>
            <a:off x="7990027" y="8054035"/>
            <a:ext cx="241401" cy="241401"/>
          </a:xfrm>
          <a:prstGeom prst="rect">
            <a:avLst/>
          </a:prstGeom>
        </p:spPr>
      </p:pic>
      <p:sp>
        <p:nvSpPr>
          <p:cNvPr id="198" name="TextBox 197"/>
          <p:cNvSpPr txBox="1"/>
          <p:nvPr/>
        </p:nvSpPr>
        <p:spPr>
          <a:xfrm>
            <a:off x="8421624" y="7900416"/>
            <a:ext cx="2377439" cy="548640"/>
          </a:xfrm>
          <a:prstGeom prst="rect">
            <a:avLst/>
          </a:prstGeom>
          <a:noFill/>
        </p:spPr>
        <p:txBody>
          <a:bodyPr wrap="square" lIns="0" rIns="0" tIns="0" bIns="0" anchor="ctr">
            <a:noAutofit/>
          </a:bodyPr>
          <a:lstStyle/>
          <a:p>
            <a:pPr algn="l"/>
            <a:r>
              <a:rPr sz="1350" b="1" i="0">
                <a:solidFill>
                  <a:srgbClr val="0B0D11"/>
                </a:solidFill>
                <a:latin typeface="Segoe UI"/>
                <a:cs typeface="Segoe UI"/>
              </a:rPr>
              <a:t>IMPACT · ROUTES · ALERT</a:t>
            </a:r>
          </a:p>
        </p:txBody>
      </p:sp>
      <p:sp>
        <p:nvSpPr>
          <p:cNvPr id="199" name="Rounded Rectangle 198"/>
          <p:cNvSpPr/>
          <p:nvPr/>
        </p:nvSpPr>
        <p:spPr>
          <a:xfrm>
            <a:off x="11045952" y="7955280"/>
            <a:ext cx="1444752" cy="438912"/>
          </a:xfrm>
          <a:prstGeom prst="roundRect">
            <a:avLst>
              <a:gd name="adj" fmla="val 12500"/>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0" name="TextBox 199"/>
          <p:cNvSpPr txBox="1"/>
          <p:nvPr/>
        </p:nvSpPr>
        <p:spPr>
          <a:xfrm>
            <a:off x="11045952" y="7955280"/>
            <a:ext cx="1444752" cy="438912"/>
          </a:xfrm>
          <a:prstGeom prst="rect">
            <a:avLst/>
          </a:prstGeom>
          <a:noFill/>
        </p:spPr>
        <p:txBody>
          <a:bodyPr wrap="square" lIns="0" rIns="0" tIns="0" bIns="0" anchor="ctr">
            <a:noAutofit/>
          </a:bodyPr>
          <a:lstStyle/>
          <a:p>
            <a:pPr algn="ctr">
              <a:lnSpc>
                <a:spcPct val="92000"/>
              </a:lnSpc>
            </a:pPr>
            <a:r>
              <a:rPr sz="1050" b="1" i="0">
                <a:solidFill>
                  <a:srgbClr val="0B0D11"/>
                </a:solidFill>
                <a:latin typeface="Segoe UI"/>
                <a:cs typeface="Segoe UI"/>
              </a:rPr>
              <a:t>AUDIT LEDGER</a:t>
            </a:r>
          </a:p>
        </p:txBody>
      </p:sp>
      <p:cxnSp>
        <p:nvCxnSpPr>
          <p:cNvPr id="201" name="Connector 200"/>
          <p:cNvCxnSpPr/>
          <p:nvPr/>
        </p:nvCxnSpPr>
        <p:spPr>
          <a:xfrm>
            <a:off x="10853928" y="8174736"/>
            <a:ext cx="173736" cy="0"/>
          </a:xfrm>
          <a:prstGeom prst="line">
            <a:avLst/>
          </a:prstGeom>
          <a:ln w="15875">
            <a:solidFill>
              <a:srgbClr val="64748B"/>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02" name="TextBox 201"/>
          <p:cNvSpPr txBox="1"/>
          <p:nvPr/>
        </p:nvSpPr>
        <p:spPr>
          <a:xfrm>
            <a:off x="9400032" y="7699248"/>
            <a:ext cx="457200" cy="182880"/>
          </a:xfrm>
          <a:prstGeom prst="rect">
            <a:avLst/>
          </a:prstGeom>
          <a:noFill/>
        </p:spPr>
        <p:txBody>
          <a:bodyPr wrap="square" lIns="0" rIns="0" tIns="0" bIns="0" anchor="t">
            <a:noAutofit/>
          </a:bodyPr>
          <a:lstStyle/>
          <a:p>
            <a:pPr algn="l"/>
            <a:r>
              <a:rPr sz="900" b="1" i="0">
                <a:solidFill>
                  <a:srgbClr val="B45309"/>
                </a:solidFill>
                <a:latin typeface="Segoe UI"/>
                <a:cs typeface="Segoe UI"/>
              </a:rPr>
              <a:t>YES</a:t>
            </a:r>
          </a:p>
        </p:txBody>
      </p:sp>
      <p:sp>
        <p:nvSpPr>
          <p:cNvPr id="203" name="Rounded Rectangle 202"/>
          <p:cNvSpPr/>
          <p:nvPr/>
        </p:nvSpPr>
        <p:spPr>
          <a:xfrm>
            <a:off x="5413248" y="9052560"/>
            <a:ext cx="7178040" cy="914400"/>
          </a:xfrm>
          <a:prstGeom prst="roundRect">
            <a:avLst>
              <a:gd name="adj" fmla="val 10000"/>
            </a:avLst>
          </a:prstGeom>
          <a:solidFill>
            <a:srgbClr val="FFFFFF"/>
          </a:solidFill>
          <a:ln w="12700">
            <a:solidFill>
              <a:srgbClr val="E6EB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4" name="Rounded Rectangle 203"/>
          <p:cNvSpPr/>
          <p:nvPr/>
        </p:nvSpPr>
        <p:spPr>
          <a:xfrm>
            <a:off x="5504688" y="9116568"/>
            <a:ext cx="859536" cy="786384"/>
          </a:xfrm>
          <a:prstGeom prst="roundRect">
            <a:avLst>
              <a:gd name="adj" fmla="val 6976"/>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5" name="Rounded Rectangle 204"/>
          <p:cNvSpPr/>
          <p:nvPr/>
        </p:nvSpPr>
        <p:spPr>
          <a:xfrm>
            <a:off x="5760720" y="9162288"/>
            <a:ext cx="347472" cy="347472"/>
          </a:xfrm>
          <a:prstGeom prst="roundRect">
            <a:avLst>
              <a:gd name="adj" fmla="val 21052"/>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06" name="Picture 205" descr="mountain_w.png"/>
          <p:cNvPicPr>
            <a:picLocks noChangeAspect="1"/>
          </p:cNvPicPr>
          <p:nvPr/>
        </p:nvPicPr>
        <p:blipFill>
          <a:blip r:embed="rId72"/>
          <a:stretch>
            <a:fillRect/>
          </a:stretch>
        </p:blipFill>
        <p:spPr>
          <a:xfrm>
            <a:off x="5823264" y="9224832"/>
            <a:ext cx="222382" cy="222382"/>
          </a:xfrm>
          <a:prstGeom prst="rect">
            <a:avLst/>
          </a:prstGeom>
        </p:spPr>
      </p:pic>
      <p:sp>
        <p:nvSpPr>
          <p:cNvPr id="207" name="TextBox 206"/>
          <p:cNvSpPr txBox="1"/>
          <p:nvPr/>
        </p:nvSpPr>
        <p:spPr>
          <a:xfrm>
            <a:off x="5477255" y="9555480"/>
            <a:ext cx="914400" cy="274320"/>
          </a:xfrm>
          <a:prstGeom prst="rect">
            <a:avLst/>
          </a:prstGeom>
          <a:noFill/>
        </p:spPr>
        <p:txBody>
          <a:bodyPr wrap="square" lIns="0" rIns="0" tIns="0" bIns="0" anchor="t">
            <a:noAutofit/>
          </a:bodyPr>
          <a:lstStyle/>
          <a:p>
            <a:pPr algn="ctr"/>
            <a:r>
              <a:rPr sz="900" b="1" i="0">
                <a:solidFill>
                  <a:srgbClr val="0B0D11"/>
                </a:solidFill>
                <a:latin typeface="Segoe UI"/>
                <a:cs typeface="Segoe UI"/>
              </a:rPr>
              <a:t>DEM</a:t>
            </a:r>
          </a:p>
        </p:txBody>
      </p:sp>
      <p:cxnSp>
        <p:nvCxnSpPr>
          <p:cNvPr id="208" name="Connector 207"/>
          <p:cNvCxnSpPr/>
          <p:nvPr/>
        </p:nvCxnSpPr>
        <p:spPr>
          <a:xfrm>
            <a:off x="6382512" y="9509760"/>
            <a:ext cx="109728" cy="0"/>
          </a:xfrm>
          <a:prstGeom prst="line">
            <a:avLst/>
          </a:prstGeom>
          <a:ln w="12700">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09" name="Rounded Rectangle 208"/>
          <p:cNvSpPr/>
          <p:nvPr/>
        </p:nvSpPr>
        <p:spPr>
          <a:xfrm>
            <a:off x="6510527" y="9116568"/>
            <a:ext cx="859536" cy="786384"/>
          </a:xfrm>
          <a:prstGeom prst="roundRect">
            <a:avLst>
              <a:gd name="adj" fmla="val 6976"/>
            </a:avLst>
          </a:prstGeom>
          <a:solidFill>
            <a:srgbClr val="F0F9FF"/>
          </a:solidFill>
          <a:ln w="12700">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0" name="Rounded Rectangle 209"/>
          <p:cNvSpPr/>
          <p:nvPr/>
        </p:nvSpPr>
        <p:spPr>
          <a:xfrm>
            <a:off x="6766559" y="9162288"/>
            <a:ext cx="347472" cy="347472"/>
          </a:xfrm>
          <a:prstGeom prst="roundRect">
            <a:avLst>
              <a:gd name="adj" fmla="val 21052"/>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1" name="Picture 210" descr="droplets_w.png"/>
          <p:cNvPicPr>
            <a:picLocks noChangeAspect="1"/>
          </p:cNvPicPr>
          <p:nvPr/>
        </p:nvPicPr>
        <p:blipFill>
          <a:blip r:embed="rId94"/>
          <a:stretch>
            <a:fillRect/>
          </a:stretch>
        </p:blipFill>
        <p:spPr>
          <a:xfrm>
            <a:off x="6829104" y="9224832"/>
            <a:ext cx="222382" cy="222382"/>
          </a:xfrm>
          <a:prstGeom prst="rect">
            <a:avLst/>
          </a:prstGeom>
        </p:spPr>
      </p:pic>
      <p:sp>
        <p:nvSpPr>
          <p:cNvPr id="212" name="TextBox 211"/>
          <p:cNvSpPr txBox="1"/>
          <p:nvPr/>
        </p:nvSpPr>
        <p:spPr>
          <a:xfrm>
            <a:off x="6483095" y="9555480"/>
            <a:ext cx="914400" cy="274320"/>
          </a:xfrm>
          <a:prstGeom prst="rect">
            <a:avLst/>
          </a:prstGeom>
          <a:noFill/>
        </p:spPr>
        <p:txBody>
          <a:bodyPr wrap="square" lIns="0" rIns="0" tIns="0" bIns="0" anchor="t">
            <a:noAutofit/>
          </a:bodyPr>
          <a:lstStyle/>
          <a:p>
            <a:pPr algn="ctr"/>
            <a:r>
              <a:rPr sz="900" b="1" i="0">
                <a:solidFill>
                  <a:srgbClr val="0B0D11"/>
                </a:solidFill>
                <a:latin typeface="Segoe UI"/>
                <a:cs typeface="Segoe UI"/>
              </a:rPr>
              <a:t>FILL SINKS</a:t>
            </a:r>
          </a:p>
        </p:txBody>
      </p:sp>
      <p:cxnSp>
        <p:nvCxnSpPr>
          <p:cNvPr id="213" name="Connector 212"/>
          <p:cNvCxnSpPr/>
          <p:nvPr/>
        </p:nvCxnSpPr>
        <p:spPr>
          <a:xfrm>
            <a:off x="7388351" y="9509760"/>
            <a:ext cx="109728" cy="0"/>
          </a:xfrm>
          <a:prstGeom prst="line">
            <a:avLst/>
          </a:prstGeom>
          <a:ln w="12700">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14" name="Rounded Rectangle 213"/>
          <p:cNvSpPr/>
          <p:nvPr/>
        </p:nvSpPr>
        <p:spPr>
          <a:xfrm>
            <a:off x="7516367" y="9116568"/>
            <a:ext cx="859536" cy="786384"/>
          </a:xfrm>
          <a:prstGeom prst="roundRect">
            <a:avLst>
              <a:gd name="adj" fmla="val 6976"/>
            </a:avLst>
          </a:prstGeom>
          <a:solidFill>
            <a:srgbClr val="EEF2FF"/>
          </a:solidFill>
          <a:ln w="12700">
            <a:solidFill>
              <a:srgbClr val="C7D2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5" name="Rounded Rectangle 214"/>
          <p:cNvSpPr/>
          <p:nvPr/>
        </p:nvSpPr>
        <p:spPr>
          <a:xfrm>
            <a:off x="7772399" y="9162288"/>
            <a:ext cx="347472" cy="347472"/>
          </a:xfrm>
          <a:prstGeom prst="roundRect">
            <a:avLst>
              <a:gd name="adj" fmla="val 21052"/>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6" name="Picture 215" descr="workflow_w.png"/>
          <p:cNvPicPr>
            <a:picLocks noChangeAspect="1"/>
          </p:cNvPicPr>
          <p:nvPr/>
        </p:nvPicPr>
        <p:blipFill>
          <a:blip r:embed="rId95"/>
          <a:stretch>
            <a:fillRect/>
          </a:stretch>
        </p:blipFill>
        <p:spPr>
          <a:xfrm>
            <a:off x="7834944" y="9224832"/>
            <a:ext cx="222382" cy="222382"/>
          </a:xfrm>
          <a:prstGeom prst="rect">
            <a:avLst/>
          </a:prstGeom>
        </p:spPr>
      </p:pic>
      <p:sp>
        <p:nvSpPr>
          <p:cNvPr id="217" name="TextBox 216"/>
          <p:cNvSpPr txBox="1"/>
          <p:nvPr/>
        </p:nvSpPr>
        <p:spPr>
          <a:xfrm>
            <a:off x="7488936" y="9555480"/>
            <a:ext cx="914400" cy="274320"/>
          </a:xfrm>
          <a:prstGeom prst="rect">
            <a:avLst/>
          </a:prstGeom>
          <a:noFill/>
        </p:spPr>
        <p:txBody>
          <a:bodyPr wrap="square" lIns="0" rIns="0" tIns="0" bIns="0" anchor="t">
            <a:noAutofit/>
          </a:bodyPr>
          <a:lstStyle/>
          <a:p>
            <a:pPr algn="ctr"/>
            <a:r>
              <a:rPr sz="900" b="1" i="0">
                <a:solidFill>
                  <a:srgbClr val="0B0D11"/>
                </a:solidFill>
                <a:latin typeface="Segoe UI"/>
                <a:cs typeface="Segoe UI"/>
              </a:rPr>
              <a:t>D8 FLOW</a:t>
            </a:r>
          </a:p>
        </p:txBody>
      </p:sp>
      <p:cxnSp>
        <p:nvCxnSpPr>
          <p:cNvPr id="218" name="Connector 217"/>
          <p:cNvCxnSpPr/>
          <p:nvPr/>
        </p:nvCxnSpPr>
        <p:spPr>
          <a:xfrm>
            <a:off x="8394192" y="9509760"/>
            <a:ext cx="109727" cy="0"/>
          </a:xfrm>
          <a:prstGeom prst="line">
            <a:avLst/>
          </a:prstGeom>
          <a:ln w="12700">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19" name="Rounded Rectangle 218"/>
          <p:cNvSpPr/>
          <p:nvPr/>
        </p:nvSpPr>
        <p:spPr>
          <a:xfrm>
            <a:off x="8522208" y="9116568"/>
            <a:ext cx="859536" cy="786384"/>
          </a:xfrm>
          <a:prstGeom prst="roundRect">
            <a:avLst>
              <a:gd name="adj" fmla="val 6976"/>
            </a:avLst>
          </a:prstGeom>
          <a:solidFill>
            <a:srgbClr val="FFFBEB"/>
          </a:solidFill>
          <a:ln w="12700">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0" name="Rounded Rectangle 219"/>
          <p:cNvSpPr/>
          <p:nvPr/>
        </p:nvSpPr>
        <p:spPr>
          <a:xfrm>
            <a:off x="8778240" y="9162288"/>
            <a:ext cx="347472" cy="347472"/>
          </a:xfrm>
          <a:prstGeom prst="roundRect">
            <a:avLst>
              <a:gd name="adj" fmla="val 21052"/>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1" name="Picture 220" descr="target_w.png"/>
          <p:cNvPicPr>
            <a:picLocks noChangeAspect="1"/>
          </p:cNvPicPr>
          <p:nvPr/>
        </p:nvPicPr>
        <p:blipFill>
          <a:blip r:embed="rId96"/>
          <a:stretch>
            <a:fillRect/>
          </a:stretch>
        </p:blipFill>
        <p:spPr>
          <a:xfrm>
            <a:off x="8840784" y="9224832"/>
            <a:ext cx="222382" cy="222382"/>
          </a:xfrm>
          <a:prstGeom prst="rect">
            <a:avLst/>
          </a:prstGeom>
        </p:spPr>
      </p:pic>
      <p:sp>
        <p:nvSpPr>
          <p:cNvPr id="222" name="TextBox 221"/>
          <p:cNvSpPr txBox="1"/>
          <p:nvPr/>
        </p:nvSpPr>
        <p:spPr>
          <a:xfrm>
            <a:off x="8494776" y="9555480"/>
            <a:ext cx="914400" cy="274320"/>
          </a:xfrm>
          <a:prstGeom prst="rect">
            <a:avLst/>
          </a:prstGeom>
          <a:noFill/>
        </p:spPr>
        <p:txBody>
          <a:bodyPr wrap="square" lIns="0" rIns="0" tIns="0" bIns="0" anchor="t">
            <a:noAutofit/>
          </a:bodyPr>
          <a:lstStyle/>
          <a:p>
            <a:pPr algn="ctr"/>
            <a:r>
              <a:rPr sz="900" b="1" i="0">
                <a:solidFill>
                  <a:srgbClr val="0B0D11"/>
                </a:solidFill>
                <a:latin typeface="Segoe UI"/>
                <a:cs typeface="Segoe UI"/>
              </a:rPr>
              <a:t>LOW POINTS</a:t>
            </a:r>
          </a:p>
        </p:txBody>
      </p:sp>
      <p:cxnSp>
        <p:nvCxnSpPr>
          <p:cNvPr id="223" name="Connector 222"/>
          <p:cNvCxnSpPr/>
          <p:nvPr/>
        </p:nvCxnSpPr>
        <p:spPr>
          <a:xfrm>
            <a:off x="9400032" y="9509760"/>
            <a:ext cx="109728" cy="0"/>
          </a:xfrm>
          <a:prstGeom prst="line">
            <a:avLst/>
          </a:prstGeom>
          <a:ln w="12700">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24" name="Rounded Rectangle 223"/>
          <p:cNvSpPr/>
          <p:nvPr/>
        </p:nvSpPr>
        <p:spPr>
          <a:xfrm>
            <a:off x="9528048" y="9116568"/>
            <a:ext cx="859536" cy="786384"/>
          </a:xfrm>
          <a:prstGeom prst="roundRect">
            <a:avLst>
              <a:gd name="adj" fmla="val 6976"/>
            </a:avLst>
          </a:prstGeom>
          <a:solidFill>
            <a:srgbClr val="ECFDF5"/>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5" name="Rounded Rectangle 224"/>
          <p:cNvSpPr/>
          <p:nvPr/>
        </p:nvSpPr>
        <p:spPr>
          <a:xfrm>
            <a:off x="9784080" y="9162288"/>
            <a:ext cx="347472" cy="347472"/>
          </a:xfrm>
          <a:prstGeom prst="roundRect">
            <a:avLst>
              <a:gd name="adj" fmla="val 21052"/>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6" name="Picture 225" descr="osm_w.png"/>
          <p:cNvPicPr>
            <a:picLocks noChangeAspect="1"/>
          </p:cNvPicPr>
          <p:nvPr/>
        </p:nvPicPr>
        <p:blipFill>
          <a:blip r:embed="rId97"/>
          <a:stretch>
            <a:fillRect/>
          </a:stretch>
        </p:blipFill>
        <p:spPr>
          <a:xfrm>
            <a:off x="9846624" y="9224832"/>
            <a:ext cx="222382" cy="222382"/>
          </a:xfrm>
          <a:prstGeom prst="rect">
            <a:avLst/>
          </a:prstGeom>
        </p:spPr>
      </p:pic>
      <p:sp>
        <p:nvSpPr>
          <p:cNvPr id="227" name="TextBox 226"/>
          <p:cNvSpPr txBox="1"/>
          <p:nvPr/>
        </p:nvSpPr>
        <p:spPr>
          <a:xfrm>
            <a:off x="9500616" y="9555480"/>
            <a:ext cx="914400" cy="274320"/>
          </a:xfrm>
          <a:prstGeom prst="rect">
            <a:avLst/>
          </a:prstGeom>
          <a:noFill/>
        </p:spPr>
        <p:txBody>
          <a:bodyPr wrap="square" lIns="0" rIns="0" tIns="0" bIns="0" anchor="t">
            <a:noAutofit/>
          </a:bodyPr>
          <a:lstStyle/>
          <a:p>
            <a:pPr algn="ctr"/>
            <a:r>
              <a:rPr sz="900" b="1" i="0">
                <a:solidFill>
                  <a:srgbClr val="0B0D11"/>
                </a:solidFill>
                <a:latin typeface="Segoe UI"/>
                <a:cs typeface="Segoe UI"/>
              </a:rPr>
              <a:t>OSM LAYERS</a:t>
            </a:r>
          </a:p>
        </p:txBody>
      </p:sp>
      <p:cxnSp>
        <p:nvCxnSpPr>
          <p:cNvPr id="228" name="Connector 227"/>
          <p:cNvCxnSpPr/>
          <p:nvPr/>
        </p:nvCxnSpPr>
        <p:spPr>
          <a:xfrm>
            <a:off x="10405872" y="9509760"/>
            <a:ext cx="109728" cy="0"/>
          </a:xfrm>
          <a:prstGeom prst="line">
            <a:avLst/>
          </a:prstGeom>
          <a:ln w="12700">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29" name="Rounded Rectangle 228"/>
          <p:cNvSpPr/>
          <p:nvPr/>
        </p:nvSpPr>
        <p:spPr>
          <a:xfrm>
            <a:off x="10533888" y="9116568"/>
            <a:ext cx="859536" cy="786384"/>
          </a:xfrm>
          <a:prstGeom prst="roundRect">
            <a:avLst>
              <a:gd name="adj" fmla="val 6976"/>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0" name="Rounded Rectangle 229"/>
          <p:cNvSpPr/>
          <p:nvPr/>
        </p:nvSpPr>
        <p:spPr>
          <a:xfrm>
            <a:off x="10789919" y="9162288"/>
            <a:ext cx="347472" cy="347472"/>
          </a:xfrm>
          <a:prstGeom prst="roundRect">
            <a:avLst>
              <a:gd name="adj" fmla="val 21052"/>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31" name="Picture 230" descr="network_w.png"/>
          <p:cNvPicPr>
            <a:picLocks noChangeAspect="1"/>
          </p:cNvPicPr>
          <p:nvPr/>
        </p:nvPicPr>
        <p:blipFill>
          <a:blip r:embed="rId98"/>
          <a:stretch>
            <a:fillRect/>
          </a:stretch>
        </p:blipFill>
        <p:spPr>
          <a:xfrm>
            <a:off x="10852464" y="9224832"/>
            <a:ext cx="222382" cy="222382"/>
          </a:xfrm>
          <a:prstGeom prst="rect">
            <a:avLst/>
          </a:prstGeom>
        </p:spPr>
      </p:pic>
      <p:sp>
        <p:nvSpPr>
          <p:cNvPr id="232" name="TextBox 231"/>
          <p:cNvSpPr txBox="1"/>
          <p:nvPr/>
        </p:nvSpPr>
        <p:spPr>
          <a:xfrm>
            <a:off x="10506456" y="9555480"/>
            <a:ext cx="914400" cy="274320"/>
          </a:xfrm>
          <a:prstGeom prst="rect">
            <a:avLst/>
          </a:prstGeom>
          <a:noFill/>
        </p:spPr>
        <p:txBody>
          <a:bodyPr wrap="square" lIns="0" rIns="0" tIns="0" bIns="0" anchor="t">
            <a:noAutofit/>
          </a:bodyPr>
          <a:lstStyle/>
          <a:p>
            <a:pPr algn="ctr"/>
            <a:r>
              <a:rPr sz="900" b="1" i="0">
                <a:solidFill>
                  <a:srgbClr val="0B0D11"/>
                </a:solidFill>
                <a:latin typeface="Segoe UI"/>
                <a:cs typeface="Segoe UI"/>
              </a:rPr>
              <a:t>DRAIN GRAPH</a:t>
            </a:r>
          </a:p>
        </p:txBody>
      </p:sp>
      <p:cxnSp>
        <p:nvCxnSpPr>
          <p:cNvPr id="233" name="Connector 232"/>
          <p:cNvCxnSpPr/>
          <p:nvPr/>
        </p:nvCxnSpPr>
        <p:spPr>
          <a:xfrm>
            <a:off x="11411712" y="9509760"/>
            <a:ext cx="109728" cy="0"/>
          </a:xfrm>
          <a:prstGeom prst="line">
            <a:avLst/>
          </a:prstGeom>
          <a:ln w="12700">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34" name="Rounded Rectangle 233"/>
          <p:cNvSpPr/>
          <p:nvPr/>
        </p:nvSpPr>
        <p:spPr>
          <a:xfrm>
            <a:off x="11539728" y="9116568"/>
            <a:ext cx="859536" cy="786384"/>
          </a:xfrm>
          <a:prstGeom prst="roundRect">
            <a:avLst>
              <a:gd name="adj" fmla="val 6976"/>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5" name="Rounded Rectangle 234"/>
          <p:cNvSpPr/>
          <p:nvPr/>
        </p:nvSpPr>
        <p:spPr>
          <a:xfrm>
            <a:off x="11795760" y="9162288"/>
            <a:ext cx="347472" cy="347472"/>
          </a:xfrm>
          <a:prstGeom prst="roundRect">
            <a:avLst>
              <a:gd name="adj" fmla="val 21052"/>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36" name="Picture 235" descr="file_w.png"/>
          <p:cNvPicPr>
            <a:picLocks noChangeAspect="1"/>
          </p:cNvPicPr>
          <p:nvPr/>
        </p:nvPicPr>
        <p:blipFill>
          <a:blip r:embed="rId99"/>
          <a:stretch>
            <a:fillRect/>
          </a:stretch>
        </p:blipFill>
        <p:spPr>
          <a:xfrm>
            <a:off x="11858304" y="9224832"/>
            <a:ext cx="222382" cy="222382"/>
          </a:xfrm>
          <a:prstGeom prst="rect">
            <a:avLst/>
          </a:prstGeom>
        </p:spPr>
      </p:pic>
      <p:sp>
        <p:nvSpPr>
          <p:cNvPr id="237" name="TextBox 236"/>
          <p:cNvSpPr txBox="1"/>
          <p:nvPr/>
        </p:nvSpPr>
        <p:spPr>
          <a:xfrm>
            <a:off x="11512296" y="9555480"/>
            <a:ext cx="914400" cy="274320"/>
          </a:xfrm>
          <a:prstGeom prst="rect">
            <a:avLst/>
          </a:prstGeom>
          <a:noFill/>
        </p:spPr>
        <p:txBody>
          <a:bodyPr wrap="square" lIns="0" rIns="0" tIns="0" bIns="0" anchor="t">
            <a:noAutofit/>
          </a:bodyPr>
          <a:lstStyle/>
          <a:p>
            <a:pPr algn="ctr"/>
            <a:r>
              <a:rPr sz="900" b="1" i="0">
                <a:solidFill>
                  <a:srgbClr val="0B0D11"/>
                </a:solidFill>
                <a:latin typeface="Segoe UI"/>
                <a:cs typeface="Segoe UI"/>
              </a:rPr>
              <a:t>SWMM .inp</a:t>
            </a:r>
          </a:p>
        </p:txBody>
      </p:sp>
      <p:sp>
        <p:nvSpPr>
          <p:cNvPr id="238" name="Rounded Rectangle 237"/>
          <p:cNvSpPr/>
          <p:nvPr/>
        </p:nvSpPr>
        <p:spPr>
          <a:xfrm>
            <a:off x="12755880" y="713232"/>
            <a:ext cx="2971800" cy="1261872"/>
          </a:xfrm>
          <a:prstGeom prst="roundRect">
            <a:avLst>
              <a:gd name="adj" fmla="val 7246"/>
            </a:avLst>
          </a:prstGeom>
          <a:solidFill>
            <a:srgbClr val="0F172A"/>
          </a:solidFill>
          <a:ln w="12700">
            <a:solidFill>
              <a:srgbClr val="0F172A"/>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9" name="TextBox 238"/>
          <p:cNvSpPr txBox="1"/>
          <p:nvPr/>
        </p:nvSpPr>
        <p:spPr>
          <a:xfrm>
            <a:off x="12893040" y="786384"/>
            <a:ext cx="2743200" cy="256032"/>
          </a:xfrm>
          <a:prstGeom prst="rect">
            <a:avLst/>
          </a:prstGeom>
          <a:noFill/>
        </p:spPr>
        <p:txBody>
          <a:bodyPr wrap="square" lIns="0" rIns="0" tIns="0" bIns="0" anchor="t">
            <a:noAutofit/>
          </a:bodyPr>
          <a:lstStyle/>
          <a:p>
            <a:pPr algn="l"/>
            <a:r>
              <a:rPr sz="1200" b="1" i="0" spc="80">
                <a:solidFill>
                  <a:srgbClr val="FBBF24"/>
                </a:solidFill>
                <a:latin typeface="Segoe UI"/>
                <a:cs typeface="Segoe UI"/>
              </a:rPr>
              <a:t>WHY HYBRID?</a:t>
            </a:r>
          </a:p>
        </p:txBody>
      </p:sp>
      <p:sp>
        <p:nvSpPr>
          <p:cNvPr id="240" name="TextBox 239"/>
          <p:cNvSpPr txBox="1"/>
          <p:nvPr/>
        </p:nvSpPr>
        <p:spPr>
          <a:xfrm>
            <a:off x="12893040" y="1042415"/>
            <a:ext cx="2788920" cy="914400"/>
          </a:xfrm>
          <a:prstGeom prst="rect">
            <a:avLst/>
          </a:prstGeom>
          <a:noFill/>
        </p:spPr>
        <p:txBody>
          <a:bodyPr wrap="square" lIns="0" rIns="0" tIns="0" bIns="0" anchor="t">
            <a:noAutofit/>
          </a:bodyPr>
          <a:lstStyle/>
          <a:p>
            <a:pPr algn="l">
              <a:lnSpc>
                <a:spcPct val="105000"/>
              </a:lnSpc>
              <a:spcAft>
                <a:spcPts val="200"/>
              </a:spcAft>
            </a:pPr>
            <a:r>
              <a:rPr sz="1050" b="0" i="0">
                <a:solidFill>
                  <a:srgbClr val="E2E8F0"/>
                </a:solidFill>
                <a:latin typeface="Segoe UI"/>
                <a:cs typeface="Segoe UI"/>
              </a:rPr>
              <a:t>Full physics × 20 members ≈ </a:t>
            </a:r>
            <a:r>
              <a:rPr sz="1050" b="1" i="0">
                <a:solidFill>
                  <a:srgbClr val="FCA5A5"/>
                </a:solidFill>
                <a:latin typeface="Segoe UI"/>
                <a:cs typeface="Segoe UI"/>
              </a:rPr>
              <a:t>4 min</a:t>
            </a:r>
          </a:p>
          <a:p>
            <a:pPr algn="l">
              <a:lnSpc>
                <a:spcPct val="105000"/>
              </a:lnSpc>
              <a:spcAft>
                <a:spcPts val="200"/>
              </a:spcAft>
            </a:pPr>
            <a:r>
              <a:rPr sz="1050" b="0" i="0">
                <a:solidFill>
                  <a:srgbClr val="E2E8F0"/>
                </a:solidFill>
                <a:latin typeface="Segoe UI"/>
                <a:cs typeface="Segoe UI"/>
              </a:rPr>
              <a:t>AI surrogate × 20 members ≈ </a:t>
            </a:r>
            <a:r>
              <a:rPr sz="1050" b="1" i="0">
                <a:solidFill>
                  <a:srgbClr val="86EFAC"/>
                </a:solidFill>
                <a:latin typeface="Segoe UI"/>
                <a:cs typeface="Segoe UI"/>
              </a:rPr>
              <a:t>0.2 s</a:t>
            </a:r>
          </a:p>
          <a:p>
            <a:pPr algn="l">
              <a:lnSpc>
                <a:spcPct val="105000"/>
              </a:lnSpc>
              <a:spcAft>
                <a:spcPts val="200"/>
              </a:spcAft>
            </a:pPr>
            <a:r>
              <a:rPr sz="1050" b="0" i="0">
                <a:solidFill>
                  <a:srgbClr val="E2E8F0"/>
                </a:solidFill>
                <a:latin typeface="Segoe UI"/>
                <a:cs typeface="Segoe UI"/>
              </a:rPr>
              <a:t>Physics re-runs only hotspots → </a:t>
            </a:r>
            <a:r>
              <a:rPr sz="1050" b="1" i="0">
                <a:solidFill>
                  <a:srgbClr val="93C5FD"/>
                </a:solidFill>
                <a:latin typeface="Segoe UI"/>
                <a:cs typeface="Segoe UI"/>
              </a:rPr>
              <a:t>19 s</a:t>
            </a:r>
          </a:p>
        </p:txBody>
      </p:sp>
      <p:sp>
        <p:nvSpPr>
          <p:cNvPr id="241" name="Rounded Rectangle 240"/>
          <p:cNvSpPr/>
          <p:nvPr/>
        </p:nvSpPr>
        <p:spPr>
          <a:xfrm>
            <a:off x="12755880" y="2249424"/>
            <a:ext cx="5413248" cy="2148840"/>
          </a:xfrm>
          <a:prstGeom prst="roundRect">
            <a:avLst>
              <a:gd name="adj" fmla="val 4255"/>
            </a:avLst>
          </a:prstGeom>
          <a:solidFill>
            <a:srgbClr val="FFFFFF"/>
          </a:solidFill>
          <a:ln w="12700">
            <a:solidFill>
              <a:srgbClr val="E6EB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2" name="Rounded Rectangle 241"/>
          <p:cNvSpPr/>
          <p:nvPr/>
        </p:nvSpPr>
        <p:spPr>
          <a:xfrm>
            <a:off x="12911328" y="2377440"/>
            <a:ext cx="841248" cy="1572768"/>
          </a:xfrm>
          <a:prstGeom prst="roundRect">
            <a:avLst>
              <a:gd name="adj" fmla="val 6521"/>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3" name="Rounded Rectangle 242"/>
          <p:cNvSpPr/>
          <p:nvPr/>
        </p:nvSpPr>
        <p:spPr>
          <a:xfrm>
            <a:off x="13103352" y="2761488"/>
            <a:ext cx="457200" cy="457200"/>
          </a:xfrm>
          <a:prstGeom prst="roundRect">
            <a:avLst>
              <a:gd name="adj" fmla="val 24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44" name="Picture 243" descr="rain_w.png"/>
          <p:cNvPicPr>
            <a:picLocks noChangeAspect="1"/>
          </p:cNvPicPr>
          <p:nvPr/>
        </p:nvPicPr>
        <p:blipFill>
          <a:blip r:embed="rId86"/>
          <a:stretch>
            <a:fillRect/>
          </a:stretch>
        </p:blipFill>
        <p:spPr>
          <a:xfrm>
            <a:off x="13194792" y="2852928"/>
            <a:ext cx="274320" cy="274320"/>
          </a:xfrm>
          <a:prstGeom prst="rect">
            <a:avLst/>
          </a:prstGeom>
        </p:spPr>
      </p:pic>
      <p:sp>
        <p:nvSpPr>
          <p:cNvPr id="245" name="TextBox 244"/>
          <p:cNvSpPr txBox="1"/>
          <p:nvPr/>
        </p:nvSpPr>
        <p:spPr>
          <a:xfrm>
            <a:off x="12865607" y="3291840"/>
            <a:ext cx="932688" cy="411480"/>
          </a:xfrm>
          <a:prstGeom prst="rect">
            <a:avLst/>
          </a:prstGeom>
          <a:noFill/>
        </p:spPr>
        <p:txBody>
          <a:bodyPr wrap="square" lIns="0" rIns="0" tIns="0" bIns="0" anchor="t">
            <a:noAutofit/>
          </a:bodyPr>
          <a:lstStyle/>
          <a:p>
            <a:pPr algn="ctr">
              <a:lnSpc>
                <a:spcPct val="95000"/>
              </a:lnSpc>
            </a:pPr>
            <a:r>
              <a:rPr sz="950" b="1" i="0">
                <a:solidFill>
                  <a:srgbClr val="0B0D11"/>
                </a:solidFill>
                <a:latin typeface="Segoe UI"/>
                <a:cs typeface="Segoe UI"/>
              </a:rPr>
              <a:t>RAIN</a:t>
            </a:r>
          </a:p>
          <a:p>
            <a:pPr algn="ctr">
              <a:lnSpc>
                <a:spcPct val="95000"/>
              </a:lnSpc>
            </a:pPr>
            <a:r>
              <a:rPr sz="950" b="1" i="0">
                <a:solidFill>
                  <a:srgbClr val="0B0D11"/>
                </a:solidFill>
                <a:latin typeface="Segoe UI"/>
                <a:cs typeface="Segoe UI"/>
              </a:rPr>
              <a:t>FIELD</a:t>
            </a:r>
          </a:p>
        </p:txBody>
      </p:sp>
      <p:cxnSp>
        <p:nvCxnSpPr>
          <p:cNvPr id="246" name="Connector 245"/>
          <p:cNvCxnSpPr/>
          <p:nvPr/>
        </p:nvCxnSpPr>
        <p:spPr>
          <a:xfrm>
            <a:off x="13780007" y="3163824"/>
            <a:ext cx="146304" cy="0"/>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47" name="Rounded Rectangle 246"/>
          <p:cNvSpPr/>
          <p:nvPr/>
        </p:nvSpPr>
        <p:spPr>
          <a:xfrm>
            <a:off x="13953744" y="2377440"/>
            <a:ext cx="841248" cy="749808"/>
          </a:xfrm>
          <a:prstGeom prst="roundRect">
            <a:avLst>
              <a:gd name="adj" fmla="val 7317"/>
            </a:avLst>
          </a:prstGeom>
          <a:solidFill>
            <a:srgbClr val="FFFBEB"/>
          </a:solidFill>
          <a:ln w="12700">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8" name="Rounded Rectangle 247"/>
          <p:cNvSpPr/>
          <p:nvPr/>
        </p:nvSpPr>
        <p:spPr>
          <a:xfrm>
            <a:off x="14173200" y="2441448"/>
            <a:ext cx="384048" cy="384048"/>
          </a:xfrm>
          <a:prstGeom prst="roundRect">
            <a:avLst>
              <a:gd name="adj" fmla="val 23809"/>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49" name="Picture 248" descr="gauge_w.png"/>
          <p:cNvPicPr>
            <a:picLocks noChangeAspect="1"/>
          </p:cNvPicPr>
          <p:nvPr/>
        </p:nvPicPr>
        <p:blipFill>
          <a:blip r:embed="rId100"/>
          <a:stretch>
            <a:fillRect/>
          </a:stretch>
        </p:blipFill>
        <p:spPr>
          <a:xfrm>
            <a:off x="14250009" y="2518257"/>
            <a:ext cx="230428" cy="230428"/>
          </a:xfrm>
          <a:prstGeom prst="rect">
            <a:avLst/>
          </a:prstGeom>
        </p:spPr>
      </p:pic>
      <p:sp>
        <p:nvSpPr>
          <p:cNvPr id="250" name="TextBox 249"/>
          <p:cNvSpPr txBox="1"/>
          <p:nvPr/>
        </p:nvSpPr>
        <p:spPr>
          <a:xfrm>
            <a:off x="13908024" y="2862072"/>
            <a:ext cx="932688" cy="228600"/>
          </a:xfrm>
          <a:prstGeom prst="rect">
            <a:avLst/>
          </a:prstGeom>
          <a:noFill/>
        </p:spPr>
        <p:txBody>
          <a:bodyPr wrap="square" lIns="0" rIns="0" tIns="0" bIns="0" anchor="t">
            <a:noAutofit/>
          </a:bodyPr>
          <a:lstStyle/>
          <a:p>
            <a:pPr algn="ctr"/>
            <a:r>
              <a:rPr sz="950" b="1" i="0">
                <a:solidFill>
                  <a:srgbClr val="0B0D11"/>
                </a:solidFill>
                <a:latin typeface="Segoe UI"/>
                <a:cs typeface="Segoe UI"/>
              </a:rPr>
              <a:t>HORTON</a:t>
            </a:r>
          </a:p>
        </p:txBody>
      </p:sp>
      <p:sp>
        <p:nvSpPr>
          <p:cNvPr id="251" name="Rounded Rectangle 250"/>
          <p:cNvSpPr/>
          <p:nvPr/>
        </p:nvSpPr>
        <p:spPr>
          <a:xfrm>
            <a:off x="13953744" y="3200400"/>
            <a:ext cx="841248" cy="749808"/>
          </a:xfrm>
          <a:prstGeom prst="roundRect">
            <a:avLst>
              <a:gd name="adj" fmla="val 7317"/>
            </a:avLst>
          </a:prstGeom>
          <a:solidFill>
            <a:srgbClr val="FFFBEB"/>
          </a:solidFill>
          <a:ln w="12700">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2" name="Rounded Rectangle 251"/>
          <p:cNvSpPr/>
          <p:nvPr/>
        </p:nvSpPr>
        <p:spPr>
          <a:xfrm>
            <a:off x="14173200" y="3264408"/>
            <a:ext cx="384048" cy="384048"/>
          </a:xfrm>
          <a:prstGeom prst="roundRect">
            <a:avLst>
              <a:gd name="adj" fmla="val 23809"/>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53" name="Picture 252" descr="sliders_w.png"/>
          <p:cNvPicPr>
            <a:picLocks noChangeAspect="1"/>
          </p:cNvPicPr>
          <p:nvPr/>
        </p:nvPicPr>
        <p:blipFill>
          <a:blip r:embed="rId101"/>
          <a:stretch>
            <a:fillRect/>
          </a:stretch>
        </p:blipFill>
        <p:spPr>
          <a:xfrm>
            <a:off x="14250009" y="3341217"/>
            <a:ext cx="230428" cy="230428"/>
          </a:xfrm>
          <a:prstGeom prst="rect">
            <a:avLst/>
          </a:prstGeom>
        </p:spPr>
      </p:pic>
      <p:sp>
        <p:nvSpPr>
          <p:cNvPr id="254" name="TextBox 253"/>
          <p:cNvSpPr txBox="1"/>
          <p:nvPr/>
        </p:nvSpPr>
        <p:spPr>
          <a:xfrm>
            <a:off x="13908024" y="3685032"/>
            <a:ext cx="932688" cy="228600"/>
          </a:xfrm>
          <a:prstGeom prst="rect">
            <a:avLst/>
          </a:prstGeom>
          <a:noFill/>
        </p:spPr>
        <p:txBody>
          <a:bodyPr wrap="square" lIns="0" rIns="0" tIns="0" bIns="0" anchor="t">
            <a:noAutofit/>
          </a:bodyPr>
          <a:lstStyle/>
          <a:p>
            <a:pPr algn="ctr"/>
            <a:r>
              <a:rPr sz="950" b="1" i="0">
                <a:solidFill>
                  <a:srgbClr val="0B0D11"/>
                </a:solidFill>
                <a:latin typeface="Segoe UI"/>
                <a:cs typeface="Segoe UI"/>
              </a:rPr>
              <a:t>SCS-CN</a:t>
            </a:r>
          </a:p>
        </p:txBody>
      </p:sp>
      <p:cxnSp>
        <p:nvCxnSpPr>
          <p:cNvPr id="255" name="Connector 254"/>
          <p:cNvCxnSpPr/>
          <p:nvPr/>
        </p:nvCxnSpPr>
        <p:spPr>
          <a:xfrm>
            <a:off x="14822424" y="3163824"/>
            <a:ext cx="146304" cy="0"/>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56" name="Rounded Rectangle 255"/>
          <p:cNvSpPr/>
          <p:nvPr/>
        </p:nvSpPr>
        <p:spPr>
          <a:xfrm>
            <a:off x="14996159" y="2377440"/>
            <a:ext cx="841248" cy="1572768"/>
          </a:xfrm>
          <a:prstGeom prst="roundRect">
            <a:avLst>
              <a:gd name="adj" fmla="val 6521"/>
            </a:avLst>
          </a:prstGeom>
          <a:solidFill>
            <a:srgbClr val="F0F9FF"/>
          </a:solidFill>
          <a:ln w="12700">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7" name="Rounded Rectangle 256"/>
          <p:cNvSpPr/>
          <p:nvPr/>
        </p:nvSpPr>
        <p:spPr>
          <a:xfrm>
            <a:off x="15188184" y="2761488"/>
            <a:ext cx="457200" cy="457200"/>
          </a:xfrm>
          <a:prstGeom prst="roundRect">
            <a:avLst>
              <a:gd name="adj" fmla="val 24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58" name="Picture 257" descr="waves_w.png"/>
          <p:cNvPicPr>
            <a:picLocks noChangeAspect="1"/>
          </p:cNvPicPr>
          <p:nvPr/>
        </p:nvPicPr>
        <p:blipFill>
          <a:blip r:embed="rId73"/>
          <a:stretch>
            <a:fillRect/>
          </a:stretch>
        </p:blipFill>
        <p:spPr>
          <a:xfrm>
            <a:off x="15279624" y="2852928"/>
            <a:ext cx="274320" cy="274320"/>
          </a:xfrm>
          <a:prstGeom prst="rect">
            <a:avLst/>
          </a:prstGeom>
        </p:spPr>
      </p:pic>
      <p:sp>
        <p:nvSpPr>
          <p:cNvPr id="259" name="TextBox 258"/>
          <p:cNvSpPr txBox="1"/>
          <p:nvPr/>
        </p:nvSpPr>
        <p:spPr>
          <a:xfrm>
            <a:off x="14950439" y="3291840"/>
            <a:ext cx="932688" cy="411480"/>
          </a:xfrm>
          <a:prstGeom prst="rect">
            <a:avLst/>
          </a:prstGeom>
          <a:noFill/>
        </p:spPr>
        <p:txBody>
          <a:bodyPr wrap="square" lIns="0" rIns="0" tIns="0" bIns="0" anchor="t">
            <a:noAutofit/>
          </a:bodyPr>
          <a:lstStyle/>
          <a:p>
            <a:pPr algn="ctr">
              <a:lnSpc>
                <a:spcPct val="95000"/>
              </a:lnSpc>
            </a:pPr>
            <a:r>
              <a:rPr sz="950" b="1" i="0">
                <a:solidFill>
                  <a:srgbClr val="0B0D11"/>
                </a:solidFill>
                <a:latin typeface="Segoe UI"/>
                <a:cs typeface="Segoe UI"/>
              </a:rPr>
              <a:t>2D</a:t>
            </a:r>
          </a:p>
          <a:p>
            <a:pPr algn="ctr">
              <a:lnSpc>
                <a:spcPct val="95000"/>
              </a:lnSpc>
            </a:pPr>
            <a:r>
              <a:rPr sz="950" b="1" i="0">
                <a:solidFill>
                  <a:srgbClr val="0B0D11"/>
                </a:solidFill>
                <a:latin typeface="Segoe UI"/>
                <a:cs typeface="Segoe UI"/>
              </a:rPr>
              <a:t>SURFACE</a:t>
            </a:r>
          </a:p>
        </p:txBody>
      </p:sp>
      <p:cxnSp>
        <p:nvCxnSpPr>
          <p:cNvPr id="260" name="Connector 259"/>
          <p:cNvCxnSpPr/>
          <p:nvPr/>
        </p:nvCxnSpPr>
        <p:spPr>
          <a:xfrm>
            <a:off x="15864839" y="3163824"/>
            <a:ext cx="146304" cy="0"/>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61" name="Rounded Rectangle 260"/>
          <p:cNvSpPr/>
          <p:nvPr/>
        </p:nvSpPr>
        <p:spPr>
          <a:xfrm>
            <a:off x="16038576" y="2377440"/>
            <a:ext cx="841248" cy="1572768"/>
          </a:xfrm>
          <a:prstGeom prst="roundRect">
            <a:avLst>
              <a:gd name="adj" fmla="val 6521"/>
            </a:avLst>
          </a:prstGeom>
          <a:solidFill>
            <a:srgbClr val="FEF2F2"/>
          </a:solidFill>
          <a:ln w="12700">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2" name="Rounded Rectangle 261"/>
          <p:cNvSpPr/>
          <p:nvPr/>
        </p:nvSpPr>
        <p:spPr>
          <a:xfrm>
            <a:off x="16230600" y="2761488"/>
            <a:ext cx="457200" cy="457200"/>
          </a:xfrm>
          <a:prstGeom prst="roundRect">
            <a:avLst>
              <a:gd name="adj" fmla="val 24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3" name="Picture 262" descr="merge_w.png"/>
          <p:cNvPicPr>
            <a:picLocks noChangeAspect="1"/>
          </p:cNvPicPr>
          <p:nvPr/>
        </p:nvPicPr>
        <p:blipFill>
          <a:blip r:embed="rId102"/>
          <a:stretch>
            <a:fillRect/>
          </a:stretch>
        </p:blipFill>
        <p:spPr>
          <a:xfrm>
            <a:off x="16322040" y="2852928"/>
            <a:ext cx="274320" cy="274320"/>
          </a:xfrm>
          <a:prstGeom prst="rect">
            <a:avLst/>
          </a:prstGeom>
        </p:spPr>
      </p:pic>
      <p:sp>
        <p:nvSpPr>
          <p:cNvPr id="264" name="TextBox 263"/>
          <p:cNvSpPr txBox="1"/>
          <p:nvPr/>
        </p:nvSpPr>
        <p:spPr>
          <a:xfrm>
            <a:off x="15992855" y="3291840"/>
            <a:ext cx="932688" cy="411480"/>
          </a:xfrm>
          <a:prstGeom prst="rect">
            <a:avLst/>
          </a:prstGeom>
          <a:noFill/>
        </p:spPr>
        <p:txBody>
          <a:bodyPr wrap="square" lIns="0" rIns="0" tIns="0" bIns="0" anchor="t">
            <a:noAutofit/>
          </a:bodyPr>
          <a:lstStyle/>
          <a:p>
            <a:pPr algn="ctr">
              <a:lnSpc>
                <a:spcPct val="95000"/>
              </a:lnSpc>
            </a:pPr>
            <a:r>
              <a:rPr sz="950" b="1" i="0">
                <a:solidFill>
                  <a:srgbClr val="0B0D11"/>
                </a:solidFill>
                <a:latin typeface="Segoe UI"/>
                <a:cs typeface="Segoe UI"/>
              </a:rPr>
              <a:t>INLET</a:t>
            </a:r>
          </a:p>
          <a:p>
            <a:pPr algn="ctr">
              <a:lnSpc>
                <a:spcPct val="95000"/>
              </a:lnSpc>
            </a:pPr>
            <a:r>
              <a:rPr sz="950" b="1" i="0">
                <a:solidFill>
                  <a:srgbClr val="0B0D11"/>
                </a:solidFill>
                <a:latin typeface="Segoe UI"/>
                <a:cs typeface="Segoe UI"/>
              </a:rPr>
              <a:t>EXCHANGE</a:t>
            </a:r>
          </a:p>
        </p:txBody>
      </p:sp>
      <p:cxnSp>
        <p:nvCxnSpPr>
          <p:cNvPr id="265" name="Connector 264"/>
          <p:cNvCxnSpPr/>
          <p:nvPr/>
        </p:nvCxnSpPr>
        <p:spPr>
          <a:xfrm>
            <a:off x="16907256" y="3163824"/>
            <a:ext cx="146304" cy="0"/>
          </a:xfrm>
          <a:prstGeom prst="line">
            <a:avLst/>
          </a:prstGeom>
          <a:ln w="15875">
            <a:solidFill>
              <a:srgbClr val="94A3B8"/>
            </a:solidFill>
            <a:round/>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66" name="Rounded Rectangle 265"/>
          <p:cNvSpPr/>
          <p:nvPr/>
        </p:nvSpPr>
        <p:spPr>
          <a:xfrm>
            <a:off x="17080992" y="2377440"/>
            <a:ext cx="841248" cy="1572768"/>
          </a:xfrm>
          <a:prstGeom prst="roundRect">
            <a:avLst>
              <a:gd name="adj" fmla="val 6521"/>
            </a:avLst>
          </a:prstGeom>
          <a:solidFill>
            <a:srgbClr val="ECFDF5"/>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7" name="Rounded Rectangle 266"/>
          <p:cNvSpPr/>
          <p:nvPr/>
        </p:nvSpPr>
        <p:spPr>
          <a:xfrm>
            <a:off x="17273016" y="2761488"/>
            <a:ext cx="457200" cy="457200"/>
          </a:xfrm>
          <a:prstGeom prst="roundRect">
            <a:avLst>
              <a:gd name="adj" fmla="val 24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8" name="Picture 267" descr="cylinder_w.png"/>
          <p:cNvPicPr>
            <a:picLocks noChangeAspect="1"/>
          </p:cNvPicPr>
          <p:nvPr/>
        </p:nvPicPr>
        <p:blipFill>
          <a:blip r:embed="rId103"/>
          <a:stretch>
            <a:fillRect/>
          </a:stretch>
        </p:blipFill>
        <p:spPr>
          <a:xfrm>
            <a:off x="17364456" y="2852928"/>
            <a:ext cx="274320" cy="274320"/>
          </a:xfrm>
          <a:prstGeom prst="rect">
            <a:avLst/>
          </a:prstGeom>
        </p:spPr>
      </p:pic>
      <p:sp>
        <p:nvSpPr>
          <p:cNvPr id="269" name="TextBox 268"/>
          <p:cNvSpPr txBox="1"/>
          <p:nvPr/>
        </p:nvSpPr>
        <p:spPr>
          <a:xfrm>
            <a:off x="17035272" y="3291840"/>
            <a:ext cx="932688" cy="411480"/>
          </a:xfrm>
          <a:prstGeom prst="rect">
            <a:avLst/>
          </a:prstGeom>
          <a:noFill/>
        </p:spPr>
        <p:txBody>
          <a:bodyPr wrap="square" lIns="0" rIns="0" tIns="0" bIns="0" anchor="t">
            <a:noAutofit/>
          </a:bodyPr>
          <a:lstStyle/>
          <a:p>
            <a:pPr algn="ctr">
              <a:lnSpc>
                <a:spcPct val="95000"/>
              </a:lnSpc>
            </a:pPr>
            <a:r>
              <a:rPr sz="950" b="1" i="0">
                <a:solidFill>
                  <a:srgbClr val="0B0D11"/>
                </a:solidFill>
                <a:latin typeface="Segoe UI"/>
                <a:cs typeface="Segoe UI"/>
              </a:rPr>
              <a:t>1D PIPES</a:t>
            </a:r>
          </a:p>
          <a:p>
            <a:pPr algn="ctr">
              <a:lnSpc>
                <a:spcPct val="95000"/>
              </a:lnSpc>
            </a:pPr>
            <a:r>
              <a:rPr sz="950" b="1" i="0">
                <a:solidFill>
                  <a:srgbClr val="0B0D11"/>
                </a:solidFill>
                <a:latin typeface="Segoe UI"/>
                <a:cs typeface="Segoe UI"/>
              </a:rPr>
              <a:t>&amp; PUMPS</a:t>
            </a:r>
          </a:p>
        </p:txBody>
      </p:sp>
      <p:sp>
        <p:nvSpPr>
          <p:cNvPr id="270" name="TextBox 269"/>
          <p:cNvSpPr txBox="1"/>
          <p:nvPr/>
        </p:nvSpPr>
        <p:spPr>
          <a:xfrm>
            <a:off x="12893040" y="4023360"/>
            <a:ext cx="5212080" cy="274320"/>
          </a:xfrm>
          <a:prstGeom prst="rect">
            <a:avLst/>
          </a:prstGeom>
          <a:noFill/>
        </p:spPr>
        <p:txBody>
          <a:bodyPr wrap="square" lIns="0" rIns="0" tIns="0" bIns="0" anchor="t">
            <a:noAutofit/>
          </a:bodyPr>
          <a:lstStyle/>
          <a:p>
            <a:pPr algn="ctr"/>
            <a:r>
              <a:rPr sz="1000" b="0" i="1">
                <a:solidFill>
                  <a:srgbClr val="64748B"/>
                </a:solidFill>
                <a:latin typeface="Segoe UI"/>
                <a:cs typeface="Segoe UI"/>
              </a:rPr>
              <a:t>Weir / orifice exchange · surcharge returns to the street · mass balance ~1e-8</a:t>
            </a:r>
          </a:p>
        </p:txBody>
      </p:sp>
      <p:sp>
        <p:nvSpPr>
          <p:cNvPr id="271" name="Rounded Rectangle 270"/>
          <p:cNvSpPr/>
          <p:nvPr/>
        </p:nvSpPr>
        <p:spPr>
          <a:xfrm>
            <a:off x="12755880" y="4700016"/>
            <a:ext cx="5413248" cy="1755648"/>
          </a:xfrm>
          <a:prstGeom prst="roundRect">
            <a:avLst>
              <a:gd name="adj" fmla="val 5208"/>
            </a:avLst>
          </a:prstGeom>
          <a:solidFill>
            <a:srgbClr val="FFFFFF"/>
          </a:solidFill>
          <a:ln w="12700">
            <a:solidFill>
              <a:srgbClr val="E6EB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2" name="Rounded Rectangle 271"/>
          <p:cNvSpPr/>
          <p:nvPr/>
        </p:nvSpPr>
        <p:spPr>
          <a:xfrm>
            <a:off x="12874752" y="4846320"/>
            <a:ext cx="1216152" cy="1481328"/>
          </a:xfrm>
          <a:prstGeom prst="roundRect">
            <a:avLst>
              <a:gd name="adj" fmla="val 4511"/>
            </a:avLst>
          </a:prstGeom>
          <a:solidFill>
            <a:srgbClr val="F0FDFA"/>
          </a:solidFill>
          <a:ln w="1270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3" name="Rounded Rectangle 272"/>
          <p:cNvSpPr/>
          <p:nvPr/>
        </p:nvSpPr>
        <p:spPr>
          <a:xfrm>
            <a:off x="13231368" y="4956048"/>
            <a:ext cx="502920" cy="502920"/>
          </a:xfrm>
          <a:prstGeom prst="roundRect">
            <a:avLst>
              <a:gd name="adj" fmla="val 21818"/>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74" name="Picture 273" descr="tower_w.png"/>
          <p:cNvPicPr>
            <a:picLocks noChangeAspect="1"/>
          </p:cNvPicPr>
          <p:nvPr/>
        </p:nvPicPr>
        <p:blipFill>
          <a:blip r:embed="rId104"/>
          <a:stretch>
            <a:fillRect/>
          </a:stretch>
        </p:blipFill>
        <p:spPr>
          <a:xfrm>
            <a:off x="13331952" y="5056632"/>
            <a:ext cx="301752" cy="301752"/>
          </a:xfrm>
          <a:prstGeom prst="rect">
            <a:avLst/>
          </a:prstGeom>
        </p:spPr>
      </p:pic>
      <p:sp>
        <p:nvSpPr>
          <p:cNvPr id="275" name="TextBox 274"/>
          <p:cNvSpPr txBox="1"/>
          <p:nvPr/>
        </p:nvSpPr>
        <p:spPr>
          <a:xfrm>
            <a:off x="12874752" y="5577840"/>
            <a:ext cx="1216152" cy="548640"/>
          </a:xfrm>
          <a:prstGeom prst="rect">
            <a:avLst/>
          </a:prstGeom>
          <a:noFill/>
        </p:spPr>
        <p:txBody>
          <a:bodyPr wrap="square" lIns="0" rIns="0" tIns="0" bIns="0" anchor="t">
            <a:noAutofit/>
          </a:bodyPr>
          <a:lstStyle/>
          <a:p>
            <a:pPr algn="ctr">
              <a:lnSpc>
                <a:spcPct val="95000"/>
              </a:lnSpc>
            </a:pPr>
            <a:r>
              <a:rPr sz="1200" b="1" i="0">
                <a:solidFill>
                  <a:srgbClr val="0B0D11"/>
                </a:solidFill>
                <a:latin typeface="Segoe UI"/>
                <a:cs typeface="Segoe UI"/>
              </a:rPr>
              <a:t>9 VIRTUAL</a:t>
            </a:r>
          </a:p>
          <a:p>
            <a:pPr algn="ctr">
              <a:lnSpc>
                <a:spcPct val="95000"/>
              </a:lnSpc>
            </a:pPr>
            <a:r>
              <a:rPr sz="1200" b="1" i="0">
                <a:solidFill>
                  <a:srgbClr val="0B0D11"/>
                </a:solidFill>
                <a:latin typeface="Segoe UI"/>
                <a:cs typeface="Segoe UI"/>
              </a:rPr>
              <a:t>SENSORS</a:t>
            </a:r>
          </a:p>
        </p:txBody>
      </p:sp>
      <p:sp>
        <p:nvSpPr>
          <p:cNvPr id="276" name="Rounded Rectangle 275"/>
          <p:cNvSpPr/>
          <p:nvPr/>
        </p:nvSpPr>
        <p:spPr>
          <a:xfrm>
            <a:off x="14182344" y="4846320"/>
            <a:ext cx="1216152" cy="1481328"/>
          </a:xfrm>
          <a:prstGeom prst="roundRect">
            <a:avLst>
              <a:gd name="adj" fmla="val 4511"/>
            </a:avLst>
          </a:prstGeom>
          <a:solidFill>
            <a:srgbClr val="F0FDFA"/>
          </a:solidFill>
          <a:ln w="1270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7" name="Rounded Rectangle 276"/>
          <p:cNvSpPr/>
          <p:nvPr/>
        </p:nvSpPr>
        <p:spPr>
          <a:xfrm>
            <a:off x="14538960" y="4956048"/>
            <a:ext cx="502920" cy="502920"/>
          </a:xfrm>
          <a:prstGeom prst="roundRect">
            <a:avLst>
              <a:gd name="adj" fmla="val 21818"/>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78" name="Picture 277" descr="sigma_w.png"/>
          <p:cNvPicPr>
            <a:picLocks noChangeAspect="1"/>
          </p:cNvPicPr>
          <p:nvPr/>
        </p:nvPicPr>
        <p:blipFill>
          <a:blip r:embed="rId105"/>
          <a:stretch>
            <a:fillRect/>
          </a:stretch>
        </p:blipFill>
        <p:spPr>
          <a:xfrm>
            <a:off x="14639544" y="5056632"/>
            <a:ext cx="301752" cy="301752"/>
          </a:xfrm>
          <a:prstGeom prst="rect">
            <a:avLst/>
          </a:prstGeom>
        </p:spPr>
      </p:pic>
      <p:sp>
        <p:nvSpPr>
          <p:cNvPr id="279" name="TextBox 278"/>
          <p:cNvSpPr txBox="1"/>
          <p:nvPr/>
        </p:nvSpPr>
        <p:spPr>
          <a:xfrm>
            <a:off x="14182344" y="5577840"/>
            <a:ext cx="1216152" cy="548640"/>
          </a:xfrm>
          <a:prstGeom prst="rect">
            <a:avLst/>
          </a:prstGeom>
          <a:noFill/>
        </p:spPr>
        <p:txBody>
          <a:bodyPr wrap="square" lIns="0" rIns="0" tIns="0" bIns="0" anchor="t">
            <a:noAutofit/>
          </a:bodyPr>
          <a:lstStyle/>
          <a:p>
            <a:pPr algn="ctr">
              <a:lnSpc>
                <a:spcPct val="95000"/>
              </a:lnSpc>
            </a:pPr>
            <a:r>
              <a:rPr sz="1200" b="1" i="0">
                <a:solidFill>
                  <a:srgbClr val="0B0D11"/>
                </a:solidFill>
                <a:latin typeface="Segoe UI"/>
                <a:cs typeface="Segoe UI"/>
              </a:rPr>
              <a:t>KALMAN</a:t>
            </a:r>
          </a:p>
          <a:p>
            <a:pPr algn="ctr">
              <a:lnSpc>
                <a:spcPct val="95000"/>
              </a:lnSpc>
            </a:pPr>
            <a:r>
              <a:rPr sz="1200" b="1" i="0">
                <a:solidFill>
                  <a:srgbClr val="0B0D11"/>
                </a:solidFill>
                <a:latin typeface="Segoe UI"/>
                <a:cs typeface="Segoe UI"/>
              </a:rPr>
              <a:t>UPDATE</a:t>
            </a:r>
          </a:p>
        </p:txBody>
      </p:sp>
      <p:sp>
        <p:nvSpPr>
          <p:cNvPr id="280" name="Rounded Rectangle 279"/>
          <p:cNvSpPr/>
          <p:nvPr/>
        </p:nvSpPr>
        <p:spPr>
          <a:xfrm>
            <a:off x="15489936" y="4846320"/>
            <a:ext cx="1216152" cy="1481328"/>
          </a:xfrm>
          <a:prstGeom prst="roundRect">
            <a:avLst>
              <a:gd name="adj" fmla="val 4511"/>
            </a:avLst>
          </a:prstGeom>
          <a:solidFill>
            <a:srgbClr val="F0FDFA"/>
          </a:solidFill>
          <a:ln w="1270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1" name="Rounded Rectangle 280"/>
          <p:cNvSpPr/>
          <p:nvPr/>
        </p:nvSpPr>
        <p:spPr>
          <a:xfrm>
            <a:off x="15846552" y="4956048"/>
            <a:ext cx="502920" cy="502920"/>
          </a:xfrm>
          <a:prstGeom prst="roundRect">
            <a:avLst>
              <a:gd name="adj" fmla="val 21818"/>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2" name="Picture 281" descr="ban_w.png"/>
          <p:cNvPicPr>
            <a:picLocks noChangeAspect="1"/>
          </p:cNvPicPr>
          <p:nvPr/>
        </p:nvPicPr>
        <p:blipFill>
          <a:blip r:embed="rId106"/>
          <a:stretch>
            <a:fillRect/>
          </a:stretch>
        </p:blipFill>
        <p:spPr>
          <a:xfrm>
            <a:off x="15947136" y="5056632"/>
            <a:ext cx="301752" cy="301752"/>
          </a:xfrm>
          <a:prstGeom prst="rect">
            <a:avLst/>
          </a:prstGeom>
        </p:spPr>
      </p:pic>
      <p:sp>
        <p:nvSpPr>
          <p:cNvPr id="283" name="TextBox 282"/>
          <p:cNvSpPr txBox="1"/>
          <p:nvPr/>
        </p:nvSpPr>
        <p:spPr>
          <a:xfrm>
            <a:off x="15489936" y="5577840"/>
            <a:ext cx="1216152" cy="548640"/>
          </a:xfrm>
          <a:prstGeom prst="rect">
            <a:avLst/>
          </a:prstGeom>
          <a:noFill/>
        </p:spPr>
        <p:txBody>
          <a:bodyPr wrap="square" lIns="0" rIns="0" tIns="0" bIns="0" anchor="t">
            <a:noAutofit/>
          </a:bodyPr>
          <a:lstStyle/>
          <a:p>
            <a:pPr algn="ctr">
              <a:lnSpc>
                <a:spcPct val="95000"/>
              </a:lnSpc>
            </a:pPr>
            <a:r>
              <a:rPr sz="1200" b="1" i="0">
                <a:solidFill>
                  <a:srgbClr val="0B0D11"/>
                </a:solidFill>
                <a:latin typeface="Segoe UI"/>
                <a:cs typeface="Segoe UI"/>
              </a:rPr>
              <a:t>FAULT</a:t>
            </a:r>
          </a:p>
          <a:p>
            <a:pPr algn="ctr">
              <a:lnSpc>
                <a:spcPct val="95000"/>
              </a:lnSpc>
            </a:pPr>
            <a:r>
              <a:rPr sz="1200" b="1" i="0">
                <a:solidFill>
                  <a:srgbClr val="0B0D11"/>
                </a:solidFill>
                <a:latin typeface="Segoe UI"/>
                <a:cs typeface="Segoe UI"/>
              </a:rPr>
              <a:t>ISOLATION</a:t>
            </a:r>
          </a:p>
        </p:txBody>
      </p:sp>
      <p:sp>
        <p:nvSpPr>
          <p:cNvPr id="284" name="Rounded Rectangle 283"/>
          <p:cNvSpPr/>
          <p:nvPr/>
        </p:nvSpPr>
        <p:spPr>
          <a:xfrm>
            <a:off x="16797528" y="4846320"/>
            <a:ext cx="1216152" cy="1481328"/>
          </a:xfrm>
          <a:prstGeom prst="roundRect">
            <a:avLst>
              <a:gd name="adj" fmla="val 4511"/>
            </a:avLst>
          </a:prstGeom>
          <a:solidFill>
            <a:srgbClr val="F0FDFA"/>
          </a:solidFill>
          <a:ln w="1270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5" name="Rounded Rectangle 284"/>
          <p:cNvSpPr/>
          <p:nvPr/>
        </p:nvSpPr>
        <p:spPr>
          <a:xfrm>
            <a:off x="17154144" y="4956048"/>
            <a:ext cx="502920" cy="502920"/>
          </a:xfrm>
          <a:prstGeom prst="roundRect">
            <a:avLst>
              <a:gd name="adj" fmla="val 21818"/>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6" name="Picture 285" descr="wrench_w.png"/>
          <p:cNvPicPr>
            <a:picLocks noChangeAspect="1"/>
          </p:cNvPicPr>
          <p:nvPr/>
        </p:nvPicPr>
        <p:blipFill>
          <a:blip r:embed="rId107"/>
          <a:stretch>
            <a:fillRect/>
          </a:stretch>
        </p:blipFill>
        <p:spPr>
          <a:xfrm>
            <a:off x="17254728" y="5056632"/>
            <a:ext cx="301752" cy="301752"/>
          </a:xfrm>
          <a:prstGeom prst="rect">
            <a:avLst/>
          </a:prstGeom>
        </p:spPr>
      </p:pic>
      <p:sp>
        <p:nvSpPr>
          <p:cNvPr id="287" name="TextBox 286"/>
          <p:cNvSpPr txBox="1"/>
          <p:nvPr/>
        </p:nvSpPr>
        <p:spPr>
          <a:xfrm>
            <a:off x="16797528" y="5577840"/>
            <a:ext cx="1216152" cy="548640"/>
          </a:xfrm>
          <a:prstGeom prst="rect">
            <a:avLst/>
          </a:prstGeom>
          <a:noFill/>
        </p:spPr>
        <p:txBody>
          <a:bodyPr wrap="square" lIns="0" rIns="0" tIns="0" bIns="0" anchor="t">
            <a:noAutofit/>
          </a:bodyPr>
          <a:lstStyle/>
          <a:p>
            <a:pPr algn="ctr">
              <a:lnSpc>
                <a:spcPct val="95000"/>
              </a:lnSpc>
            </a:pPr>
            <a:r>
              <a:rPr sz="1200" b="1" i="0">
                <a:solidFill>
                  <a:srgbClr val="0B0D11"/>
                </a:solidFill>
                <a:latin typeface="Segoe UI"/>
                <a:cs typeface="Segoe UI"/>
              </a:rPr>
              <a:t>BLOCKAGE</a:t>
            </a:r>
          </a:p>
          <a:p>
            <a:pPr algn="ctr">
              <a:lnSpc>
                <a:spcPct val="95000"/>
              </a:lnSpc>
            </a:pPr>
            <a:r>
              <a:rPr sz="1200" b="1" i="0">
                <a:solidFill>
                  <a:srgbClr val="0B0D11"/>
                </a:solidFill>
                <a:latin typeface="Segoe UI"/>
                <a:cs typeface="Segoe UI"/>
              </a:rPr>
              <a:t>DIAGNOSIS</a:t>
            </a:r>
          </a:p>
        </p:txBody>
      </p:sp>
      <p:sp>
        <p:nvSpPr>
          <p:cNvPr id="288" name="Rounded Rectangle 287"/>
          <p:cNvSpPr/>
          <p:nvPr/>
        </p:nvSpPr>
        <p:spPr>
          <a:xfrm>
            <a:off x="12755880" y="6766560"/>
            <a:ext cx="5413248" cy="1298448"/>
          </a:xfrm>
          <a:prstGeom prst="roundRect">
            <a:avLst>
              <a:gd name="adj" fmla="val 7042"/>
            </a:avLst>
          </a:prstGeom>
          <a:solidFill>
            <a:srgbClr val="FFFFFF"/>
          </a:solidFill>
          <a:ln w="1587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9" name="Rounded Rectangle 288"/>
          <p:cNvSpPr/>
          <p:nvPr/>
        </p:nvSpPr>
        <p:spPr>
          <a:xfrm>
            <a:off x="12911328" y="6949440"/>
            <a:ext cx="1060704" cy="932688"/>
          </a:xfrm>
          <a:prstGeom prst="roundRect">
            <a:avLst>
              <a:gd name="adj" fmla="val 5882"/>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0" name="TextBox 289"/>
          <p:cNvSpPr txBox="1"/>
          <p:nvPr/>
        </p:nvSpPr>
        <p:spPr>
          <a:xfrm>
            <a:off x="12911328" y="6949440"/>
            <a:ext cx="1060704" cy="932688"/>
          </a:xfrm>
          <a:prstGeom prst="rect">
            <a:avLst/>
          </a:prstGeom>
          <a:noFill/>
        </p:spPr>
        <p:txBody>
          <a:bodyPr wrap="square" lIns="0" rIns="0" tIns="0" bIns="0" anchor="ctr">
            <a:noAutofit/>
          </a:bodyPr>
          <a:lstStyle/>
          <a:p>
            <a:pPr algn="ctr">
              <a:lnSpc>
                <a:spcPct val="95000"/>
              </a:lnSpc>
            </a:pPr>
            <a:r>
              <a:rPr sz="1200" b="1" i="0">
                <a:solidFill>
                  <a:srgbClr val="0B0D11"/>
                </a:solidFill>
                <a:latin typeface="Segoe UI"/>
                <a:cs typeface="Segoe UI"/>
              </a:rPr>
              <a:t>OPTICAL</a:t>
            </a:r>
          </a:p>
          <a:p>
            <a:pPr algn="ctr">
              <a:lnSpc>
                <a:spcPct val="95000"/>
              </a:lnSpc>
            </a:pPr>
            <a:r>
              <a:rPr sz="1200" b="1" i="0">
                <a:solidFill>
                  <a:srgbClr val="0B0D11"/>
                </a:solidFill>
                <a:latin typeface="Segoe UI"/>
                <a:cs typeface="Segoe UI"/>
              </a:rPr>
              <a:t>FLOW</a:t>
            </a:r>
          </a:p>
        </p:txBody>
      </p:sp>
      <p:cxnSp>
        <p:nvCxnSpPr>
          <p:cNvPr id="291" name="Connector 290"/>
          <p:cNvCxnSpPr/>
          <p:nvPr/>
        </p:nvCxnSpPr>
        <p:spPr>
          <a:xfrm>
            <a:off x="13999463" y="7415783"/>
            <a:ext cx="201169" cy="0"/>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92" name="Rounded Rectangle 291"/>
          <p:cNvSpPr/>
          <p:nvPr/>
        </p:nvSpPr>
        <p:spPr>
          <a:xfrm>
            <a:off x="14228063" y="6949440"/>
            <a:ext cx="1060704" cy="932688"/>
          </a:xfrm>
          <a:prstGeom prst="roundRect">
            <a:avLst>
              <a:gd name="adj" fmla="val 5882"/>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3" name="TextBox 292"/>
          <p:cNvSpPr txBox="1"/>
          <p:nvPr/>
        </p:nvSpPr>
        <p:spPr>
          <a:xfrm>
            <a:off x="14228063" y="6949440"/>
            <a:ext cx="1060704" cy="932688"/>
          </a:xfrm>
          <a:prstGeom prst="rect">
            <a:avLst/>
          </a:prstGeom>
          <a:noFill/>
        </p:spPr>
        <p:txBody>
          <a:bodyPr wrap="square" lIns="0" rIns="0" tIns="0" bIns="0" anchor="ctr">
            <a:noAutofit/>
          </a:bodyPr>
          <a:lstStyle/>
          <a:p>
            <a:pPr algn="ctr">
              <a:lnSpc>
                <a:spcPct val="95000"/>
              </a:lnSpc>
            </a:pPr>
            <a:r>
              <a:rPr sz="1200" b="1" i="0">
                <a:solidFill>
                  <a:srgbClr val="0B0D11"/>
                </a:solidFill>
                <a:latin typeface="Segoe UI"/>
                <a:cs typeface="Segoe UI"/>
              </a:rPr>
              <a:t>FFT CASCADE</a:t>
            </a:r>
          </a:p>
          <a:p>
            <a:pPr algn="ctr">
              <a:lnSpc>
                <a:spcPct val="95000"/>
              </a:lnSpc>
            </a:pPr>
            <a:r>
              <a:rPr sz="1200" b="1" i="0">
                <a:solidFill>
                  <a:srgbClr val="0B0D11"/>
                </a:solidFill>
                <a:latin typeface="Segoe UI"/>
                <a:cs typeface="Segoe UI"/>
              </a:rPr>
              <a:t>AR(2)</a:t>
            </a:r>
          </a:p>
        </p:txBody>
      </p:sp>
      <p:cxnSp>
        <p:nvCxnSpPr>
          <p:cNvPr id="294" name="Connector 293"/>
          <p:cNvCxnSpPr/>
          <p:nvPr/>
        </p:nvCxnSpPr>
        <p:spPr>
          <a:xfrm>
            <a:off x="15316200" y="7415783"/>
            <a:ext cx="201167" cy="0"/>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95" name="Rounded Rectangle 294"/>
          <p:cNvSpPr/>
          <p:nvPr/>
        </p:nvSpPr>
        <p:spPr>
          <a:xfrm>
            <a:off x="15544800" y="6949440"/>
            <a:ext cx="1060704" cy="932688"/>
          </a:xfrm>
          <a:prstGeom prst="roundRect">
            <a:avLst>
              <a:gd name="adj" fmla="val 5882"/>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6" name="TextBox 295"/>
          <p:cNvSpPr txBox="1"/>
          <p:nvPr/>
        </p:nvSpPr>
        <p:spPr>
          <a:xfrm>
            <a:off x="15544800" y="6949440"/>
            <a:ext cx="1060704" cy="932688"/>
          </a:xfrm>
          <a:prstGeom prst="rect">
            <a:avLst/>
          </a:prstGeom>
          <a:noFill/>
        </p:spPr>
        <p:txBody>
          <a:bodyPr wrap="square" lIns="0" rIns="0" tIns="0" bIns="0" anchor="ctr">
            <a:noAutofit/>
          </a:bodyPr>
          <a:lstStyle/>
          <a:p>
            <a:pPr algn="ctr">
              <a:lnSpc>
                <a:spcPct val="95000"/>
              </a:lnSpc>
            </a:pPr>
            <a:r>
              <a:rPr sz="1200" b="1" i="0">
                <a:solidFill>
                  <a:srgbClr val="0B0D11"/>
                </a:solidFill>
                <a:latin typeface="Segoe UI"/>
                <a:cs typeface="Segoe UI"/>
              </a:rPr>
              <a:t>NOISE</a:t>
            </a:r>
          </a:p>
          <a:p>
            <a:pPr algn="ctr">
              <a:lnSpc>
                <a:spcPct val="95000"/>
              </a:lnSpc>
            </a:pPr>
            <a:r>
              <a:rPr sz="1200" b="1" i="0">
                <a:solidFill>
                  <a:srgbClr val="0B0D11"/>
                </a:solidFill>
                <a:latin typeface="Segoe UI"/>
                <a:cs typeface="Segoe UI"/>
              </a:rPr>
              <a:t>× 20</a:t>
            </a:r>
          </a:p>
        </p:txBody>
      </p:sp>
      <p:cxnSp>
        <p:nvCxnSpPr>
          <p:cNvPr id="297" name="Connector 296"/>
          <p:cNvCxnSpPr/>
          <p:nvPr/>
        </p:nvCxnSpPr>
        <p:spPr>
          <a:xfrm>
            <a:off x="16632936" y="7415783"/>
            <a:ext cx="201168" cy="0"/>
          </a:xfrm>
          <a:prstGeom prst="line">
            <a:avLst/>
          </a:prstGeom>
          <a:ln w="15875">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298" name="Rounded Rectangle 297"/>
          <p:cNvSpPr/>
          <p:nvPr/>
        </p:nvSpPr>
        <p:spPr>
          <a:xfrm>
            <a:off x="16861535" y="6949440"/>
            <a:ext cx="1060704" cy="932688"/>
          </a:xfrm>
          <a:prstGeom prst="roundRect">
            <a:avLst>
              <a:gd name="adj" fmla="val 5882"/>
            </a:avLst>
          </a:prstGeom>
          <a:solidFill>
            <a:srgbClr val="ECFDF5"/>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9" name="TextBox 298"/>
          <p:cNvSpPr txBox="1"/>
          <p:nvPr/>
        </p:nvSpPr>
        <p:spPr>
          <a:xfrm>
            <a:off x="16861535" y="6949440"/>
            <a:ext cx="1060704" cy="932688"/>
          </a:xfrm>
          <a:prstGeom prst="rect">
            <a:avLst/>
          </a:prstGeom>
          <a:noFill/>
        </p:spPr>
        <p:txBody>
          <a:bodyPr wrap="square" lIns="0" rIns="0" tIns="0" bIns="0" anchor="ctr">
            <a:noAutofit/>
          </a:bodyPr>
          <a:lstStyle/>
          <a:p>
            <a:pPr algn="ctr">
              <a:lnSpc>
                <a:spcPct val="95000"/>
              </a:lnSpc>
            </a:pPr>
            <a:r>
              <a:rPr sz="1200" b="1" i="0">
                <a:solidFill>
                  <a:srgbClr val="0B0D11"/>
                </a:solidFill>
                <a:latin typeface="Segoe UI"/>
                <a:cs typeface="Segoe UI"/>
              </a:rPr>
              <a:t>NWP</a:t>
            </a:r>
          </a:p>
          <a:p>
            <a:pPr algn="ctr">
              <a:lnSpc>
                <a:spcPct val="95000"/>
              </a:lnSpc>
            </a:pPr>
            <a:r>
              <a:rPr sz="1200" b="1" i="0">
                <a:solidFill>
                  <a:srgbClr val="0B0D11"/>
                </a:solidFill>
                <a:latin typeface="Segoe UI"/>
                <a:cs typeface="Segoe UI"/>
              </a:rPr>
              <a:t>BLEND</a:t>
            </a:r>
          </a:p>
        </p:txBody>
      </p:sp>
      <p:sp>
        <p:nvSpPr>
          <p:cNvPr id="300" name="Rounded Rectangle 299"/>
          <p:cNvSpPr/>
          <p:nvPr/>
        </p:nvSpPr>
        <p:spPr>
          <a:xfrm>
            <a:off x="12755880" y="8357616"/>
            <a:ext cx="5413248" cy="1591056"/>
          </a:xfrm>
          <a:prstGeom prst="roundRect">
            <a:avLst>
              <a:gd name="adj" fmla="val 5747"/>
            </a:avLst>
          </a:prstGeom>
          <a:solidFill>
            <a:srgbClr val="FFFFFF"/>
          </a:solidFill>
          <a:ln w="12700">
            <a:solidFill>
              <a:srgbClr val="E6EB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1" name="Rounded Rectangle 300"/>
          <p:cNvSpPr/>
          <p:nvPr/>
        </p:nvSpPr>
        <p:spPr>
          <a:xfrm>
            <a:off x="12847320" y="8503920"/>
            <a:ext cx="1664208" cy="1325880"/>
          </a:xfrm>
          <a:prstGeom prst="roundRect">
            <a:avLst>
              <a:gd name="adj" fmla="val 4137"/>
            </a:avLst>
          </a:prstGeom>
          <a:solidFill>
            <a:srgbClr val="F8FAFC"/>
          </a:solidFill>
          <a:ln w="12700">
            <a:solidFill>
              <a:srgbClr val="A5B4F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02" name="Picture 301" descr="megaphone_k.png"/>
          <p:cNvPicPr>
            <a:picLocks noChangeAspect="1"/>
          </p:cNvPicPr>
          <p:nvPr/>
        </p:nvPicPr>
        <p:blipFill>
          <a:blip r:embed="rId108"/>
          <a:stretch>
            <a:fillRect/>
          </a:stretch>
        </p:blipFill>
        <p:spPr>
          <a:xfrm>
            <a:off x="12957048" y="8942832"/>
            <a:ext cx="402336" cy="402336"/>
          </a:xfrm>
          <a:prstGeom prst="rect">
            <a:avLst/>
          </a:prstGeom>
        </p:spPr>
      </p:pic>
      <p:sp>
        <p:nvSpPr>
          <p:cNvPr id="303" name="TextBox 302"/>
          <p:cNvSpPr txBox="1"/>
          <p:nvPr/>
        </p:nvSpPr>
        <p:spPr>
          <a:xfrm>
            <a:off x="13414248" y="8503920"/>
            <a:ext cx="1078992" cy="1325880"/>
          </a:xfrm>
          <a:prstGeom prst="rect">
            <a:avLst/>
          </a:prstGeom>
          <a:noFill/>
        </p:spPr>
        <p:txBody>
          <a:bodyPr wrap="square" lIns="0" rIns="0" tIns="0" bIns="0" anchor="ctr">
            <a:noAutofit/>
          </a:bodyPr>
          <a:lstStyle/>
          <a:p>
            <a:pPr algn="l">
              <a:lnSpc>
                <a:spcPct val="95000"/>
              </a:lnSpc>
            </a:pPr>
            <a:r>
              <a:rPr sz="1250" b="1" i="0">
                <a:solidFill>
                  <a:srgbClr val="0B0D11"/>
                </a:solidFill>
                <a:latin typeface="Segoe UI"/>
                <a:cs typeface="Segoe UI"/>
              </a:rPr>
              <a:t>CAP 1.2</a:t>
            </a:r>
          </a:p>
          <a:p>
            <a:pPr algn="l">
              <a:lnSpc>
                <a:spcPct val="95000"/>
              </a:lnSpc>
            </a:pPr>
            <a:r>
              <a:rPr sz="1250" b="1" i="0">
                <a:solidFill>
                  <a:srgbClr val="0B0D11"/>
                </a:solidFill>
                <a:latin typeface="Segoe UI"/>
                <a:cs typeface="Segoe UI"/>
              </a:rPr>
              <a:t>ALERTS</a:t>
            </a:r>
          </a:p>
        </p:txBody>
      </p:sp>
      <p:sp>
        <p:nvSpPr>
          <p:cNvPr id="304" name="Rounded Rectangle 303"/>
          <p:cNvSpPr/>
          <p:nvPr/>
        </p:nvSpPr>
        <p:spPr>
          <a:xfrm>
            <a:off x="14602968" y="8503920"/>
            <a:ext cx="1664208" cy="1325880"/>
          </a:xfrm>
          <a:prstGeom prst="roundRect">
            <a:avLst>
              <a:gd name="adj" fmla="val 4137"/>
            </a:avLst>
          </a:prstGeom>
          <a:solidFill>
            <a:srgbClr val="F8FAFC"/>
          </a:solidFill>
          <a:ln w="12700">
            <a:solidFill>
              <a:srgbClr val="A5B4F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05" name="Picture 304" descr="plug_k.png"/>
          <p:cNvPicPr>
            <a:picLocks noChangeAspect="1"/>
          </p:cNvPicPr>
          <p:nvPr/>
        </p:nvPicPr>
        <p:blipFill>
          <a:blip r:embed="rId109"/>
          <a:stretch>
            <a:fillRect/>
          </a:stretch>
        </p:blipFill>
        <p:spPr>
          <a:xfrm>
            <a:off x="14712696" y="8942832"/>
            <a:ext cx="402336" cy="402336"/>
          </a:xfrm>
          <a:prstGeom prst="rect">
            <a:avLst/>
          </a:prstGeom>
        </p:spPr>
      </p:pic>
      <p:sp>
        <p:nvSpPr>
          <p:cNvPr id="306" name="TextBox 305"/>
          <p:cNvSpPr txBox="1"/>
          <p:nvPr/>
        </p:nvSpPr>
        <p:spPr>
          <a:xfrm>
            <a:off x="15169896" y="8503920"/>
            <a:ext cx="1078992" cy="1325880"/>
          </a:xfrm>
          <a:prstGeom prst="rect">
            <a:avLst/>
          </a:prstGeom>
          <a:noFill/>
        </p:spPr>
        <p:txBody>
          <a:bodyPr wrap="square" lIns="0" rIns="0" tIns="0" bIns="0" anchor="ctr">
            <a:noAutofit/>
          </a:bodyPr>
          <a:lstStyle/>
          <a:p>
            <a:pPr algn="l">
              <a:lnSpc>
                <a:spcPct val="95000"/>
              </a:lnSpc>
            </a:pPr>
            <a:r>
              <a:rPr sz="1250" b="1" i="0">
                <a:solidFill>
                  <a:srgbClr val="0B0D11"/>
                </a:solidFill>
                <a:latin typeface="Segoe UI"/>
                <a:cs typeface="Segoe UI"/>
              </a:rPr>
              <a:t>REST API</a:t>
            </a:r>
          </a:p>
          <a:p>
            <a:pPr algn="l">
              <a:lnSpc>
                <a:spcPct val="95000"/>
              </a:lnSpc>
            </a:pPr>
            <a:r>
              <a:rPr sz="1250" b="1" i="0">
                <a:solidFill>
                  <a:srgbClr val="0B0D11"/>
                </a:solidFill>
                <a:latin typeface="Segoe UI"/>
                <a:cs typeface="Segoe UI"/>
              </a:rPr>
              <a:t>· GeoJSON</a:t>
            </a:r>
          </a:p>
        </p:txBody>
      </p:sp>
      <p:sp>
        <p:nvSpPr>
          <p:cNvPr id="307" name="Rounded Rectangle 306"/>
          <p:cNvSpPr/>
          <p:nvPr/>
        </p:nvSpPr>
        <p:spPr>
          <a:xfrm>
            <a:off x="16358616" y="8503920"/>
            <a:ext cx="1664208" cy="1325880"/>
          </a:xfrm>
          <a:prstGeom prst="roundRect">
            <a:avLst>
              <a:gd name="adj" fmla="val 4137"/>
            </a:avLst>
          </a:prstGeom>
          <a:solidFill>
            <a:srgbClr val="F8FAFC"/>
          </a:solidFill>
          <a:ln w="12700">
            <a:solidFill>
              <a:srgbClr val="A5B4F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08" name="Picture 307" descr="key_k.png"/>
          <p:cNvPicPr>
            <a:picLocks noChangeAspect="1"/>
          </p:cNvPicPr>
          <p:nvPr/>
        </p:nvPicPr>
        <p:blipFill>
          <a:blip r:embed="rId110"/>
          <a:stretch>
            <a:fillRect/>
          </a:stretch>
        </p:blipFill>
        <p:spPr>
          <a:xfrm>
            <a:off x="16468344" y="8942832"/>
            <a:ext cx="402336" cy="402336"/>
          </a:xfrm>
          <a:prstGeom prst="rect">
            <a:avLst/>
          </a:prstGeom>
        </p:spPr>
      </p:pic>
      <p:sp>
        <p:nvSpPr>
          <p:cNvPr id="309" name="TextBox 308"/>
          <p:cNvSpPr txBox="1"/>
          <p:nvPr/>
        </p:nvSpPr>
        <p:spPr>
          <a:xfrm>
            <a:off x="16925544" y="8503920"/>
            <a:ext cx="1078992" cy="1325880"/>
          </a:xfrm>
          <a:prstGeom prst="rect">
            <a:avLst/>
          </a:prstGeom>
          <a:noFill/>
        </p:spPr>
        <p:txBody>
          <a:bodyPr wrap="square" lIns="0" rIns="0" tIns="0" bIns="0" anchor="ctr">
            <a:noAutofit/>
          </a:bodyPr>
          <a:lstStyle/>
          <a:p>
            <a:pPr algn="l">
              <a:lnSpc>
                <a:spcPct val="95000"/>
              </a:lnSpc>
            </a:pPr>
            <a:r>
              <a:rPr sz="1250" b="1" i="0">
                <a:solidFill>
                  <a:srgbClr val="0B0D11"/>
                </a:solidFill>
                <a:latin typeface="Segoe UI"/>
                <a:cs typeface="Segoe UI"/>
              </a:rPr>
              <a:t>RBAC</a:t>
            </a:r>
          </a:p>
          <a:p>
            <a:pPr algn="l">
              <a:lnSpc>
                <a:spcPct val="95000"/>
              </a:lnSpc>
            </a:pPr>
            <a:r>
              <a:rPr sz="1250" b="1" i="0">
                <a:solidFill>
                  <a:srgbClr val="0B0D11"/>
                </a:solidFill>
                <a:latin typeface="Segoe UI"/>
                <a:cs typeface="Segoe UI"/>
              </a:rPr>
              <a:t>· 6 ROLES</a:t>
            </a:r>
          </a:p>
        </p:txBody>
      </p:sp>
      <p:sp>
        <p:nvSpPr>
          <p:cNvPr id="310" name="Oval 309"/>
          <p:cNvSpPr/>
          <p:nvPr/>
        </p:nvSpPr>
        <p:spPr>
          <a:xfrm>
            <a:off x="82295" y="630936"/>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1</a:t>
            </a:r>
          </a:p>
        </p:txBody>
      </p:sp>
      <p:sp>
        <p:nvSpPr>
          <p:cNvPr id="311" name="Rectangle 310"/>
          <p:cNvSpPr/>
          <p:nvPr/>
        </p:nvSpPr>
        <p:spPr>
          <a:xfrm>
            <a:off x="448056" y="658368"/>
            <a:ext cx="2743200"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12" name="Picture 311" descr="layers_w.png"/>
          <p:cNvPicPr>
            <a:picLocks noChangeAspect="1"/>
          </p:cNvPicPr>
          <p:nvPr/>
        </p:nvPicPr>
        <p:blipFill>
          <a:blip r:embed="rId82"/>
          <a:stretch>
            <a:fillRect/>
          </a:stretch>
        </p:blipFill>
        <p:spPr>
          <a:xfrm>
            <a:off x="539496" y="708659"/>
            <a:ext cx="182880" cy="182880"/>
          </a:xfrm>
          <a:prstGeom prst="rect">
            <a:avLst/>
          </a:prstGeom>
        </p:spPr>
      </p:pic>
      <p:sp>
        <p:nvSpPr>
          <p:cNvPr id="313" name="TextBox 312"/>
          <p:cNvSpPr txBox="1"/>
          <p:nvPr/>
        </p:nvSpPr>
        <p:spPr>
          <a:xfrm>
            <a:off x="777240" y="658368"/>
            <a:ext cx="2377440"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SYSTEM ARCHITECTURE</a:t>
            </a:r>
          </a:p>
        </p:txBody>
      </p:sp>
      <p:sp>
        <p:nvSpPr>
          <p:cNvPr id="314" name="Oval 313"/>
          <p:cNvSpPr/>
          <p:nvPr/>
        </p:nvSpPr>
        <p:spPr>
          <a:xfrm>
            <a:off x="82295" y="5660136"/>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2</a:t>
            </a:r>
          </a:p>
        </p:txBody>
      </p:sp>
      <p:sp>
        <p:nvSpPr>
          <p:cNvPr id="315" name="Rectangle 314"/>
          <p:cNvSpPr/>
          <p:nvPr/>
        </p:nvSpPr>
        <p:spPr>
          <a:xfrm>
            <a:off x="448056" y="5687568"/>
            <a:ext cx="2743200"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16" name="Picture 315" descr="brain_w.png"/>
          <p:cNvPicPr>
            <a:picLocks noChangeAspect="1"/>
          </p:cNvPicPr>
          <p:nvPr/>
        </p:nvPicPr>
        <p:blipFill>
          <a:blip r:embed="rId81"/>
          <a:stretch>
            <a:fillRect/>
          </a:stretch>
        </p:blipFill>
        <p:spPr>
          <a:xfrm>
            <a:off x="539496" y="5737859"/>
            <a:ext cx="182880" cy="182880"/>
          </a:xfrm>
          <a:prstGeom prst="rect">
            <a:avLst/>
          </a:prstGeom>
        </p:spPr>
      </p:pic>
      <p:sp>
        <p:nvSpPr>
          <p:cNvPr id="317" name="TextBox 316"/>
          <p:cNvSpPr txBox="1"/>
          <p:nvPr/>
        </p:nvSpPr>
        <p:spPr>
          <a:xfrm>
            <a:off x="777240" y="5687568"/>
            <a:ext cx="2377440"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AI FLOOD SURROGATE</a:t>
            </a:r>
          </a:p>
        </p:txBody>
      </p:sp>
      <p:sp>
        <p:nvSpPr>
          <p:cNvPr id="318" name="Oval 317"/>
          <p:cNvSpPr/>
          <p:nvPr/>
        </p:nvSpPr>
        <p:spPr>
          <a:xfrm>
            <a:off x="82295" y="8641080"/>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3</a:t>
            </a:r>
          </a:p>
        </p:txBody>
      </p:sp>
      <p:sp>
        <p:nvSpPr>
          <p:cNvPr id="319" name="Rectangle 318"/>
          <p:cNvSpPr/>
          <p:nvPr/>
        </p:nvSpPr>
        <p:spPr>
          <a:xfrm>
            <a:off x="448056" y="8668512"/>
            <a:ext cx="2103120"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20" name="Picture 319" descr="shield_w.png"/>
          <p:cNvPicPr>
            <a:picLocks noChangeAspect="1"/>
          </p:cNvPicPr>
          <p:nvPr/>
        </p:nvPicPr>
        <p:blipFill>
          <a:blip r:embed="rId111"/>
          <a:stretch>
            <a:fillRect/>
          </a:stretch>
        </p:blipFill>
        <p:spPr>
          <a:xfrm>
            <a:off x="539496" y="8718804"/>
            <a:ext cx="182880" cy="182880"/>
          </a:xfrm>
          <a:prstGeom prst="rect">
            <a:avLst/>
          </a:prstGeom>
        </p:spPr>
      </p:pic>
      <p:sp>
        <p:nvSpPr>
          <p:cNvPr id="321" name="TextBox 320"/>
          <p:cNvSpPr txBox="1"/>
          <p:nvPr/>
        </p:nvSpPr>
        <p:spPr>
          <a:xfrm>
            <a:off x="777240" y="8668512"/>
            <a:ext cx="1737360"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DATA HONESTY</a:t>
            </a:r>
          </a:p>
        </p:txBody>
      </p:sp>
      <p:sp>
        <p:nvSpPr>
          <p:cNvPr id="322" name="Oval 321"/>
          <p:cNvSpPr/>
          <p:nvPr/>
        </p:nvSpPr>
        <p:spPr>
          <a:xfrm>
            <a:off x="6190488" y="630936"/>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4</a:t>
            </a:r>
          </a:p>
        </p:txBody>
      </p:sp>
      <p:sp>
        <p:nvSpPr>
          <p:cNvPr id="323" name="Rectangle 322"/>
          <p:cNvSpPr/>
          <p:nvPr/>
        </p:nvSpPr>
        <p:spPr>
          <a:xfrm>
            <a:off x="6556248" y="658368"/>
            <a:ext cx="3749039"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24" name="Picture 323" descr="refresh_w.png"/>
          <p:cNvPicPr>
            <a:picLocks noChangeAspect="1"/>
          </p:cNvPicPr>
          <p:nvPr/>
        </p:nvPicPr>
        <p:blipFill>
          <a:blip r:embed="rId75"/>
          <a:stretch>
            <a:fillRect/>
          </a:stretch>
        </p:blipFill>
        <p:spPr>
          <a:xfrm>
            <a:off x="6647688" y="708659"/>
            <a:ext cx="182880" cy="182880"/>
          </a:xfrm>
          <a:prstGeom prst="rect">
            <a:avLst/>
          </a:prstGeom>
        </p:spPr>
      </p:pic>
      <p:sp>
        <p:nvSpPr>
          <p:cNvPr id="325" name="TextBox 324"/>
          <p:cNvSpPr txBox="1"/>
          <p:nvPr/>
        </p:nvSpPr>
        <p:spPr>
          <a:xfrm>
            <a:off x="6885432" y="658368"/>
            <a:ext cx="3383279"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FORECAST CYCLE — EVERY 5 MINUTES</a:t>
            </a:r>
          </a:p>
        </p:txBody>
      </p:sp>
      <p:sp>
        <p:nvSpPr>
          <p:cNvPr id="326" name="Oval 325"/>
          <p:cNvSpPr/>
          <p:nvPr/>
        </p:nvSpPr>
        <p:spPr>
          <a:xfrm>
            <a:off x="5394959" y="8805672"/>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5</a:t>
            </a:r>
          </a:p>
        </p:txBody>
      </p:sp>
      <p:sp>
        <p:nvSpPr>
          <p:cNvPr id="327" name="Rectangle 326"/>
          <p:cNvSpPr/>
          <p:nvPr/>
        </p:nvSpPr>
        <p:spPr>
          <a:xfrm>
            <a:off x="5760720" y="8833104"/>
            <a:ext cx="3383280"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28" name="Picture 327" descr="mountain_w.png"/>
          <p:cNvPicPr>
            <a:picLocks noChangeAspect="1"/>
          </p:cNvPicPr>
          <p:nvPr/>
        </p:nvPicPr>
        <p:blipFill>
          <a:blip r:embed="rId72"/>
          <a:stretch>
            <a:fillRect/>
          </a:stretch>
        </p:blipFill>
        <p:spPr>
          <a:xfrm>
            <a:off x="5852159" y="8883396"/>
            <a:ext cx="182880" cy="182880"/>
          </a:xfrm>
          <a:prstGeom prst="rect">
            <a:avLst/>
          </a:prstGeom>
        </p:spPr>
      </p:pic>
      <p:sp>
        <p:nvSpPr>
          <p:cNvPr id="329" name="TextBox 328"/>
          <p:cNvSpPr txBox="1"/>
          <p:nvPr/>
        </p:nvSpPr>
        <p:spPr>
          <a:xfrm>
            <a:off x="6089904" y="8833104"/>
            <a:ext cx="3017520"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TERRAIN &amp; DRAIN NETWORK BUILD</a:t>
            </a:r>
          </a:p>
        </p:txBody>
      </p:sp>
      <p:sp>
        <p:nvSpPr>
          <p:cNvPr id="330" name="Oval 329"/>
          <p:cNvSpPr/>
          <p:nvPr/>
        </p:nvSpPr>
        <p:spPr>
          <a:xfrm>
            <a:off x="12755880" y="2075688"/>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6</a:t>
            </a:r>
          </a:p>
        </p:txBody>
      </p:sp>
      <p:sp>
        <p:nvSpPr>
          <p:cNvPr id="331" name="Rectangle 330"/>
          <p:cNvSpPr/>
          <p:nvPr/>
        </p:nvSpPr>
        <p:spPr>
          <a:xfrm>
            <a:off x="13121640" y="2103120"/>
            <a:ext cx="2926080"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32" name="Picture 331" descr="waves_w.png"/>
          <p:cNvPicPr>
            <a:picLocks noChangeAspect="1"/>
          </p:cNvPicPr>
          <p:nvPr/>
        </p:nvPicPr>
        <p:blipFill>
          <a:blip r:embed="rId73"/>
          <a:stretch>
            <a:fillRect/>
          </a:stretch>
        </p:blipFill>
        <p:spPr>
          <a:xfrm>
            <a:off x="13213080" y="2153412"/>
            <a:ext cx="182880" cy="182880"/>
          </a:xfrm>
          <a:prstGeom prst="rect">
            <a:avLst/>
          </a:prstGeom>
        </p:spPr>
      </p:pic>
      <p:sp>
        <p:nvSpPr>
          <p:cNvPr id="333" name="TextBox 332"/>
          <p:cNvSpPr txBox="1"/>
          <p:nvPr/>
        </p:nvSpPr>
        <p:spPr>
          <a:xfrm>
            <a:off x="13450824" y="2103120"/>
            <a:ext cx="2560320"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COUPLED 1D / 2D PHYSICS</a:t>
            </a:r>
          </a:p>
        </p:txBody>
      </p:sp>
      <p:sp>
        <p:nvSpPr>
          <p:cNvPr id="334" name="Oval 333"/>
          <p:cNvSpPr/>
          <p:nvPr/>
        </p:nvSpPr>
        <p:spPr>
          <a:xfrm>
            <a:off x="12755880" y="4526280"/>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7</a:t>
            </a:r>
          </a:p>
        </p:txBody>
      </p:sp>
      <p:sp>
        <p:nvSpPr>
          <p:cNvPr id="335" name="Rectangle 334"/>
          <p:cNvSpPr/>
          <p:nvPr/>
        </p:nvSpPr>
        <p:spPr>
          <a:xfrm>
            <a:off x="13121640" y="4553712"/>
            <a:ext cx="3520440"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36" name="Picture 335" descr="refresh_w.png"/>
          <p:cNvPicPr>
            <a:picLocks noChangeAspect="1"/>
          </p:cNvPicPr>
          <p:nvPr/>
        </p:nvPicPr>
        <p:blipFill>
          <a:blip r:embed="rId75"/>
          <a:stretch>
            <a:fillRect/>
          </a:stretch>
        </p:blipFill>
        <p:spPr>
          <a:xfrm>
            <a:off x="13213080" y="4604004"/>
            <a:ext cx="182880" cy="182880"/>
          </a:xfrm>
          <a:prstGeom prst="rect">
            <a:avLst/>
          </a:prstGeom>
        </p:spPr>
      </p:pic>
      <p:sp>
        <p:nvSpPr>
          <p:cNvPr id="337" name="TextBox 336"/>
          <p:cNvSpPr txBox="1"/>
          <p:nvPr/>
        </p:nvSpPr>
        <p:spPr>
          <a:xfrm>
            <a:off x="13450824" y="4553712"/>
            <a:ext cx="3154680"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CLOSED-LOOP DATA ASSIMILATION</a:t>
            </a:r>
          </a:p>
        </p:txBody>
      </p:sp>
      <p:sp>
        <p:nvSpPr>
          <p:cNvPr id="338" name="Rounded Rectangle 337"/>
          <p:cNvSpPr/>
          <p:nvPr/>
        </p:nvSpPr>
        <p:spPr>
          <a:xfrm>
            <a:off x="16715232" y="4590288"/>
            <a:ext cx="1417320" cy="210312"/>
          </a:xfrm>
          <a:prstGeom prst="roundRect">
            <a:avLst>
              <a:gd name="adj" fmla="val 21739"/>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00" b="1" i="0" spc="40">
                <a:solidFill>
                  <a:srgbClr val="059669"/>
                </a:solidFill>
                <a:latin typeface="Segoe UI"/>
                <a:cs typeface="Segoe UI"/>
              </a:rPr>
              <a:t>ERROR 19.9 → 2.7 cm</a:t>
            </a:r>
          </a:p>
        </p:txBody>
      </p:sp>
      <p:sp>
        <p:nvSpPr>
          <p:cNvPr id="339" name="Oval 338"/>
          <p:cNvSpPr/>
          <p:nvPr/>
        </p:nvSpPr>
        <p:spPr>
          <a:xfrm>
            <a:off x="12755880" y="6592824"/>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8</a:t>
            </a:r>
          </a:p>
        </p:txBody>
      </p:sp>
      <p:sp>
        <p:nvSpPr>
          <p:cNvPr id="340" name="Rectangle 339"/>
          <p:cNvSpPr/>
          <p:nvPr/>
        </p:nvSpPr>
        <p:spPr>
          <a:xfrm>
            <a:off x="13121640" y="6620256"/>
            <a:ext cx="2560320"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41" name="Picture 340" descr="radar_w.png"/>
          <p:cNvPicPr>
            <a:picLocks noChangeAspect="1"/>
          </p:cNvPicPr>
          <p:nvPr/>
        </p:nvPicPr>
        <p:blipFill>
          <a:blip r:embed="rId74"/>
          <a:stretch>
            <a:fillRect/>
          </a:stretch>
        </p:blipFill>
        <p:spPr>
          <a:xfrm>
            <a:off x="13213080" y="6670548"/>
            <a:ext cx="182880" cy="182880"/>
          </a:xfrm>
          <a:prstGeom prst="rect">
            <a:avLst/>
          </a:prstGeom>
        </p:spPr>
      </p:pic>
      <p:sp>
        <p:nvSpPr>
          <p:cNvPr id="342" name="TextBox 341"/>
          <p:cNvSpPr txBox="1"/>
          <p:nvPr/>
        </p:nvSpPr>
        <p:spPr>
          <a:xfrm>
            <a:off x="13450824" y="6620256"/>
            <a:ext cx="2194560"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STEPS RAIN NOWCAST</a:t>
            </a:r>
          </a:p>
        </p:txBody>
      </p:sp>
      <p:sp>
        <p:nvSpPr>
          <p:cNvPr id="343" name="Oval 342"/>
          <p:cNvSpPr/>
          <p:nvPr/>
        </p:nvSpPr>
        <p:spPr>
          <a:xfrm>
            <a:off x="12755880" y="8183880"/>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9</a:t>
            </a:r>
          </a:p>
        </p:txBody>
      </p:sp>
      <p:sp>
        <p:nvSpPr>
          <p:cNvPr id="344" name="Rectangle 343"/>
          <p:cNvSpPr/>
          <p:nvPr/>
        </p:nvSpPr>
        <p:spPr>
          <a:xfrm>
            <a:off x="13121640" y="8211312"/>
            <a:ext cx="2834640"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45" name="Picture 344" descr="plug_w.png"/>
          <p:cNvPicPr>
            <a:picLocks noChangeAspect="1"/>
          </p:cNvPicPr>
          <p:nvPr/>
        </p:nvPicPr>
        <p:blipFill>
          <a:blip r:embed="rId112"/>
          <a:stretch>
            <a:fillRect/>
          </a:stretch>
        </p:blipFill>
        <p:spPr>
          <a:xfrm>
            <a:off x="13213080" y="8261604"/>
            <a:ext cx="182880" cy="182880"/>
          </a:xfrm>
          <a:prstGeom prst="rect">
            <a:avLst/>
          </a:prstGeom>
        </p:spPr>
      </p:pic>
      <p:sp>
        <p:nvSpPr>
          <p:cNvPr id="346" name="TextBox 345"/>
          <p:cNvSpPr txBox="1"/>
          <p:nvPr/>
        </p:nvSpPr>
        <p:spPr>
          <a:xfrm>
            <a:off x="13450824" y="8211312"/>
            <a:ext cx="2468880"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PLATFORM &amp; INTEGRATION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1">
            <a:extLst>
              <a:ext uri="{FF2B5EF4-FFF2-40B4-BE49-F238E27FC236}">
                <a16:creationId xmlns:a16="http://schemas.microsoft.com/office/drawing/2014/main" id="{132E3366-8E7A-EE1F-C1B9-352BDE7B9F8A}"/>
              </a:ext>
            </a:extLst>
          </p:cNvPr>
          <p:cNvGrpSpPr/>
          <p:nvPr/>
        </p:nvGrpSpPr>
        <p:grpSpPr>
          <a:xfrm>
            <a:off x="0" y="9921240"/>
            <a:ext cx="18288000" cy="387991"/>
            <a:chOff x="0" y="0"/>
            <a:chExt cx="24384000" cy="730669"/>
          </a:xfrm>
        </p:grpSpPr>
        <p:sp>
          <p:nvSpPr>
            <p:cNvPr id="5" name="Freeform 22">
              <a:extLst>
                <a:ext uri="{FF2B5EF4-FFF2-40B4-BE49-F238E27FC236}">
                  <a16:creationId xmlns:a16="http://schemas.microsoft.com/office/drawing/2014/main" id="{75C6426F-7574-84DF-A598-0B49D6263AFA}"/>
                </a:ext>
              </a:extLst>
            </p:cNvPr>
            <p:cNvSpPr/>
            <p:nvPr/>
          </p:nvSpPr>
          <p:spPr>
            <a:xfrm>
              <a:off x="0" y="0"/>
              <a:ext cx="24384000" cy="730377"/>
            </a:xfrm>
            <a:custGeom>
              <a:avLst/>
              <a:gdLst/>
              <a:ahLst/>
              <a:cxnLst/>
              <a:rect l="l" t="t" r="r" b="b"/>
              <a:pathLst>
                <a:path w="24384000" h="730377">
                  <a:moveTo>
                    <a:pt x="24384000" y="730377"/>
                  </a:moveTo>
                  <a:lnTo>
                    <a:pt x="0" y="730377"/>
                  </a:lnTo>
                  <a:lnTo>
                    <a:pt x="0" y="0"/>
                  </a:lnTo>
                  <a:lnTo>
                    <a:pt x="24384000" y="0"/>
                  </a:lnTo>
                  <a:lnTo>
                    <a:pt x="24384000" y="730377"/>
                  </a:lnTo>
                  <a:close/>
                </a:path>
              </a:pathLst>
            </a:custGeom>
            <a:solidFill>
              <a:srgbClr val="0070C0"/>
            </a:solidFill>
          </p:spPr>
        </p:sp>
      </p:grpSp>
      <p:sp>
        <p:nvSpPr>
          <p:cNvPr id="2" name="box2"/>
          <p:cNvSpPr/>
          <p:nvPr/>
        </p:nvSpPr>
        <p:spPr>
          <a:xfrm>
            <a:off x="0" y="0"/>
            <a:ext cx="18288000" cy="10287000"/>
          </a:xfrm>
          <a:prstGeom prst="rect">
            <a:avLst/>
          </a:prstGeom>
          <a:solidFill>
            <a:srgbClr val="FFFFFF"/>
          </a:solidFill>
          <a:ln>
            <a:noFill/>
          </a:ln>
        </p:spPr>
        <p:txBody>
          <a:bodyPr/>
          <a:lstStyle/>
          <a:p>
            <a:endParaRPr/>
          </a:p>
        </p:txBody>
      </p:sp>
      <p:sp>
        <p:nvSpPr>
          <p:cNvPr id="274" name="txt274"/>
          <p:cNvSpPr txBox="1"/>
          <p:nvPr/>
        </p:nvSpPr>
        <p:spPr>
          <a:xfrm>
            <a:off x="18081916" y="10058400"/>
            <a:ext cx="103441" cy="160020"/>
          </a:xfrm>
          <a:prstGeom prst="rect">
            <a:avLst/>
          </a:prstGeom>
          <a:noFill/>
        </p:spPr>
        <p:txBody>
          <a:bodyPr wrap="none" lIns="0" tIns="0" rIns="0" bIns="0" anchor="t">
            <a:noAutofit/>
          </a:bodyPr>
          <a:lstStyle/>
          <a:p>
            <a:pPr algn="l">
              <a:lnSpc>
                <a:spcPct val="120000"/>
              </a:lnSpc>
            </a:pPr>
            <a:r>
              <a:rPr lang="en-US" sz="945" b="1" i="0" dirty="0">
                <a:solidFill>
                  <a:srgbClr val="FFFFFF"/>
                </a:solidFill>
                <a:latin typeface="Segoe UI"/>
                <a:cs typeface="Segoe UI"/>
              </a:rPr>
              <a:t>4</a:t>
            </a:r>
          </a:p>
        </p:txBody>
      </p:sp>
      <p:grpSp>
        <p:nvGrpSpPr>
          <p:cNvPr id="9" name="Group 12">
            <a:extLst>
              <a:ext uri="{FF2B5EF4-FFF2-40B4-BE49-F238E27FC236}">
                <a16:creationId xmlns:a16="http://schemas.microsoft.com/office/drawing/2014/main" id="{45F68338-67B1-82F2-9ED8-5FF833D658B1}"/>
              </a:ext>
            </a:extLst>
          </p:cNvPr>
          <p:cNvGrpSpPr/>
          <p:nvPr/>
        </p:nvGrpSpPr>
        <p:grpSpPr>
          <a:xfrm>
            <a:off x="16230600" y="-17141"/>
            <a:ext cx="1981200" cy="760091"/>
            <a:chOff x="0" y="0"/>
            <a:chExt cx="4499737" cy="1941335"/>
          </a:xfrm>
        </p:grpSpPr>
        <p:sp>
          <p:nvSpPr>
            <p:cNvPr id="10" name="Freeform 13">
              <a:extLst>
                <a:ext uri="{FF2B5EF4-FFF2-40B4-BE49-F238E27FC236}">
                  <a16:creationId xmlns:a16="http://schemas.microsoft.com/office/drawing/2014/main" id="{91FB912E-8CD5-B6B8-5D23-5AE5F67B69BC}"/>
                </a:ext>
              </a:extLst>
            </p:cNvPr>
            <p:cNvSpPr/>
            <p:nvPr/>
          </p:nvSpPr>
          <p:spPr>
            <a:xfrm>
              <a:off x="0" y="0"/>
              <a:ext cx="4499737" cy="1941335"/>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38"/>
              <a:stretch>
                <a:fillRect t="-22" b="-21"/>
              </a:stretch>
            </a:blipFill>
          </p:spPr>
        </p:sp>
      </p:grpSp>
      <p:grpSp>
        <p:nvGrpSpPr>
          <p:cNvPr id="15" name="Group 16">
            <a:extLst>
              <a:ext uri="{FF2B5EF4-FFF2-40B4-BE49-F238E27FC236}">
                <a16:creationId xmlns:a16="http://schemas.microsoft.com/office/drawing/2014/main" id="{AE2330C7-D90D-7F5C-B3C4-7955D43CFC93}"/>
              </a:ext>
            </a:extLst>
          </p:cNvPr>
          <p:cNvGrpSpPr/>
          <p:nvPr/>
        </p:nvGrpSpPr>
        <p:grpSpPr>
          <a:xfrm>
            <a:off x="-260318" y="-188383"/>
            <a:ext cx="2028139" cy="982555"/>
            <a:chOff x="-90054" y="-102024"/>
            <a:chExt cx="3998937" cy="2752524"/>
          </a:xfrm>
        </p:grpSpPr>
        <p:sp>
          <p:nvSpPr>
            <p:cNvPr id="16" name="Freeform 17" descr="Your startup LOGO">
              <a:extLst>
                <a:ext uri="{FF2B5EF4-FFF2-40B4-BE49-F238E27FC236}">
                  <a16:creationId xmlns:a16="http://schemas.microsoft.com/office/drawing/2014/main" id="{E74B62C2-ED22-60CD-6C9B-9541D92C5851}"/>
                </a:ext>
              </a:extLst>
            </p:cNvPr>
            <p:cNvSpPr/>
            <p:nvPr/>
          </p:nvSpPr>
          <p:spPr>
            <a:xfrm>
              <a:off x="489929" y="422094"/>
              <a:ext cx="2748917" cy="1806308"/>
            </a:xfrm>
            <a:custGeom>
              <a:avLst/>
              <a:gdLst/>
              <a:ahLst/>
              <a:cxnLst/>
              <a:rect l="l" t="t" r="r" b="b"/>
              <a:pathLst>
                <a:path w="2748917" h="1806308">
                  <a:moveTo>
                    <a:pt x="0" y="0"/>
                  </a:moveTo>
                  <a:lnTo>
                    <a:pt x="2748917" y="0"/>
                  </a:lnTo>
                  <a:lnTo>
                    <a:pt x="2748917" y="1806308"/>
                  </a:lnTo>
                  <a:lnTo>
                    <a:pt x="0" y="1806308"/>
                  </a:lnTo>
                  <a:lnTo>
                    <a:pt x="0" y="0"/>
                  </a:lnTo>
                  <a:close/>
                </a:path>
              </a:pathLst>
            </a:custGeom>
            <a:blipFill>
              <a:blip>
                <a:extLst>
                  <a:ext uri="{96DAC541-7B7A-43D3-8B79-37D633B846F1}">
                    <asvg:svgBlip xmlns:asvg="http://schemas.microsoft.com/office/drawing/2016/SVG/main" r:embed="rId39"/>
                  </a:ext>
                </a:extLst>
              </a:blip>
              <a:stretch>
                <a:fillRect/>
              </a:stretch>
            </a:blipFill>
          </p:spPr>
        </p:sp>
        <p:grpSp>
          <p:nvGrpSpPr>
            <p:cNvPr id="17" name="Group 18">
              <a:extLst>
                <a:ext uri="{FF2B5EF4-FFF2-40B4-BE49-F238E27FC236}">
                  <a16:creationId xmlns:a16="http://schemas.microsoft.com/office/drawing/2014/main" id="{D376D6A9-1669-473C-6E86-0F3FFAEA64B4}"/>
                </a:ext>
              </a:extLst>
            </p:cNvPr>
            <p:cNvGrpSpPr/>
            <p:nvPr/>
          </p:nvGrpSpPr>
          <p:grpSpPr>
            <a:xfrm>
              <a:off x="-90054" y="-102024"/>
              <a:ext cx="3998937" cy="2752524"/>
              <a:chOff x="-58852" y="-66674"/>
              <a:chExt cx="2613368" cy="1798817"/>
            </a:xfrm>
          </p:grpSpPr>
          <p:sp>
            <p:nvSpPr>
              <p:cNvPr id="49" name="Freeform 19">
                <a:extLst>
                  <a:ext uri="{FF2B5EF4-FFF2-40B4-BE49-F238E27FC236}">
                    <a16:creationId xmlns:a16="http://schemas.microsoft.com/office/drawing/2014/main" id="{AAB60750-E2A1-3475-5A7A-B3B11CE447B0}"/>
                  </a:ext>
                </a:extLst>
              </p:cNvPr>
              <p:cNvSpPr/>
              <p:nvPr/>
            </p:nvSpPr>
            <p:spPr>
              <a:xfrm>
                <a:off x="0" y="0"/>
                <a:ext cx="2554516" cy="1732143"/>
              </a:xfrm>
              <a:custGeom>
                <a:avLst/>
                <a:gdLst/>
                <a:ahLst/>
                <a:cxnLst/>
                <a:rect l="l" t="t" r="r" b="b"/>
                <a:pathLst>
                  <a:path w="2554516" h="1732143">
                    <a:moveTo>
                      <a:pt x="0" y="0"/>
                    </a:moveTo>
                    <a:lnTo>
                      <a:pt x="2554516" y="0"/>
                    </a:lnTo>
                    <a:lnTo>
                      <a:pt x="2554516" y="1732143"/>
                    </a:lnTo>
                    <a:lnTo>
                      <a:pt x="0" y="1732143"/>
                    </a:lnTo>
                    <a:close/>
                  </a:path>
                </a:pathLst>
              </a:custGeom>
              <a:blipFill>
                <a:blip r:embed="rId40">
                  <a:alphaModFix amt="0"/>
                </a:blip>
                <a:stretch>
                  <a:fillRect l="-36998" r="-36998"/>
                </a:stretch>
              </a:blipFill>
            </p:spPr>
            <p:txBody>
              <a:bodyPr/>
              <a:lstStyle/>
              <a:p>
                <a:endParaRPr lang="en-IN" dirty="0"/>
              </a:p>
            </p:txBody>
          </p:sp>
          <p:sp>
            <p:nvSpPr>
              <p:cNvPr id="50" name="TextBox 20">
                <a:extLst>
                  <a:ext uri="{FF2B5EF4-FFF2-40B4-BE49-F238E27FC236}">
                    <a16:creationId xmlns:a16="http://schemas.microsoft.com/office/drawing/2014/main" id="{B8040987-935C-DF6C-DD2F-CE68A0449E7B}"/>
                  </a:ext>
                </a:extLst>
              </p:cNvPr>
              <p:cNvSpPr txBox="1"/>
              <p:nvPr/>
            </p:nvSpPr>
            <p:spPr>
              <a:xfrm>
                <a:off x="-58852" y="-66674"/>
                <a:ext cx="2554516" cy="1798815"/>
              </a:xfrm>
              <a:prstGeom prst="rect">
                <a:avLst/>
              </a:prstGeom>
            </p:spPr>
            <p:txBody>
              <a:bodyPr lIns="0" tIns="0" rIns="0" bIns="0" rtlCol="0" anchor="ctr"/>
              <a:lstStyle/>
              <a:p>
                <a:pPr algn="ctr"/>
                <a:r>
                  <a:rPr lang="en-US" sz="3498" dirty="0" err="1">
                    <a:solidFill>
                      <a:srgbClr val="000000"/>
                    </a:solidFill>
                    <a:latin typeface="Calibri (MS)"/>
                    <a:ea typeface="Calibri (MS)"/>
                    <a:cs typeface="Calibri (MS)"/>
                    <a:sym typeface="Calibri (MS)"/>
                  </a:rPr>
                  <a:t>LLMao</a:t>
                </a:r>
                <a:endParaRPr lang="en-US" sz="3498" dirty="0">
                  <a:solidFill>
                    <a:srgbClr val="000000"/>
                  </a:solidFill>
                  <a:latin typeface="Calibri (MS)"/>
                  <a:ea typeface="Calibri (MS)"/>
                  <a:cs typeface="Calibri (MS)"/>
                  <a:sym typeface="Calibri (MS)"/>
                </a:endParaRPr>
              </a:p>
            </p:txBody>
          </p:sp>
        </p:grpSp>
      </p:grpSp>
      <p:sp>
        <p:nvSpPr>
          <p:cNvPr id="275" name="Rounded Rectangle 274"/>
          <p:cNvSpPr/>
          <p:nvPr/>
        </p:nvSpPr>
        <p:spPr>
          <a:xfrm>
            <a:off x="155448" y="786384"/>
            <a:ext cx="5413248" cy="9125712"/>
          </a:xfrm>
          <a:prstGeom prst="roundRect">
            <a:avLst>
              <a:gd name="adj" fmla="val 1689"/>
            </a:avLst>
          </a:prstGeom>
          <a:solidFill>
            <a:srgbClr val="FFFFFF"/>
          </a:solidFill>
          <a:ln w="12700">
            <a:solidFill>
              <a:srgbClr val="E6EB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6" name="TextBox 275"/>
          <p:cNvSpPr txBox="1"/>
          <p:nvPr/>
        </p:nvSpPr>
        <p:spPr>
          <a:xfrm>
            <a:off x="155448" y="932688"/>
            <a:ext cx="5413248" cy="182880"/>
          </a:xfrm>
          <a:prstGeom prst="rect">
            <a:avLst/>
          </a:prstGeom>
          <a:noFill/>
        </p:spPr>
        <p:txBody>
          <a:bodyPr wrap="square" lIns="0" rIns="0" tIns="0" bIns="0" anchor="t">
            <a:noAutofit/>
          </a:bodyPr>
          <a:lstStyle/>
          <a:p>
            <a:pPr algn="ctr"/>
            <a:r>
              <a:rPr sz="1000" b="1" i="0" spc="80">
                <a:solidFill>
                  <a:srgbClr val="475569"/>
                </a:solidFill>
                <a:latin typeface="Segoe UI"/>
                <a:cs typeface="Segoe UI"/>
              </a:rPr>
              <a:t>ONE CAMPUS / CITY WARD  ·  INDICATIVE ESTIMATE</a:t>
            </a:r>
          </a:p>
        </p:txBody>
      </p:sp>
      <p:sp>
        <p:nvSpPr>
          <p:cNvPr id="277" name="Rounded Rectangle 276"/>
          <p:cNvSpPr/>
          <p:nvPr/>
        </p:nvSpPr>
        <p:spPr>
          <a:xfrm>
            <a:off x="274320" y="1188720"/>
            <a:ext cx="1243584" cy="1325880"/>
          </a:xfrm>
          <a:prstGeom prst="roundRect">
            <a:avLst>
              <a:gd name="adj" fmla="val 4411"/>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8" name="Rounded Rectangle 277"/>
          <p:cNvSpPr/>
          <p:nvPr/>
        </p:nvSpPr>
        <p:spPr>
          <a:xfrm>
            <a:off x="694944" y="1280160"/>
            <a:ext cx="402336" cy="402336"/>
          </a:xfrm>
          <a:prstGeom prst="roundRect">
            <a:avLst>
              <a:gd name="adj" fmla="val 22727"/>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79" name="Picture 278" descr="server_w.png"/>
          <p:cNvPicPr>
            <a:picLocks noChangeAspect="1"/>
          </p:cNvPicPr>
          <p:nvPr/>
        </p:nvPicPr>
        <p:blipFill>
          <a:blip r:embed="rId41"/>
          <a:stretch>
            <a:fillRect/>
          </a:stretch>
        </p:blipFill>
        <p:spPr>
          <a:xfrm>
            <a:off x="775411" y="1360627"/>
            <a:ext cx="241401" cy="241401"/>
          </a:xfrm>
          <a:prstGeom prst="rect">
            <a:avLst/>
          </a:prstGeom>
        </p:spPr>
      </p:pic>
      <p:sp>
        <p:nvSpPr>
          <p:cNvPr id="280" name="TextBox 279"/>
          <p:cNvSpPr txBox="1"/>
          <p:nvPr/>
        </p:nvSpPr>
        <p:spPr>
          <a:xfrm>
            <a:off x="274320" y="1755648"/>
            <a:ext cx="1243584" cy="201168"/>
          </a:xfrm>
          <a:prstGeom prst="rect">
            <a:avLst/>
          </a:prstGeom>
          <a:noFill/>
        </p:spPr>
        <p:txBody>
          <a:bodyPr wrap="square" lIns="0" rIns="0" tIns="0" bIns="0" anchor="t">
            <a:noAutofit/>
          </a:bodyPr>
          <a:lstStyle/>
          <a:p>
            <a:pPr algn="ctr"/>
            <a:r>
              <a:rPr sz="900" b="0" i="0" spc="40">
                <a:solidFill>
                  <a:srgbClr val="64748B"/>
                </a:solidFill>
                <a:latin typeface="Segoe UI"/>
                <a:cs typeface="Segoe UI"/>
              </a:rPr>
              <a:t>COMPUTE</a:t>
            </a:r>
          </a:p>
        </p:txBody>
      </p:sp>
      <p:sp>
        <p:nvSpPr>
          <p:cNvPr id="281" name="TextBox 280"/>
          <p:cNvSpPr txBox="1"/>
          <p:nvPr/>
        </p:nvSpPr>
        <p:spPr>
          <a:xfrm>
            <a:off x="274320" y="1993392"/>
            <a:ext cx="1243584" cy="365760"/>
          </a:xfrm>
          <a:prstGeom prst="rect">
            <a:avLst/>
          </a:prstGeom>
          <a:noFill/>
        </p:spPr>
        <p:txBody>
          <a:bodyPr wrap="square" lIns="0" rIns="0" tIns="0" bIns="0" anchor="t">
            <a:noAutofit/>
          </a:bodyPr>
          <a:lstStyle/>
          <a:p>
            <a:pPr algn="ctr"/>
            <a:r>
              <a:rPr sz="1600" b="1" i="0">
                <a:solidFill>
                  <a:srgbClr val="0B0D11"/>
                </a:solidFill>
                <a:latin typeface="Segoe UI"/>
                <a:cs typeface="Segoe UI"/>
              </a:rPr>
              <a:t>₹1–1.5 L</a:t>
            </a:r>
          </a:p>
        </p:txBody>
      </p:sp>
      <p:sp>
        <p:nvSpPr>
          <p:cNvPr id="282" name="Rounded Rectangle 281"/>
          <p:cNvSpPr/>
          <p:nvPr/>
        </p:nvSpPr>
        <p:spPr>
          <a:xfrm>
            <a:off x="1591056" y="1188720"/>
            <a:ext cx="1243584" cy="1325880"/>
          </a:xfrm>
          <a:prstGeom prst="roundRect">
            <a:avLst>
              <a:gd name="adj" fmla="val 4411"/>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3" name="Rounded Rectangle 282"/>
          <p:cNvSpPr/>
          <p:nvPr/>
        </p:nvSpPr>
        <p:spPr>
          <a:xfrm>
            <a:off x="2011680" y="1280160"/>
            <a:ext cx="402336" cy="402336"/>
          </a:xfrm>
          <a:prstGeom prst="roundRect">
            <a:avLst>
              <a:gd name="adj" fmla="val 22727"/>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4" name="Picture 283" descr="gauge_w.png"/>
          <p:cNvPicPr>
            <a:picLocks noChangeAspect="1"/>
          </p:cNvPicPr>
          <p:nvPr/>
        </p:nvPicPr>
        <p:blipFill>
          <a:blip r:embed="rId42"/>
          <a:stretch>
            <a:fillRect/>
          </a:stretch>
        </p:blipFill>
        <p:spPr>
          <a:xfrm>
            <a:off x="2092147" y="1360627"/>
            <a:ext cx="241401" cy="241401"/>
          </a:xfrm>
          <a:prstGeom prst="rect">
            <a:avLst/>
          </a:prstGeom>
        </p:spPr>
      </p:pic>
      <p:sp>
        <p:nvSpPr>
          <p:cNvPr id="285" name="TextBox 284"/>
          <p:cNvSpPr txBox="1"/>
          <p:nvPr/>
        </p:nvSpPr>
        <p:spPr>
          <a:xfrm>
            <a:off x="1591056" y="1755648"/>
            <a:ext cx="1243584" cy="201168"/>
          </a:xfrm>
          <a:prstGeom prst="rect">
            <a:avLst/>
          </a:prstGeom>
          <a:noFill/>
        </p:spPr>
        <p:txBody>
          <a:bodyPr wrap="square" lIns="0" rIns="0" tIns="0" bIns="0" anchor="t">
            <a:noAutofit/>
          </a:bodyPr>
          <a:lstStyle/>
          <a:p>
            <a:pPr algn="ctr"/>
            <a:r>
              <a:rPr sz="900" b="0" i="0" spc="40">
                <a:solidFill>
                  <a:srgbClr val="64748B"/>
                </a:solidFill>
                <a:latin typeface="Segoe UI"/>
                <a:cs typeface="Segoe UI"/>
              </a:rPr>
              <a:t>SENSORS</a:t>
            </a:r>
          </a:p>
        </p:txBody>
      </p:sp>
      <p:sp>
        <p:nvSpPr>
          <p:cNvPr id="286" name="TextBox 285"/>
          <p:cNvSpPr txBox="1"/>
          <p:nvPr/>
        </p:nvSpPr>
        <p:spPr>
          <a:xfrm>
            <a:off x="1591056" y="1993392"/>
            <a:ext cx="1243584" cy="365760"/>
          </a:xfrm>
          <a:prstGeom prst="rect">
            <a:avLst/>
          </a:prstGeom>
          <a:noFill/>
        </p:spPr>
        <p:txBody>
          <a:bodyPr wrap="square" lIns="0" rIns="0" tIns="0" bIns="0" anchor="t">
            <a:noAutofit/>
          </a:bodyPr>
          <a:lstStyle/>
          <a:p>
            <a:pPr algn="ctr"/>
            <a:r>
              <a:rPr sz="1600" b="1" i="0">
                <a:solidFill>
                  <a:srgbClr val="0B0D11"/>
                </a:solidFill>
                <a:latin typeface="Segoe UI"/>
                <a:cs typeface="Segoe UI"/>
              </a:rPr>
              <a:t>₹3–5 L</a:t>
            </a:r>
          </a:p>
        </p:txBody>
      </p:sp>
      <p:sp>
        <p:nvSpPr>
          <p:cNvPr id="287" name="Rounded Rectangle 286"/>
          <p:cNvSpPr/>
          <p:nvPr/>
        </p:nvSpPr>
        <p:spPr>
          <a:xfrm>
            <a:off x="2907791" y="1188720"/>
            <a:ext cx="1243584" cy="1325880"/>
          </a:xfrm>
          <a:prstGeom prst="roundRect">
            <a:avLst>
              <a:gd name="adj" fmla="val 4411"/>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8" name="Rounded Rectangle 287"/>
          <p:cNvSpPr/>
          <p:nvPr/>
        </p:nvSpPr>
        <p:spPr>
          <a:xfrm>
            <a:off x="3328415" y="1280160"/>
            <a:ext cx="402336" cy="402336"/>
          </a:xfrm>
          <a:prstGeom prst="roundRect">
            <a:avLst>
              <a:gd name="adj" fmla="val 22727"/>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9" name="Picture 288" descr="hardhat_w.png"/>
          <p:cNvPicPr>
            <a:picLocks noChangeAspect="1"/>
          </p:cNvPicPr>
          <p:nvPr/>
        </p:nvPicPr>
        <p:blipFill>
          <a:blip r:embed="rId43"/>
          <a:stretch>
            <a:fillRect/>
          </a:stretch>
        </p:blipFill>
        <p:spPr>
          <a:xfrm>
            <a:off x="3408883" y="1360627"/>
            <a:ext cx="241401" cy="241401"/>
          </a:xfrm>
          <a:prstGeom prst="rect">
            <a:avLst/>
          </a:prstGeom>
        </p:spPr>
      </p:pic>
      <p:sp>
        <p:nvSpPr>
          <p:cNvPr id="290" name="TextBox 289"/>
          <p:cNvSpPr txBox="1"/>
          <p:nvPr/>
        </p:nvSpPr>
        <p:spPr>
          <a:xfrm>
            <a:off x="2907791" y="1755648"/>
            <a:ext cx="1243584" cy="201168"/>
          </a:xfrm>
          <a:prstGeom prst="rect">
            <a:avLst/>
          </a:prstGeom>
          <a:noFill/>
        </p:spPr>
        <p:txBody>
          <a:bodyPr wrap="square" lIns="0" rIns="0" tIns="0" bIns="0" anchor="t">
            <a:noAutofit/>
          </a:bodyPr>
          <a:lstStyle/>
          <a:p>
            <a:pPr algn="ctr"/>
            <a:r>
              <a:rPr sz="900" b="0" i="0" spc="40">
                <a:solidFill>
                  <a:srgbClr val="64748B"/>
                </a:solidFill>
                <a:latin typeface="Segoe UI"/>
                <a:cs typeface="Segoe UI"/>
              </a:rPr>
              <a:t>DRAIN SURVEY</a:t>
            </a:r>
          </a:p>
        </p:txBody>
      </p:sp>
      <p:sp>
        <p:nvSpPr>
          <p:cNvPr id="291" name="TextBox 290"/>
          <p:cNvSpPr txBox="1"/>
          <p:nvPr/>
        </p:nvSpPr>
        <p:spPr>
          <a:xfrm>
            <a:off x="2907791" y="1993392"/>
            <a:ext cx="1243584" cy="365760"/>
          </a:xfrm>
          <a:prstGeom prst="rect">
            <a:avLst/>
          </a:prstGeom>
          <a:noFill/>
        </p:spPr>
        <p:txBody>
          <a:bodyPr wrap="square" lIns="0" rIns="0" tIns="0" bIns="0" anchor="t">
            <a:noAutofit/>
          </a:bodyPr>
          <a:lstStyle/>
          <a:p>
            <a:pPr algn="ctr"/>
            <a:r>
              <a:rPr sz="1600" b="1" i="0">
                <a:solidFill>
                  <a:srgbClr val="0B0D11"/>
                </a:solidFill>
                <a:latin typeface="Segoe UI"/>
                <a:cs typeface="Segoe UI"/>
              </a:rPr>
              <a:t>₹2–4 L</a:t>
            </a:r>
          </a:p>
        </p:txBody>
      </p:sp>
      <p:sp>
        <p:nvSpPr>
          <p:cNvPr id="292" name="Rounded Rectangle 291"/>
          <p:cNvSpPr/>
          <p:nvPr/>
        </p:nvSpPr>
        <p:spPr>
          <a:xfrm>
            <a:off x="4224528" y="1188720"/>
            <a:ext cx="1243584" cy="1325880"/>
          </a:xfrm>
          <a:prstGeom prst="roundRect">
            <a:avLst>
              <a:gd name="adj" fmla="val 4411"/>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3" name="Rounded Rectangle 292"/>
          <p:cNvSpPr/>
          <p:nvPr/>
        </p:nvSpPr>
        <p:spPr>
          <a:xfrm>
            <a:off x="4645152" y="1280160"/>
            <a:ext cx="402336" cy="402336"/>
          </a:xfrm>
          <a:prstGeom prst="roundRect">
            <a:avLst>
              <a:gd name="adj" fmla="val 22727"/>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94" name="Picture 293" descr="wrench_w.png"/>
          <p:cNvPicPr>
            <a:picLocks noChangeAspect="1"/>
          </p:cNvPicPr>
          <p:nvPr/>
        </p:nvPicPr>
        <p:blipFill>
          <a:blip r:embed="rId44"/>
          <a:stretch>
            <a:fillRect/>
          </a:stretch>
        </p:blipFill>
        <p:spPr>
          <a:xfrm>
            <a:off x="4725619" y="1360627"/>
            <a:ext cx="241401" cy="241401"/>
          </a:xfrm>
          <a:prstGeom prst="rect">
            <a:avLst/>
          </a:prstGeom>
        </p:spPr>
      </p:pic>
      <p:sp>
        <p:nvSpPr>
          <p:cNvPr id="295" name="TextBox 294"/>
          <p:cNvSpPr txBox="1"/>
          <p:nvPr/>
        </p:nvSpPr>
        <p:spPr>
          <a:xfrm>
            <a:off x="4224528" y="1755648"/>
            <a:ext cx="1243584" cy="201168"/>
          </a:xfrm>
          <a:prstGeom prst="rect">
            <a:avLst/>
          </a:prstGeom>
          <a:noFill/>
        </p:spPr>
        <p:txBody>
          <a:bodyPr wrap="square" lIns="0" rIns="0" tIns="0" bIns="0" anchor="t">
            <a:noAutofit/>
          </a:bodyPr>
          <a:lstStyle/>
          <a:p>
            <a:pPr algn="ctr"/>
            <a:r>
              <a:rPr sz="900" b="0" i="0" spc="40">
                <a:solidFill>
                  <a:srgbClr val="64748B"/>
                </a:solidFill>
                <a:latin typeface="Segoe UI"/>
                <a:cs typeface="Segoe UI"/>
              </a:rPr>
              <a:t>SUPPORT / YR</a:t>
            </a:r>
          </a:p>
        </p:txBody>
      </p:sp>
      <p:sp>
        <p:nvSpPr>
          <p:cNvPr id="296" name="TextBox 295"/>
          <p:cNvSpPr txBox="1"/>
          <p:nvPr/>
        </p:nvSpPr>
        <p:spPr>
          <a:xfrm>
            <a:off x="4224528" y="1993392"/>
            <a:ext cx="1243584" cy="365760"/>
          </a:xfrm>
          <a:prstGeom prst="rect">
            <a:avLst/>
          </a:prstGeom>
          <a:noFill/>
        </p:spPr>
        <p:txBody>
          <a:bodyPr wrap="square" lIns="0" rIns="0" tIns="0" bIns="0" anchor="t">
            <a:noAutofit/>
          </a:bodyPr>
          <a:lstStyle/>
          <a:p>
            <a:pPr algn="ctr"/>
            <a:r>
              <a:rPr sz="1600" b="1" i="0">
                <a:solidFill>
                  <a:srgbClr val="0B0D11"/>
                </a:solidFill>
                <a:latin typeface="Segoe UI"/>
                <a:cs typeface="Segoe UI"/>
              </a:rPr>
              <a:t>₹1–2 L</a:t>
            </a:r>
          </a:p>
        </p:txBody>
      </p:sp>
      <p:sp>
        <p:nvSpPr>
          <p:cNvPr id="297" name="TextBox 296"/>
          <p:cNvSpPr txBox="1"/>
          <p:nvPr/>
        </p:nvSpPr>
        <p:spPr>
          <a:xfrm>
            <a:off x="155448" y="2697480"/>
            <a:ext cx="5413248" cy="201168"/>
          </a:xfrm>
          <a:prstGeom prst="rect">
            <a:avLst/>
          </a:prstGeom>
          <a:noFill/>
        </p:spPr>
        <p:txBody>
          <a:bodyPr wrap="square" lIns="0" rIns="0" tIns="0" bIns="0" anchor="t">
            <a:noAutofit/>
          </a:bodyPr>
          <a:lstStyle/>
          <a:p>
            <a:pPr algn="ctr"/>
            <a:r>
              <a:rPr sz="1050" b="1" i="0" spc="80">
                <a:solidFill>
                  <a:srgbClr val="475569"/>
                </a:solidFill>
                <a:latin typeface="Segoe UI"/>
                <a:cs typeface="Segoe UI"/>
              </a:rPr>
              <a:t>WHERE YOUR MONEY GOES</a:t>
            </a:r>
          </a:p>
        </p:txBody>
      </p:sp>
      <p:graphicFrame>
        <p:nvGraphicFramePr>
          <p:cNvPr id="298" name="Chart 297"/>
          <p:cNvGraphicFramePr>
            <a:graphicFrameLocks noGrp="1"/>
          </p:cNvGraphicFramePr>
          <p:nvPr/>
        </p:nvGraphicFramePr>
        <p:xfrm>
          <a:off x="182880" y="2926080"/>
          <a:ext cx="2468880" cy="2377440"/>
        </p:xfrm>
        <a:graphic>
          <a:graphicData uri="http://schemas.openxmlformats.org/drawingml/2006/chart">
            <c:chart xmlns:c="http://schemas.openxmlformats.org/drawingml/2006/chart" r:id="rId45"/>
          </a:graphicData>
        </a:graphic>
      </p:graphicFrame>
      <p:sp>
        <p:nvSpPr>
          <p:cNvPr id="299" name="Rounded Rectangle 298"/>
          <p:cNvSpPr/>
          <p:nvPr/>
        </p:nvSpPr>
        <p:spPr>
          <a:xfrm>
            <a:off x="2743200" y="3383279"/>
            <a:ext cx="137160" cy="137160"/>
          </a:xfrm>
          <a:prstGeom prst="roundRect">
            <a:avLst>
              <a:gd name="adj" fmla="val 13333"/>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0" name="TextBox 299"/>
          <p:cNvSpPr txBox="1"/>
          <p:nvPr/>
        </p:nvSpPr>
        <p:spPr>
          <a:xfrm>
            <a:off x="2971800" y="3337560"/>
            <a:ext cx="1828800" cy="228600"/>
          </a:xfrm>
          <a:prstGeom prst="rect">
            <a:avLst/>
          </a:prstGeom>
          <a:noFill/>
        </p:spPr>
        <p:txBody>
          <a:bodyPr wrap="square" lIns="0" rIns="0" tIns="0" bIns="0" anchor="t">
            <a:noAutofit/>
          </a:bodyPr>
          <a:lstStyle/>
          <a:p>
            <a:pPr algn="l"/>
            <a:r>
              <a:rPr sz="1150" b="1" i="0">
                <a:solidFill>
                  <a:srgbClr val="0B0D11"/>
                </a:solidFill>
                <a:latin typeface="Segoe UI"/>
                <a:cs typeface="Segoe UI"/>
              </a:rPr>
              <a:t>Sensors &amp; gauges</a:t>
            </a:r>
          </a:p>
        </p:txBody>
      </p:sp>
      <p:sp>
        <p:nvSpPr>
          <p:cNvPr id="301" name="TextBox 300"/>
          <p:cNvSpPr txBox="1"/>
          <p:nvPr/>
        </p:nvSpPr>
        <p:spPr>
          <a:xfrm>
            <a:off x="4754880" y="3337560"/>
            <a:ext cx="685800" cy="228600"/>
          </a:xfrm>
          <a:prstGeom prst="rect">
            <a:avLst/>
          </a:prstGeom>
          <a:noFill/>
        </p:spPr>
        <p:txBody>
          <a:bodyPr wrap="square" lIns="0" rIns="0" tIns="0" bIns="0" anchor="t">
            <a:noAutofit/>
          </a:bodyPr>
          <a:lstStyle/>
          <a:p>
            <a:pPr algn="r"/>
            <a:r>
              <a:rPr sz="1150" b="0" i="0">
                <a:solidFill>
                  <a:srgbClr val="475569"/>
                </a:solidFill>
                <a:latin typeface="Segoe UI"/>
                <a:cs typeface="Segoe UI"/>
              </a:rPr>
              <a:t>41%</a:t>
            </a:r>
          </a:p>
        </p:txBody>
      </p:sp>
      <p:sp>
        <p:nvSpPr>
          <p:cNvPr id="302" name="Rounded Rectangle 301"/>
          <p:cNvSpPr/>
          <p:nvPr/>
        </p:nvSpPr>
        <p:spPr>
          <a:xfrm>
            <a:off x="2743200" y="3685032"/>
            <a:ext cx="137160" cy="137160"/>
          </a:xfrm>
          <a:prstGeom prst="roundRect">
            <a:avLst>
              <a:gd name="adj" fmla="val 13333"/>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3" name="TextBox 302"/>
          <p:cNvSpPr txBox="1"/>
          <p:nvPr/>
        </p:nvSpPr>
        <p:spPr>
          <a:xfrm>
            <a:off x="2971800" y="3639312"/>
            <a:ext cx="1828800" cy="228600"/>
          </a:xfrm>
          <a:prstGeom prst="rect">
            <a:avLst/>
          </a:prstGeom>
          <a:noFill/>
        </p:spPr>
        <p:txBody>
          <a:bodyPr wrap="square" lIns="0" rIns="0" tIns="0" bIns="0" anchor="t">
            <a:noAutofit/>
          </a:bodyPr>
          <a:lstStyle/>
          <a:p>
            <a:pPr algn="l"/>
            <a:r>
              <a:rPr sz="1150" b="1" i="0">
                <a:solidFill>
                  <a:srgbClr val="0B0D11"/>
                </a:solidFill>
                <a:latin typeface="Segoe UI"/>
                <a:cs typeface="Segoe UI"/>
              </a:rPr>
              <a:t>Drain survey</a:t>
            </a:r>
          </a:p>
        </p:txBody>
      </p:sp>
      <p:sp>
        <p:nvSpPr>
          <p:cNvPr id="304" name="TextBox 303"/>
          <p:cNvSpPr txBox="1"/>
          <p:nvPr/>
        </p:nvSpPr>
        <p:spPr>
          <a:xfrm>
            <a:off x="4754880" y="3639312"/>
            <a:ext cx="685800" cy="228600"/>
          </a:xfrm>
          <a:prstGeom prst="rect">
            <a:avLst/>
          </a:prstGeom>
          <a:noFill/>
        </p:spPr>
        <p:txBody>
          <a:bodyPr wrap="square" lIns="0" rIns="0" tIns="0" bIns="0" anchor="t">
            <a:noAutofit/>
          </a:bodyPr>
          <a:lstStyle/>
          <a:p>
            <a:pPr algn="r"/>
            <a:r>
              <a:rPr sz="1150" b="0" i="0">
                <a:solidFill>
                  <a:srgbClr val="475569"/>
                </a:solidFill>
                <a:latin typeface="Segoe UI"/>
                <a:cs typeface="Segoe UI"/>
              </a:rPr>
              <a:t>31%</a:t>
            </a:r>
          </a:p>
        </p:txBody>
      </p:sp>
      <p:sp>
        <p:nvSpPr>
          <p:cNvPr id="305" name="Rounded Rectangle 304"/>
          <p:cNvSpPr/>
          <p:nvPr/>
        </p:nvSpPr>
        <p:spPr>
          <a:xfrm>
            <a:off x="2743200" y="3986783"/>
            <a:ext cx="137160" cy="137160"/>
          </a:xfrm>
          <a:prstGeom prst="roundRect">
            <a:avLst>
              <a:gd name="adj" fmla="val 13333"/>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6" name="TextBox 305"/>
          <p:cNvSpPr txBox="1"/>
          <p:nvPr/>
        </p:nvSpPr>
        <p:spPr>
          <a:xfrm>
            <a:off x="2971800" y="3941063"/>
            <a:ext cx="1828800" cy="228600"/>
          </a:xfrm>
          <a:prstGeom prst="rect">
            <a:avLst/>
          </a:prstGeom>
          <a:noFill/>
        </p:spPr>
        <p:txBody>
          <a:bodyPr wrap="square" lIns="0" rIns="0" tIns="0" bIns="0" anchor="t">
            <a:noAutofit/>
          </a:bodyPr>
          <a:lstStyle/>
          <a:p>
            <a:pPr algn="l"/>
            <a:r>
              <a:rPr sz="1150" b="1" i="0">
                <a:solidFill>
                  <a:srgbClr val="0B0D11"/>
                </a:solidFill>
                <a:latin typeface="Segoe UI"/>
                <a:cs typeface="Segoe UI"/>
              </a:rPr>
              <a:t>Support / yr</a:t>
            </a:r>
          </a:p>
        </p:txBody>
      </p:sp>
      <p:sp>
        <p:nvSpPr>
          <p:cNvPr id="307" name="TextBox 306"/>
          <p:cNvSpPr txBox="1"/>
          <p:nvPr/>
        </p:nvSpPr>
        <p:spPr>
          <a:xfrm>
            <a:off x="4754880" y="3941063"/>
            <a:ext cx="685800" cy="228600"/>
          </a:xfrm>
          <a:prstGeom prst="rect">
            <a:avLst/>
          </a:prstGeom>
          <a:noFill/>
        </p:spPr>
        <p:txBody>
          <a:bodyPr wrap="square" lIns="0" rIns="0" tIns="0" bIns="0" anchor="t">
            <a:noAutofit/>
          </a:bodyPr>
          <a:lstStyle/>
          <a:p>
            <a:pPr algn="r"/>
            <a:r>
              <a:rPr sz="1150" b="0" i="0">
                <a:solidFill>
                  <a:srgbClr val="475569"/>
                </a:solidFill>
                <a:latin typeface="Segoe UI"/>
                <a:cs typeface="Segoe UI"/>
              </a:rPr>
              <a:t>15%</a:t>
            </a:r>
          </a:p>
        </p:txBody>
      </p:sp>
      <p:sp>
        <p:nvSpPr>
          <p:cNvPr id="308" name="Rounded Rectangle 307"/>
          <p:cNvSpPr/>
          <p:nvPr/>
        </p:nvSpPr>
        <p:spPr>
          <a:xfrm>
            <a:off x="2743200" y="4288536"/>
            <a:ext cx="137160" cy="137160"/>
          </a:xfrm>
          <a:prstGeom prst="roundRect">
            <a:avLst>
              <a:gd name="adj" fmla="val 13333"/>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9" name="TextBox 308"/>
          <p:cNvSpPr txBox="1"/>
          <p:nvPr/>
        </p:nvSpPr>
        <p:spPr>
          <a:xfrm>
            <a:off x="2971800" y="4242816"/>
            <a:ext cx="1828800" cy="228600"/>
          </a:xfrm>
          <a:prstGeom prst="rect">
            <a:avLst/>
          </a:prstGeom>
          <a:noFill/>
        </p:spPr>
        <p:txBody>
          <a:bodyPr wrap="square" lIns="0" rIns="0" tIns="0" bIns="0" anchor="t">
            <a:noAutofit/>
          </a:bodyPr>
          <a:lstStyle/>
          <a:p>
            <a:pPr algn="l"/>
            <a:r>
              <a:rPr sz="1150" b="1" i="0">
                <a:solidFill>
                  <a:srgbClr val="0B0D11"/>
                </a:solidFill>
                <a:latin typeface="Segoe UI"/>
                <a:cs typeface="Segoe UI"/>
              </a:rPr>
              <a:t>Compute server</a:t>
            </a:r>
          </a:p>
        </p:txBody>
      </p:sp>
      <p:sp>
        <p:nvSpPr>
          <p:cNvPr id="310" name="TextBox 309"/>
          <p:cNvSpPr txBox="1"/>
          <p:nvPr/>
        </p:nvSpPr>
        <p:spPr>
          <a:xfrm>
            <a:off x="4754880" y="4242816"/>
            <a:ext cx="685800" cy="228600"/>
          </a:xfrm>
          <a:prstGeom prst="rect">
            <a:avLst/>
          </a:prstGeom>
          <a:noFill/>
        </p:spPr>
        <p:txBody>
          <a:bodyPr wrap="square" lIns="0" rIns="0" tIns="0" bIns="0" anchor="t">
            <a:noAutofit/>
          </a:bodyPr>
          <a:lstStyle/>
          <a:p>
            <a:pPr algn="r"/>
            <a:r>
              <a:rPr sz="1150" b="0" i="0">
                <a:solidFill>
                  <a:srgbClr val="475569"/>
                </a:solidFill>
                <a:latin typeface="Segoe UI"/>
                <a:cs typeface="Segoe UI"/>
              </a:rPr>
              <a:t>13%</a:t>
            </a:r>
          </a:p>
        </p:txBody>
      </p:sp>
      <p:sp>
        <p:nvSpPr>
          <p:cNvPr id="311" name="Rounded Rectangle 310"/>
          <p:cNvSpPr/>
          <p:nvPr/>
        </p:nvSpPr>
        <p:spPr>
          <a:xfrm>
            <a:off x="2743200" y="4590288"/>
            <a:ext cx="137160" cy="137160"/>
          </a:xfrm>
          <a:prstGeom prst="roundRect">
            <a:avLst>
              <a:gd name="adj" fmla="val 13333"/>
            </a:avLst>
          </a:prstGeom>
          <a:solidFill>
            <a:srgbClr val="ECFDF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2" name="TextBox 311"/>
          <p:cNvSpPr txBox="1"/>
          <p:nvPr/>
        </p:nvSpPr>
        <p:spPr>
          <a:xfrm>
            <a:off x="2971800" y="4544568"/>
            <a:ext cx="1828800" cy="228600"/>
          </a:xfrm>
          <a:prstGeom prst="rect">
            <a:avLst/>
          </a:prstGeom>
          <a:noFill/>
        </p:spPr>
        <p:txBody>
          <a:bodyPr wrap="square" lIns="0" rIns="0" tIns="0" bIns="0" anchor="t">
            <a:noAutofit/>
          </a:bodyPr>
          <a:lstStyle/>
          <a:p>
            <a:pPr algn="l"/>
            <a:r>
              <a:rPr sz="1150" b="1" i="0">
                <a:solidFill>
                  <a:srgbClr val="065F46"/>
                </a:solidFill>
                <a:latin typeface="Segoe UI"/>
                <a:cs typeface="Segoe UI"/>
              </a:rPr>
              <a:t>Licences</a:t>
            </a:r>
          </a:p>
        </p:txBody>
      </p:sp>
      <p:sp>
        <p:nvSpPr>
          <p:cNvPr id="313" name="TextBox 312"/>
          <p:cNvSpPr txBox="1"/>
          <p:nvPr/>
        </p:nvSpPr>
        <p:spPr>
          <a:xfrm>
            <a:off x="4754880" y="4544568"/>
            <a:ext cx="685800" cy="228600"/>
          </a:xfrm>
          <a:prstGeom prst="rect">
            <a:avLst/>
          </a:prstGeom>
          <a:noFill/>
        </p:spPr>
        <p:txBody>
          <a:bodyPr wrap="square" lIns="0" rIns="0" tIns="0" bIns="0" anchor="t">
            <a:noAutofit/>
          </a:bodyPr>
          <a:lstStyle/>
          <a:p>
            <a:pPr algn="r"/>
            <a:r>
              <a:rPr sz="1150" b="1" i="0">
                <a:solidFill>
                  <a:srgbClr val="065F46"/>
                </a:solidFill>
                <a:latin typeface="Segoe UI"/>
                <a:cs typeface="Segoe UI"/>
              </a:rPr>
              <a:t>₹0</a:t>
            </a:r>
          </a:p>
        </p:txBody>
      </p:sp>
      <p:sp>
        <p:nvSpPr>
          <p:cNvPr id="314" name="Rounded Rectangle 313"/>
          <p:cNvSpPr/>
          <p:nvPr/>
        </p:nvSpPr>
        <p:spPr>
          <a:xfrm>
            <a:off x="283464" y="5440680"/>
            <a:ext cx="2542032" cy="749808"/>
          </a:xfrm>
          <a:prstGeom prst="roundRect">
            <a:avLst>
              <a:gd name="adj" fmla="val 731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5" name="TextBox 314"/>
          <p:cNvSpPr txBox="1"/>
          <p:nvPr/>
        </p:nvSpPr>
        <p:spPr>
          <a:xfrm>
            <a:off x="283464" y="5440680"/>
            <a:ext cx="2542032" cy="749808"/>
          </a:xfrm>
          <a:prstGeom prst="rect">
            <a:avLst/>
          </a:prstGeom>
          <a:noFill/>
        </p:spPr>
        <p:txBody>
          <a:bodyPr wrap="square" lIns="0" rIns="0" tIns="0" bIns="0" anchor="ctr">
            <a:noAutofit/>
          </a:bodyPr>
          <a:lstStyle/>
          <a:p>
            <a:pPr algn="ctr">
              <a:lnSpc>
                <a:spcPct val="95000"/>
              </a:lnSpc>
            </a:pPr>
            <a:r>
              <a:rPr sz="1400" b="1" i="0">
                <a:solidFill>
                  <a:srgbClr val="065F46"/>
                </a:solidFill>
                <a:latin typeface="Segoe UI"/>
                <a:cs typeface="Segoe UI"/>
              </a:rPr>
              <a:t>OPEN DATA</a:t>
            </a:r>
          </a:p>
          <a:p>
            <a:pPr algn="ctr">
              <a:lnSpc>
                <a:spcPct val="95000"/>
              </a:lnSpc>
            </a:pPr>
            <a:r>
              <a:rPr sz="1400" b="1" i="0">
                <a:solidFill>
                  <a:srgbClr val="065F46"/>
                </a:solidFill>
                <a:latin typeface="Segoe UI"/>
                <a:cs typeface="Segoe UI"/>
              </a:rPr>
              <a:t>NO LICENCE FEES</a:t>
            </a:r>
          </a:p>
        </p:txBody>
      </p:sp>
      <p:sp>
        <p:nvSpPr>
          <p:cNvPr id="316" name="Rounded Rectangle 315"/>
          <p:cNvSpPr/>
          <p:nvPr/>
        </p:nvSpPr>
        <p:spPr>
          <a:xfrm>
            <a:off x="2907792" y="5440680"/>
            <a:ext cx="2542032" cy="749808"/>
          </a:xfrm>
          <a:prstGeom prst="roundRect">
            <a:avLst>
              <a:gd name="adj" fmla="val 731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7" name="TextBox 316"/>
          <p:cNvSpPr txBox="1"/>
          <p:nvPr/>
        </p:nvSpPr>
        <p:spPr>
          <a:xfrm>
            <a:off x="2971800" y="5440680"/>
            <a:ext cx="731520" cy="749808"/>
          </a:xfrm>
          <a:prstGeom prst="rect">
            <a:avLst/>
          </a:prstGeom>
          <a:noFill/>
        </p:spPr>
        <p:txBody>
          <a:bodyPr wrap="square" lIns="0" rIns="0" tIns="0" bIns="0" anchor="ctr">
            <a:noAutofit/>
          </a:bodyPr>
          <a:lstStyle/>
          <a:p>
            <a:pPr algn="l"/>
            <a:r>
              <a:rPr sz="2800" b="1" i="0">
                <a:solidFill>
                  <a:srgbClr val="065F46"/>
                </a:solidFill>
                <a:latin typeface="Segoe UI"/>
                <a:cs typeface="Segoe UI"/>
              </a:rPr>
              <a:t>₹0</a:t>
            </a:r>
          </a:p>
        </p:txBody>
      </p:sp>
      <p:sp>
        <p:nvSpPr>
          <p:cNvPr id="318" name="TextBox 317"/>
          <p:cNvSpPr txBox="1"/>
          <p:nvPr/>
        </p:nvSpPr>
        <p:spPr>
          <a:xfrm>
            <a:off x="3639312" y="5440680"/>
            <a:ext cx="1783080" cy="749808"/>
          </a:xfrm>
          <a:prstGeom prst="rect">
            <a:avLst/>
          </a:prstGeom>
          <a:noFill/>
        </p:spPr>
        <p:txBody>
          <a:bodyPr wrap="square" lIns="0" rIns="0" tIns="0" bIns="0" anchor="ctr">
            <a:noAutofit/>
          </a:bodyPr>
          <a:lstStyle/>
          <a:p>
            <a:pPr algn="ctr">
              <a:lnSpc>
                <a:spcPct val="95000"/>
              </a:lnSpc>
            </a:pPr>
            <a:r>
              <a:rPr sz="1150" b="1" i="0">
                <a:solidFill>
                  <a:srgbClr val="065F46"/>
                </a:solidFill>
                <a:latin typeface="Segoe UI"/>
                <a:cs typeface="Segoe UI"/>
              </a:rPr>
              <a:t>GPU / CLOUD BILL</a:t>
            </a:r>
          </a:p>
          <a:p>
            <a:pPr algn="ctr">
              <a:lnSpc>
                <a:spcPct val="95000"/>
              </a:lnSpc>
            </a:pPr>
            <a:r>
              <a:rPr sz="1150" b="1" i="0">
                <a:solidFill>
                  <a:srgbClr val="065F46"/>
                </a:solidFill>
                <a:latin typeface="Segoe UI"/>
                <a:cs typeface="Segoe UI"/>
              </a:rPr>
              <a:t>PER FORECAST</a:t>
            </a:r>
          </a:p>
        </p:txBody>
      </p:sp>
      <p:sp>
        <p:nvSpPr>
          <p:cNvPr id="319" name="TextBox 318"/>
          <p:cNvSpPr txBox="1"/>
          <p:nvPr/>
        </p:nvSpPr>
        <p:spPr>
          <a:xfrm>
            <a:off x="283464" y="6400800"/>
            <a:ext cx="5120640" cy="201168"/>
          </a:xfrm>
          <a:prstGeom prst="rect">
            <a:avLst/>
          </a:prstGeom>
          <a:noFill/>
        </p:spPr>
        <p:txBody>
          <a:bodyPr wrap="square" lIns="0" rIns="0" tIns="0" bIns="0" anchor="t">
            <a:noAutofit/>
          </a:bodyPr>
          <a:lstStyle/>
          <a:p>
            <a:pPr algn="l"/>
            <a:r>
              <a:rPr sz="1050" b="1" i="0">
                <a:solidFill>
                  <a:srgbClr val="475569"/>
                </a:solidFill>
                <a:latin typeface="Segoe UI"/>
                <a:cs typeface="Segoe UI"/>
              </a:rPr>
              <a:t>FORECAST SKILL  —  </a:t>
            </a:r>
            <a:r>
              <a:rPr sz="1050" b="0" i="1">
                <a:solidFill>
                  <a:srgbClr val="64748B"/>
                </a:solidFill>
                <a:latin typeface="Segoe UI"/>
                <a:cs typeface="Segoe UI"/>
              </a:rPr>
              <a:t>CSI at 10 cm depth, held-out storms</a:t>
            </a:r>
          </a:p>
        </p:txBody>
      </p:sp>
      <p:sp>
        <p:nvSpPr>
          <p:cNvPr id="320" name="Rounded Rectangle 319"/>
          <p:cNvSpPr/>
          <p:nvPr/>
        </p:nvSpPr>
        <p:spPr>
          <a:xfrm>
            <a:off x="411480" y="6711696"/>
            <a:ext cx="146304" cy="146304"/>
          </a:xfrm>
          <a:prstGeom prst="roundRect">
            <a:avLst>
              <a:gd name="adj" fmla="val 125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1" name="TextBox 320"/>
          <p:cNvSpPr txBox="1"/>
          <p:nvPr/>
        </p:nvSpPr>
        <p:spPr>
          <a:xfrm>
            <a:off x="621792" y="6665976"/>
            <a:ext cx="1280160" cy="228600"/>
          </a:xfrm>
          <a:prstGeom prst="rect">
            <a:avLst/>
          </a:prstGeom>
          <a:noFill/>
        </p:spPr>
        <p:txBody>
          <a:bodyPr wrap="square" lIns="0" rIns="0" tIns="0" bIns="0" anchor="t">
            <a:noAutofit/>
          </a:bodyPr>
          <a:lstStyle/>
          <a:p>
            <a:pPr algn="l"/>
            <a:r>
              <a:rPr sz="1150" b="1" i="0">
                <a:solidFill>
                  <a:srgbClr val="059669"/>
                </a:solidFill>
                <a:latin typeface="Segoe UI"/>
                <a:cs typeface="Segoe UI"/>
              </a:rPr>
              <a:t>Drishti AI</a:t>
            </a:r>
          </a:p>
        </p:txBody>
      </p:sp>
      <p:sp>
        <p:nvSpPr>
          <p:cNvPr id="322" name="Rounded Rectangle 321"/>
          <p:cNvSpPr/>
          <p:nvPr/>
        </p:nvSpPr>
        <p:spPr>
          <a:xfrm>
            <a:off x="1828800" y="6711696"/>
            <a:ext cx="146304" cy="146304"/>
          </a:xfrm>
          <a:prstGeom prst="roundRect">
            <a:avLst>
              <a:gd name="adj" fmla="val 125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3" name="TextBox 322"/>
          <p:cNvSpPr txBox="1"/>
          <p:nvPr/>
        </p:nvSpPr>
        <p:spPr>
          <a:xfrm>
            <a:off x="2039112" y="6665976"/>
            <a:ext cx="1463040" cy="228600"/>
          </a:xfrm>
          <a:prstGeom prst="rect">
            <a:avLst/>
          </a:prstGeom>
          <a:noFill/>
        </p:spPr>
        <p:txBody>
          <a:bodyPr wrap="square" lIns="0" rIns="0" tIns="0" bIns="0" anchor="t">
            <a:noAutofit/>
          </a:bodyPr>
          <a:lstStyle/>
          <a:p>
            <a:pPr algn="l"/>
            <a:r>
              <a:rPr sz="1150" b="1" i="0">
                <a:solidFill>
                  <a:srgbClr val="DC2626"/>
                </a:solidFill>
                <a:latin typeface="Segoe UI"/>
                <a:cs typeface="Segoe UI"/>
              </a:rPr>
              <a:t>Persistence</a:t>
            </a:r>
          </a:p>
        </p:txBody>
      </p:sp>
      <p:sp>
        <p:nvSpPr>
          <p:cNvPr id="324" name="TextBox 323"/>
          <p:cNvSpPr txBox="1"/>
          <p:nvPr/>
        </p:nvSpPr>
        <p:spPr>
          <a:xfrm>
            <a:off x="3383280" y="6665976"/>
            <a:ext cx="2103120" cy="228600"/>
          </a:xfrm>
          <a:prstGeom prst="rect">
            <a:avLst/>
          </a:prstGeom>
          <a:noFill/>
        </p:spPr>
        <p:txBody>
          <a:bodyPr wrap="square" lIns="0" rIns="0" tIns="0" bIns="0" anchor="t">
            <a:noAutofit/>
          </a:bodyPr>
          <a:lstStyle/>
          <a:p>
            <a:pPr algn="r"/>
            <a:r>
              <a:rPr sz="1000" b="0" i="1">
                <a:solidFill>
                  <a:srgbClr val="64748B"/>
                </a:solidFill>
                <a:latin typeface="Segoe UI"/>
                <a:cs typeface="Segoe UI"/>
              </a:rPr>
              <a:t>higher = better</a:t>
            </a:r>
          </a:p>
        </p:txBody>
      </p:sp>
      <p:graphicFrame>
        <p:nvGraphicFramePr>
          <p:cNvPr id="325" name="Chart 324"/>
          <p:cNvGraphicFramePr>
            <a:graphicFrameLocks noGrp="1"/>
          </p:cNvGraphicFramePr>
          <p:nvPr/>
        </p:nvGraphicFramePr>
        <p:xfrm>
          <a:off x="228600" y="6903720"/>
          <a:ext cx="5257800" cy="2560320"/>
        </p:xfrm>
        <a:graphic>
          <a:graphicData uri="http://schemas.openxmlformats.org/drawingml/2006/chart">
            <c:chart xmlns:c="http://schemas.openxmlformats.org/drawingml/2006/chart" r:id="rId46"/>
          </a:graphicData>
        </a:graphic>
      </p:graphicFrame>
      <p:sp>
        <p:nvSpPr>
          <p:cNvPr id="326" name="Rounded Rectangle 325"/>
          <p:cNvSpPr/>
          <p:nvPr/>
        </p:nvSpPr>
        <p:spPr>
          <a:xfrm>
            <a:off x="274320" y="9555480"/>
            <a:ext cx="923544" cy="274320"/>
          </a:xfrm>
          <a:prstGeom prst="roundRect">
            <a:avLst>
              <a:gd name="adj" fmla="val 16666"/>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27" name="Picture 326" descr="python_b.png"/>
          <p:cNvPicPr>
            <a:picLocks noChangeAspect="1"/>
          </p:cNvPicPr>
          <p:nvPr/>
        </p:nvPicPr>
        <p:blipFill>
          <a:blip r:embed="rId47"/>
          <a:stretch>
            <a:fillRect/>
          </a:stretch>
        </p:blipFill>
        <p:spPr>
          <a:xfrm>
            <a:off x="338328" y="9601200"/>
            <a:ext cx="182880" cy="182880"/>
          </a:xfrm>
          <a:prstGeom prst="rect">
            <a:avLst/>
          </a:prstGeom>
        </p:spPr>
      </p:pic>
      <p:sp>
        <p:nvSpPr>
          <p:cNvPr id="328" name="TextBox 327"/>
          <p:cNvSpPr txBox="1"/>
          <p:nvPr/>
        </p:nvSpPr>
        <p:spPr>
          <a:xfrm>
            <a:off x="557784" y="9555480"/>
            <a:ext cx="621792" cy="274320"/>
          </a:xfrm>
          <a:prstGeom prst="rect">
            <a:avLst/>
          </a:prstGeom>
          <a:noFill/>
        </p:spPr>
        <p:txBody>
          <a:bodyPr wrap="square" lIns="0" rIns="0" tIns="0" bIns="0" anchor="ctr">
            <a:noAutofit/>
          </a:bodyPr>
          <a:lstStyle/>
          <a:p>
            <a:pPr algn="l"/>
            <a:r>
              <a:rPr sz="950" b="1" i="0">
                <a:solidFill>
                  <a:srgbClr val="0B0D11"/>
                </a:solidFill>
                <a:latin typeface="Segoe UI"/>
                <a:cs typeface="Segoe UI"/>
              </a:rPr>
              <a:t>Python</a:t>
            </a:r>
          </a:p>
        </p:txBody>
      </p:sp>
      <p:sp>
        <p:nvSpPr>
          <p:cNvPr id="329" name="Rounded Rectangle 328"/>
          <p:cNvSpPr/>
          <p:nvPr/>
        </p:nvSpPr>
        <p:spPr>
          <a:xfrm>
            <a:off x="1252728" y="9555480"/>
            <a:ext cx="1001268" cy="274320"/>
          </a:xfrm>
          <a:prstGeom prst="roundRect">
            <a:avLst>
              <a:gd name="adj" fmla="val 16666"/>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30" name="Picture 329" descr="pytorch_o.png"/>
          <p:cNvPicPr>
            <a:picLocks noChangeAspect="1"/>
          </p:cNvPicPr>
          <p:nvPr/>
        </p:nvPicPr>
        <p:blipFill>
          <a:blip r:embed="rId48"/>
          <a:stretch>
            <a:fillRect/>
          </a:stretch>
        </p:blipFill>
        <p:spPr>
          <a:xfrm>
            <a:off x="1316736" y="9601200"/>
            <a:ext cx="182880" cy="182880"/>
          </a:xfrm>
          <a:prstGeom prst="rect">
            <a:avLst/>
          </a:prstGeom>
        </p:spPr>
      </p:pic>
      <p:sp>
        <p:nvSpPr>
          <p:cNvPr id="331" name="TextBox 330"/>
          <p:cNvSpPr txBox="1"/>
          <p:nvPr/>
        </p:nvSpPr>
        <p:spPr>
          <a:xfrm>
            <a:off x="1536192" y="9555480"/>
            <a:ext cx="699516" cy="274320"/>
          </a:xfrm>
          <a:prstGeom prst="rect">
            <a:avLst/>
          </a:prstGeom>
          <a:noFill/>
        </p:spPr>
        <p:txBody>
          <a:bodyPr wrap="square" lIns="0" rIns="0" tIns="0" bIns="0" anchor="ctr">
            <a:noAutofit/>
          </a:bodyPr>
          <a:lstStyle/>
          <a:p>
            <a:pPr algn="l"/>
            <a:r>
              <a:rPr sz="950" b="1" i="0">
                <a:solidFill>
                  <a:srgbClr val="0B0D11"/>
                </a:solidFill>
                <a:latin typeface="Segoe UI"/>
                <a:cs typeface="Segoe UI"/>
              </a:rPr>
              <a:t>PyTorch</a:t>
            </a:r>
          </a:p>
        </p:txBody>
      </p:sp>
      <p:sp>
        <p:nvSpPr>
          <p:cNvPr id="332" name="Rounded Rectangle 331"/>
          <p:cNvSpPr/>
          <p:nvPr/>
        </p:nvSpPr>
        <p:spPr>
          <a:xfrm>
            <a:off x="2308860" y="9555480"/>
            <a:ext cx="768096" cy="274320"/>
          </a:xfrm>
          <a:prstGeom prst="roundRect">
            <a:avLst>
              <a:gd name="adj" fmla="val 16666"/>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33" name="Picture 332" descr="onnx_s.png"/>
          <p:cNvPicPr>
            <a:picLocks noChangeAspect="1"/>
          </p:cNvPicPr>
          <p:nvPr/>
        </p:nvPicPr>
        <p:blipFill>
          <a:blip r:embed="rId49"/>
          <a:stretch>
            <a:fillRect/>
          </a:stretch>
        </p:blipFill>
        <p:spPr>
          <a:xfrm>
            <a:off x="2372868" y="9601200"/>
            <a:ext cx="182880" cy="182880"/>
          </a:xfrm>
          <a:prstGeom prst="rect">
            <a:avLst/>
          </a:prstGeom>
        </p:spPr>
      </p:pic>
      <p:sp>
        <p:nvSpPr>
          <p:cNvPr id="334" name="TextBox 333"/>
          <p:cNvSpPr txBox="1"/>
          <p:nvPr/>
        </p:nvSpPr>
        <p:spPr>
          <a:xfrm>
            <a:off x="2592324" y="9555480"/>
            <a:ext cx="466344" cy="274320"/>
          </a:xfrm>
          <a:prstGeom prst="rect">
            <a:avLst/>
          </a:prstGeom>
          <a:noFill/>
        </p:spPr>
        <p:txBody>
          <a:bodyPr wrap="square" lIns="0" rIns="0" tIns="0" bIns="0" anchor="ctr">
            <a:noAutofit/>
          </a:bodyPr>
          <a:lstStyle/>
          <a:p>
            <a:pPr algn="l"/>
            <a:r>
              <a:rPr sz="950" b="1" i="0">
                <a:solidFill>
                  <a:srgbClr val="0B0D11"/>
                </a:solidFill>
                <a:latin typeface="Segoe UI"/>
                <a:cs typeface="Segoe UI"/>
              </a:rPr>
              <a:t>ONNX</a:t>
            </a:r>
          </a:p>
        </p:txBody>
      </p:sp>
      <p:sp>
        <p:nvSpPr>
          <p:cNvPr id="335" name="Rounded Rectangle 334"/>
          <p:cNvSpPr/>
          <p:nvPr/>
        </p:nvSpPr>
        <p:spPr>
          <a:xfrm>
            <a:off x="3131820" y="9555480"/>
            <a:ext cx="1078992" cy="274320"/>
          </a:xfrm>
          <a:prstGeom prst="roundRect">
            <a:avLst>
              <a:gd name="adj" fmla="val 16666"/>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36" name="Picture 335" descr="maplibre_b.png"/>
          <p:cNvPicPr>
            <a:picLocks noChangeAspect="1"/>
          </p:cNvPicPr>
          <p:nvPr/>
        </p:nvPicPr>
        <p:blipFill>
          <a:blip r:embed="rId50"/>
          <a:stretch>
            <a:fillRect/>
          </a:stretch>
        </p:blipFill>
        <p:spPr>
          <a:xfrm>
            <a:off x="3195828" y="9601200"/>
            <a:ext cx="182880" cy="182880"/>
          </a:xfrm>
          <a:prstGeom prst="rect">
            <a:avLst/>
          </a:prstGeom>
        </p:spPr>
      </p:pic>
      <p:sp>
        <p:nvSpPr>
          <p:cNvPr id="337" name="TextBox 336"/>
          <p:cNvSpPr txBox="1"/>
          <p:nvPr/>
        </p:nvSpPr>
        <p:spPr>
          <a:xfrm>
            <a:off x="3415284" y="9555480"/>
            <a:ext cx="777240" cy="274320"/>
          </a:xfrm>
          <a:prstGeom prst="rect">
            <a:avLst/>
          </a:prstGeom>
          <a:noFill/>
        </p:spPr>
        <p:txBody>
          <a:bodyPr wrap="square" lIns="0" rIns="0" tIns="0" bIns="0" anchor="ctr">
            <a:noAutofit/>
          </a:bodyPr>
          <a:lstStyle/>
          <a:p>
            <a:pPr algn="l"/>
            <a:r>
              <a:rPr sz="950" b="1" i="0">
                <a:solidFill>
                  <a:srgbClr val="0B0D11"/>
                </a:solidFill>
                <a:latin typeface="Segoe UI"/>
                <a:cs typeface="Segoe UI"/>
              </a:rPr>
              <a:t>MapLibre</a:t>
            </a:r>
          </a:p>
        </p:txBody>
      </p:sp>
      <p:sp>
        <p:nvSpPr>
          <p:cNvPr id="338" name="Rounded Rectangle 337"/>
          <p:cNvSpPr/>
          <p:nvPr/>
        </p:nvSpPr>
        <p:spPr>
          <a:xfrm>
            <a:off x="4265676" y="9555480"/>
            <a:ext cx="923544" cy="274320"/>
          </a:xfrm>
          <a:prstGeom prst="roundRect">
            <a:avLst>
              <a:gd name="adj" fmla="val 16666"/>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39" name="Picture 338" descr="vercel_k.png"/>
          <p:cNvPicPr>
            <a:picLocks noChangeAspect="1"/>
          </p:cNvPicPr>
          <p:nvPr/>
        </p:nvPicPr>
        <p:blipFill>
          <a:blip r:embed="rId51"/>
          <a:stretch>
            <a:fillRect/>
          </a:stretch>
        </p:blipFill>
        <p:spPr>
          <a:xfrm>
            <a:off x="4329684" y="9601200"/>
            <a:ext cx="182880" cy="182880"/>
          </a:xfrm>
          <a:prstGeom prst="rect">
            <a:avLst/>
          </a:prstGeom>
        </p:spPr>
      </p:pic>
      <p:sp>
        <p:nvSpPr>
          <p:cNvPr id="340" name="TextBox 339"/>
          <p:cNvSpPr txBox="1"/>
          <p:nvPr/>
        </p:nvSpPr>
        <p:spPr>
          <a:xfrm>
            <a:off x="4549140" y="9555480"/>
            <a:ext cx="621792" cy="274320"/>
          </a:xfrm>
          <a:prstGeom prst="rect">
            <a:avLst/>
          </a:prstGeom>
          <a:noFill/>
        </p:spPr>
        <p:txBody>
          <a:bodyPr wrap="square" lIns="0" rIns="0" tIns="0" bIns="0" anchor="ctr">
            <a:noAutofit/>
          </a:bodyPr>
          <a:lstStyle/>
          <a:p>
            <a:pPr algn="l"/>
            <a:r>
              <a:rPr sz="950" b="1" i="0">
                <a:solidFill>
                  <a:srgbClr val="0B0D11"/>
                </a:solidFill>
                <a:latin typeface="Segoe UI"/>
                <a:cs typeface="Segoe UI"/>
              </a:rPr>
              <a:t>Vercel</a:t>
            </a:r>
          </a:p>
        </p:txBody>
      </p:sp>
      <p:sp>
        <p:nvSpPr>
          <p:cNvPr id="341" name="Rounded Rectangle 340"/>
          <p:cNvSpPr/>
          <p:nvPr/>
        </p:nvSpPr>
        <p:spPr>
          <a:xfrm>
            <a:off x="5669280" y="786384"/>
            <a:ext cx="6190488" cy="5358384"/>
          </a:xfrm>
          <a:prstGeom prst="roundRect">
            <a:avLst>
              <a:gd name="adj" fmla="val 1706"/>
            </a:avLst>
          </a:prstGeom>
          <a:solidFill>
            <a:srgbClr val="FFFFFF"/>
          </a:solidFill>
          <a:ln w="12700">
            <a:solidFill>
              <a:srgbClr val="E6EB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2" name="Rounded Rectangle 341"/>
          <p:cNvSpPr/>
          <p:nvPr/>
        </p:nvSpPr>
        <p:spPr>
          <a:xfrm>
            <a:off x="5788152" y="914400"/>
            <a:ext cx="5943600" cy="658368"/>
          </a:xfrm>
          <a:prstGeom prst="roundRect">
            <a:avLst>
              <a:gd name="adj" fmla="val 11111"/>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3" name="Rounded Rectangle 342"/>
          <p:cNvSpPr/>
          <p:nvPr/>
        </p:nvSpPr>
        <p:spPr>
          <a:xfrm>
            <a:off x="5897880" y="1014984"/>
            <a:ext cx="457200" cy="457200"/>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44" name="Picture 343" descr="cpu_w.png"/>
          <p:cNvPicPr>
            <a:picLocks noChangeAspect="1"/>
          </p:cNvPicPr>
          <p:nvPr/>
        </p:nvPicPr>
        <p:blipFill>
          <a:blip r:embed="rId52"/>
          <a:stretch>
            <a:fillRect/>
          </a:stretch>
        </p:blipFill>
        <p:spPr>
          <a:xfrm>
            <a:off x="5989320" y="1106424"/>
            <a:ext cx="274320" cy="274320"/>
          </a:xfrm>
          <a:prstGeom prst="rect">
            <a:avLst/>
          </a:prstGeom>
        </p:spPr>
      </p:pic>
      <p:sp>
        <p:nvSpPr>
          <p:cNvPr id="345" name="TextBox 344"/>
          <p:cNvSpPr txBox="1"/>
          <p:nvPr/>
        </p:nvSpPr>
        <p:spPr>
          <a:xfrm>
            <a:off x="6492240" y="914400"/>
            <a:ext cx="2011680" cy="658368"/>
          </a:xfrm>
          <a:prstGeom prst="rect">
            <a:avLst/>
          </a:prstGeom>
          <a:noFill/>
        </p:spPr>
        <p:txBody>
          <a:bodyPr wrap="square" lIns="0" rIns="0" tIns="0" bIns="0" anchor="ctr">
            <a:noAutofit/>
          </a:bodyPr>
          <a:lstStyle/>
          <a:p>
            <a:pPr algn="l"/>
            <a:r>
              <a:rPr sz="1600" b="1" i="0">
                <a:solidFill>
                  <a:srgbClr val="0B0D11"/>
                </a:solidFill>
                <a:latin typeface="Segoe UI"/>
                <a:cs typeface="Segoe UI"/>
              </a:rPr>
              <a:t>TECHNICAL</a:t>
            </a:r>
          </a:p>
        </p:txBody>
      </p:sp>
      <p:sp>
        <p:nvSpPr>
          <p:cNvPr id="346" name="Rounded Rectangle 345"/>
          <p:cNvSpPr/>
          <p:nvPr/>
        </p:nvSpPr>
        <p:spPr>
          <a:xfrm>
            <a:off x="8412480" y="1097280"/>
            <a:ext cx="3154680" cy="292608"/>
          </a:xfrm>
          <a:prstGeom prst="roundRect">
            <a:avLst>
              <a:gd name="adj" fmla="val 15625"/>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50" b="1" i="0" spc="40">
                <a:solidFill>
                  <a:srgbClr val="2563EB"/>
                </a:solidFill>
                <a:latin typeface="Segoe UI"/>
                <a:cs typeface="Segoe UI"/>
              </a:rPr>
              <a:t>LAPTOP CPU · NO GPU NEEDED</a:t>
            </a:r>
          </a:p>
        </p:txBody>
      </p:sp>
      <p:sp>
        <p:nvSpPr>
          <p:cNvPr id="347" name="Rounded Rectangle 346"/>
          <p:cNvSpPr/>
          <p:nvPr/>
        </p:nvSpPr>
        <p:spPr>
          <a:xfrm>
            <a:off x="5788152" y="1673352"/>
            <a:ext cx="5943600" cy="658368"/>
          </a:xfrm>
          <a:prstGeom prst="roundRect">
            <a:avLst>
              <a:gd name="adj" fmla="val 11111"/>
            </a:avLst>
          </a:prstGeom>
          <a:solidFill>
            <a:srgbClr val="F5F3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8" name="Rounded Rectangle 347"/>
          <p:cNvSpPr/>
          <p:nvPr/>
        </p:nvSpPr>
        <p:spPr>
          <a:xfrm>
            <a:off x="5897880" y="1773936"/>
            <a:ext cx="457200" cy="457200"/>
          </a:xfrm>
          <a:prstGeom prst="roundRect">
            <a:avLst>
              <a:gd name="adj" fmla="val 2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49" name="Picture 348" descr="timer_w.png"/>
          <p:cNvPicPr>
            <a:picLocks noChangeAspect="1"/>
          </p:cNvPicPr>
          <p:nvPr/>
        </p:nvPicPr>
        <p:blipFill>
          <a:blip r:embed="rId53"/>
          <a:stretch>
            <a:fillRect/>
          </a:stretch>
        </p:blipFill>
        <p:spPr>
          <a:xfrm>
            <a:off x="5989320" y="1865376"/>
            <a:ext cx="274320" cy="274320"/>
          </a:xfrm>
          <a:prstGeom prst="rect">
            <a:avLst/>
          </a:prstGeom>
        </p:spPr>
      </p:pic>
      <p:sp>
        <p:nvSpPr>
          <p:cNvPr id="350" name="TextBox 349"/>
          <p:cNvSpPr txBox="1"/>
          <p:nvPr/>
        </p:nvSpPr>
        <p:spPr>
          <a:xfrm>
            <a:off x="6492240" y="1673352"/>
            <a:ext cx="2011680" cy="658368"/>
          </a:xfrm>
          <a:prstGeom prst="rect">
            <a:avLst/>
          </a:prstGeom>
          <a:noFill/>
        </p:spPr>
        <p:txBody>
          <a:bodyPr wrap="square" lIns="0" rIns="0" tIns="0" bIns="0" anchor="ctr">
            <a:noAutofit/>
          </a:bodyPr>
          <a:lstStyle/>
          <a:p>
            <a:pPr algn="l"/>
            <a:r>
              <a:rPr sz="1600" b="1" i="0">
                <a:solidFill>
                  <a:srgbClr val="0B0D11"/>
                </a:solidFill>
                <a:latin typeface="Segoe UI"/>
                <a:cs typeface="Segoe UI"/>
              </a:rPr>
              <a:t>OPERATIONAL</a:t>
            </a:r>
          </a:p>
        </p:txBody>
      </p:sp>
      <p:sp>
        <p:nvSpPr>
          <p:cNvPr id="351" name="Rounded Rectangle 350"/>
          <p:cNvSpPr/>
          <p:nvPr/>
        </p:nvSpPr>
        <p:spPr>
          <a:xfrm>
            <a:off x="8412480" y="1856232"/>
            <a:ext cx="3154680" cy="292608"/>
          </a:xfrm>
          <a:prstGeom prst="roundRect">
            <a:avLst>
              <a:gd name="adj" fmla="val 15625"/>
            </a:avLst>
          </a:prstGeom>
          <a:solidFill>
            <a:srgbClr val="FFFF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50" b="1" i="0" spc="40">
                <a:solidFill>
                  <a:srgbClr val="7C3AED"/>
                </a:solidFill>
                <a:latin typeface="Segoe UI"/>
                <a:cs typeface="Segoe UI"/>
              </a:rPr>
              <a:t>19 s CYCLE · 60 s BUDGET</a:t>
            </a:r>
          </a:p>
        </p:txBody>
      </p:sp>
      <p:sp>
        <p:nvSpPr>
          <p:cNvPr id="352" name="Rounded Rectangle 351"/>
          <p:cNvSpPr/>
          <p:nvPr/>
        </p:nvSpPr>
        <p:spPr>
          <a:xfrm>
            <a:off x="5788152" y="2432304"/>
            <a:ext cx="5943600" cy="658368"/>
          </a:xfrm>
          <a:prstGeom prst="roundRect">
            <a:avLst>
              <a:gd name="adj" fmla="val 11111"/>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3" name="Rounded Rectangle 352"/>
          <p:cNvSpPr/>
          <p:nvPr/>
        </p:nvSpPr>
        <p:spPr>
          <a:xfrm>
            <a:off x="5897880" y="2532888"/>
            <a:ext cx="457200" cy="457200"/>
          </a:xfrm>
          <a:prstGeom prst="roundRect">
            <a:avLst>
              <a:gd name="adj" fmla="val 2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54" name="Picture 353" descr="trend_w.png"/>
          <p:cNvPicPr>
            <a:picLocks noChangeAspect="1"/>
          </p:cNvPicPr>
          <p:nvPr/>
        </p:nvPicPr>
        <p:blipFill>
          <a:blip r:embed="rId54"/>
          <a:stretch>
            <a:fillRect/>
          </a:stretch>
        </p:blipFill>
        <p:spPr>
          <a:xfrm>
            <a:off x="5989320" y="2624328"/>
            <a:ext cx="274320" cy="274320"/>
          </a:xfrm>
          <a:prstGeom prst="rect">
            <a:avLst/>
          </a:prstGeom>
        </p:spPr>
      </p:pic>
      <p:sp>
        <p:nvSpPr>
          <p:cNvPr id="355" name="TextBox 354"/>
          <p:cNvSpPr txBox="1"/>
          <p:nvPr/>
        </p:nvSpPr>
        <p:spPr>
          <a:xfrm>
            <a:off x="6492240" y="2432304"/>
            <a:ext cx="2011680" cy="658368"/>
          </a:xfrm>
          <a:prstGeom prst="rect">
            <a:avLst/>
          </a:prstGeom>
          <a:noFill/>
        </p:spPr>
        <p:txBody>
          <a:bodyPr wrap="square" lIns="0" rIns="0" tIns="0" bIns="0" anchor="ctr">
            <a:noAutofit/>
          </a:bodyPr>
          <a:lstStyle/>
          <a:p>
            <a:pPr algn="l"/>
            <a:r>
              <a:rPr sz="1600" b="1" i="0">
                <a:solidFill>
                  <a:srgbClr val="0B0D11"/>
                </a:solidFill>
                <a:latin typeface="Segoe UI"/>
                <a:cs typeface="Segoe UI"/>
              </a:rPr>
              <a:t>ECONOMIC</a:t>
            </a:r>
          </a:p>
        </p:txBody>
      </p:sp>
      <p:sp>
        <p:nvSpPr>
          <p:cNvPr id="356" name="Rounded Rectangle 355"/>
          <p:cNvSpPr/>
          <p:nvPr/>
        </p:nvSpPr>
        <p:spPr>
          <a:xfrm>
            <a:off x="8412480" y="2615184"/>
            <a:ext cx="3154680" cy="292608"/>
          </a:xfrm>
          <a:prstGeom prst="roundRect">
            <a:avLst>
              <a:gd name="adj" fmla="val 15625"/>
            </a:avLst>
          </a:prstGeom>
          <a:solidFill>
            <a:srgbClr val="FFFFFF"/>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50" b="1" i="0" spc="40">
                <a:solidFill>
                  <a:srgbClr val="D97706"/>
                </a:solidFill>
                <a:latin typeface="Segoe UI"/>
                <a:cs typeface="Segoe UI"/>
              </a:rPr>
              <a:t>OPEN DATA · ₹0 LICENCES</a:t>
            </a:r>
          </a:p>
        </p:txBody>
      </p:sp>
      <p:sp>
        <p:nvSpPr>
          <p:cNvPr id="357" name="Rounded Rectangle 356"/>
          <p:cNvSpPr/>
          <p:nvPr/>
        </p:nvSpPr>
        <p:spPr>
          <a:xfrm>
            <a:off x="5788152" y="3191256"/>
            <a:ext cx="5943600" cy="658368"/>
          </a:xfrm>
          <a:prstGeom prst="roundRect">
            <a:avLst>
              <a:gd name="adj" fmla="val 11111"/>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8" name="Rounded Rectangle 357"/>
          <p:cNvSpPr/>
          <p:nvPr/>
        </p:nvSpPr>
        <p:spPr>
          <a:xfrm>
            <a:off x="5897880" y="3291839"/>
            <a:ext cx="457200" cy="457200"/>
          </a:xfrm>
          <a:prstGeom prst="roundRect">
            <a:avLst>
              <a:gd name="adj" fmla="val 2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59" name="Picture 358" descr="shield_w.png"/>
          <p:cNvPicPr>
            <a:picLocks noChangeAspect="1"/>
          </p:cNvPicPr>
          <p:nvPr/>
        </p:nvPicPr>
        <p:blipFill>
          <a:blip r:embed="rId55"/>
          <a:stretch>
            <a:fillRect/>
          </a:stretch>
        </p:blipFill>
        <p:spPr>
          <a:xfrm>
            <a:off x="5989320" y="3383279"/>
            <a:ext cx="274320" cy="274320"/>
          </a:xfrm>
          <a:prstGeom prst="rect">
            <a:avLst/>
          </a:prstGeom>
        </p:spPr>
      </p:pic>
      <p:sp>
        <p:nvSpPr>
          <p:cNvPr id="360" name="TextBox 359"/>
          <p:cNvSpPr txBox="1"/>
          <p:nvPr/>
        </p:nvSpPr>
        <p:spPr>
          <a:xfrm>
            <a:off x="6492240" y="3191256"/>
            <a:ext cx="2011680" cy="658368"/>
          </a:xfrm>
          <a:prstGeom prst="rect">
            <a:avLst/>
          </a:prstGeom>
          <a:noFill/>
        </p:spPr>
        <p:txBody>
          <a:bodyPr wrap="square" lIns="0" rIns="0" tIns="0" bIns="0" anchor="ctr">
            <a:noAutofit/>
          </a:bodyPr>
          <a:lstStyle/>
          <a:p>
            <a:pPr algn="l"/>
            <a:r>
              <a:rPr sz="1600" b="1" i="0">
                <a:solidFill>
                  <a:srgbClr val="0B0D11"/>
                </a:solidFill>
                <a:latin typeface="Segoe UI"/>
                <a:cs typeface="Segoe UI"/>
              </a:rPr>
              <a:t>REGULATORY</a:t>
            </a:r>
          </a:p>
        </p:txBody>
      </p:sp>
      <p:sp>
        <p:nvSpPr>
          <p:cNvPr id="361" name="Rounded Rectangle 360"/>
          <p:cNvSpPr/>
          <p:nvPr/>
        </p:nvSpPr>
        <p:spPr>
          <a:xfrm>
            <a:off x="8412480" y="3374136"/>
            <a:ext cx="3154680" cy="292608"/>
          </a:xfrm>
          <a:prstGeom prst="roundRect">
            <a:avLst>
              <a:gd name="adj" fmla="val 15625"/>
            </a:avLst>
          </a:prstGeom>
          <a:solidFill>
            <a:srgbClr val="FFFFFF"/>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50" b="1" i="0" spc="40">
                <a:solidFill>
                  <a:srgbClr val="DC2626"/>
                </a:solidFill>
                <a:latin typeface="Segoe UI"/>
                <a:cs typeface="Segoe UI"/>
              </a:rPr>
              <a:t>CAP 1.2 · NDMA ALIGNED</a:t>
            </a:r>
          </a:p>
        </p:txBody>
      </p:sp>
      <p:sp>
        <p:nvSpPr>
          <p:cNvPr id="362" name="Rounded Rectangle 361"/>
          <p:cNvSpPr/>
          <p:nvPr/>
        </p:nvSpPr>
        <p:spPr>
          <a:xfrm>
            <a:off x="5788152" y="3986784"/>
            <a:ext cx="5943600" cy="329184"/>
          </a:xfrm>
          <a:prstGeom prst="roundRect">
            <a:avLst>
              <a:gd name="adj" fmla="val 16666"/>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3" name="Oval 362"/>
          <p:cNvSpPr/>
          <p:nvPr/>
        </p:nvSpPr>
        <p:spPr>
          <a:xfrm>
            <a:off x="5897880" y="4105656"/>
            <a:ext cx="82296" cy="82296"/>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4" name="Oval 363"/>
          <p:cNvSpPr/>
          <p:nvPr/>
        </p:nvSpPr>
        <p:spPr>
          <a:xfrm>
            <a:off x="6035040" y="410565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5" name="Oval 364"/>
          <p:cNvSpPr/>
          <p:nvPr/>
        </p:nvSpPr>
        <p:spPr>
          <a:xfrm>
            <a:off x="6172200" y="4105656"/>
            <a:ext cx="82296" cy="82296"/>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6" name="TextBox 365"/>
          <p:cNvSpPr txBox="1"/>
          <p:nvPr/>
        </p:nvSpPr>
        <p:spPr>
          <a:xfrm>
            <a:off x="6382512" y="3986784"/>
            <a:ext cx="3931920" cy="329184"/>
          </a:xfrm>
          <a:prstGeom prst="rect">
            <a:avLst/>
          </a:prstGeom>
          <a:noFill/>
        </p:spPr>
        <p:txBody>
          <a:bodyPr wrap="square" lIns="0" rIns="0" tIns="0" bIns="0" anchor="ctr">
            <a:noAutofit/>
          </a:bodyPr>
          <a:lstStyle/>
          <a:p>
            <a:pPr algn="l"/>
            <a:r>
              <a:rPr sz="1050" b="0" i="0">
                <a:solidFill>
                  <a:srgbClr val="60A5FA"/>
                </a:solidFill>
                <a:latin typeface="Consolas"/>
                <a:cs typeface="Consolas"/>
              </a:rPr>
              <a:t>$ python -m forecast.run --t0 115  →  cycle 19 s</a:t>
            </a:r>
          </a:p>
        </p:txBody>
      </p:sp>
      <p:sp>
        <p:nvSpPr>
          <p:cNvPr id="367" name="TextBox 366"/>
          <p:cNvSpPr txBox="1"/>
          <p:nvPr/>
        </p:nvSpPr>
        <p:spPr>
          <a:xfrm>
            <a:off x="10058400" y="3986784"/>
            <a:ext cx="1572768" cy="329184"/>
          </a:xfrm>
          <a:prstGeom prst="rect">
            <a:avLst/>
          </a:prstGeom>
          <a:noFill/>
        </p:spPr>
        <p:txBody>
          <a:bodyPr wrap="square" lIns="0" rIns="0" tIns="0" bIns="0" anchor="ctr">
            <a:noAutofit/>
          </a:bodyPr>
          <a:lstStyle/>
          <a:p>
            <a:pPr algn="r"/>
            <a:r>
              <a:rPr sz="1050" b="0" i="0">
                <a:solidFill>
                  <a:srgbClr val="4ADE80"/>
                </a:solidFill>
                <a:latin typeface="Consolas"/>
                <a:cs typeface="Consolas"/>
              </a:rPr>
              <a:t>✓ OPERATIONAL</a:t>
            </a:r>
          </a:p>
        </p:txBody>
      </p:sp>
      <p:sp>
        <p:nvSpPr>
          <p:cNvPr id="368" name="TextBox 367"/>
          <p:cNvSpPr txBox="1"/>
          <p:nvPr/>
        </p:nvSpPr>
        <p:spPr>
          <a:xfrm>
            <a:off x="5806440" y="4443984"/>
            <a:ext cx="5852160" cy="201168"/>
          </a:xfrm>
          <a:prstGeom prst="rect">
            <a:avLst/>
          </a:prstGeom>
          <a:noFill/>
        </p:spPr>
        <p:txBody>
          <a:bodyPr wrap="square" lIns="0" rIns="0" tIns="0" bIns="0" anchor="t">
            <a:noAutofit/>
          </a:bodyPr>
          <a:lstStyle/>
          <a:p>
            <a:pPr algn="l"/>
            <a:r>
              <a:rPr sz="1000" b="1" i="0" spc="40">
                <a:solidFill>
                  <a:srgbClr val="475569"/>
                </a:solidFill>
                <a:latin typeface="Segoe UI"/>
                <a:cs typeface="Segoe UI"/>
              </a:rPr>
              <a:t>READINESS  —  </a:t>
            </a:r>
            <a:r>
              <a:rPr sz="1000" b="1" i="0" spc="40">
                <a:solidFill>
                  <a:srgbClr val="0B0D11"/>
                </a:solidFill>
                <a:latin typeface="Segoe UI"/>
                <a:cs typeface="Segoe UI"/>
              </a:rPr>
              <a:t>self-assessed, out of 100</a:t>
            </a:r>
          </a:p>
        </p:txBody>
      </p:sp>
      <p:sp>
        <p:nvSpPr>
          <p:cNvPr id="369" name="TextBox 368"/>
          <p:cNvSpPr txBox="1"/>
          <p:nvPr/>
        </p:nvSpPr>
        <p:spPr>
          <a:xfrm>
            <a:off x="5760720" y="4690872"/>
            <a:ext cx="1097280" cy="274320"/>
          </a:xfrm>
          <a:prstGeom prst="rect">
            <a:avLst/>
          </a:prstGeom>
          <a:noFill/>
        </p:spPr>
        <p:txBody>
          <a:bodyPr wrap="square" lIns="0" rIns="0" tIns="0" bIns="0" anchor="ctr">
            <a:noAutofit/>
          </a:bodyPr>
          <a:lstStyle/>
          <a:p>
            <a:pPr algn="r"/>
            <a:r>
              <a:rPr sz="1150" b="0" i="0">
                <a:solidFill>
                  <a:srgbClr val="0B0D11"/>
                </a:solidFill>
                <a:latin typeface="Segoe UI"/>
                <a:cs typeface="Segoe UI"/>
              </a:rPr>
              <a:t>Technical</a:t>
            </a:r>
          </a:p>
        </p:txBody>
      </p:sp>
      <p:sp>
        <p:nvSpPr>
          <p:cNvPr id="370" name="Rounded Rectangle 369"/>
          <p:cNvSpPr/>
          <p:nvPr/>
        </p:nvSpPr>
        <p:spPr>
          <a:xfrm>
            <a:off x="6949440" y="4709160"/>
            <a:ext cx="4754880" cy="237744"/>
          </a:xfrm>
          <a:prstGeom prst="roundRect">
            <a:avLst>
              <a:gd name="adj" fmla="val 1538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1" name="Rounded Rectangle 370"/>
          <p:cNvSpPr/>
          <p:nvPr/>
        </p:nvSpPr>
        <p:spPr>
          <a:xfrm>
            <a:off x="6949440" y="4709160"/>
            <a:ext cx="4279392" cy="237744"/>
          </a:xfrm>
          <a:prstGeom prst="roundRect">
            <a:avLst>
              <a:gd name="adj" fmla="val 15384"/>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2" name="TextBox 371"/>
          <p:cNvSpPr txBox="1"/>
          <p:nvPr/>
        </p:nvSpPr>
        <p:spPr>
          <a:xfrm>
            <a:off x="10771632" y="4709160"/>
            <a:ext cx="384048" cy="237744"/>
          </a:xfrm>
          <a:prstGeom prst="rect">
            <a:avLst/>
          </a:prstGeom>
          <a:noFill/>
        </p:spPr>
        <p:txBody>
          <a:bodyPr wrap="square" lIns="0" rIns="0" tIns="0" bIns="0" anchor="ctr">
            <a:noAutofit/>
          </a:bodyPr>
          <a:lstStyle/>
          <a:p>
            <a:pPr algn="r"/>
            <a:r>
              <a:rPr sz="1100" b="1" i="0">
                <a:solidFill>
                  <a:srgbClr val="FFFFFF"/>
                </a:solidFill>
                <a:latin typeface="Segoe UI"/>
                <a:cs typeface="Segoe UI"/>
              </a:rPr>
              <a:t>90</a:t>
            </a:r>
          </a:p>
        </p:txBody>
      </p:sp>
      <p:sp>
        <p:nvSpPr>
          <p:cNvPr id="373" name="TextBox 372"/>
          <p:cNvSpPr txBox="1"/>
          <p:nvPr/>
        </p:nvSpPr>
        <p:spPr>
          <a:xfrm>
            <a:off x="5760720" y="5038344"/>
            <a:ext cx="1097280" cy="274320"/>
          </a:xfrm>
          <a:prstGeom prst="rect">
            <a:avLst/>
          </a:prstGeom>
          <a:noFill/>
        </p:spPr>
        <p:txBody>
          <a:bodyPr wrap="square" lIns="0" rIns="0" tIns="0" bIns="0" anchor="ctr">
            <a:noAutofit/>
          </a:bodyPr>
          <a:lstStyle/>
          <a:p>
            <a:pPr algn="r"/>
            <a:r>
              <a:rPr sz="1150" b="0" i="0">
                <a:solidFill>
                  <a:srgbClr val="0B0D11"/>
                </a:solidFill>
                <a:latin typeface="Segoe UI"/>
                <a:cs typeface="Segoe UI"/>
              </a:rPr>
              <a:t>Operational</a:t>
            </a:r>
          </a:p>
        </p:txBody>
      </p:sp>
      <p:sp>
        <p:nvSpPr>
          <p:cNvPr id="374" name="Rounded Rectangle 373"/>
          <p:cNvSpPr/>
          <p:nvPr/>
        </p:nvSpPr>
        <p:spPr>
          <a:xfrm>
            <a:off x="6949440" y="5056632"/>
            <a:ext cx="4754880" cy="237744"/>
          </a:xfrm>
          <a:prstGeom prst="roundRect">
            <a:avLst>
              <a:gd name="adj" fmla="val 1538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5" name="Rounded Rectangle 374"/>
          <p:cNvSpPr/>
          <p:nvPr/>
        </p:nvSpPr>
        <p:spPr>
          <a:xfrm>
            <a:off x="6949440" y="5056632"/>
            <a:ext cx="3803904" cy="237744"/>
          </a:xfrm>
          <a:prstGeom prst="roundRect">
            <a:avLst>
              <a:gd name="adj" fmla="val 15384"/>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6" name="TextBox 375"/>
          <p:cNvSpPr txBox="1"/>
          <p:nvPr/>
        </p:nvSpPr>
        <p:spPr>
          <a:xfrm>
            <a:off x="10296144" y="5056632"/>
            <a:ext cx="384048" cy="237744"/>
          </a:xfrm>
          <a:prstGeom prst="rect">
            <a:avLst/>
          </a:prstGeom>
          <a:noFill/>
        </p:spPr>
        <p:txBody>
          <a:bodyPr wrap="square" lIns="0" rIns="0" tIns="0" bIns="0" anchor="ctr">
            <a:noAutofit/>
          </a:bodyPr>
          <a:lstStyle/>
          <a:p>
            <a:pPr algn="r"/>
            <a:r>
              <a:rPr sz="1100" b="1" i="0">
                <a:solidFill>
                  <a:srgbClr val="FFFFFF"/>
                </a:solidFill>
                <a:latin typeface="Segoe UI"/>
                <a:cs typeface="Segoe UI"/>
              </a:rPr>
              <a:t>80</a:t>
            </a:r>
          </a:p>
        </p:txBody>
      </p:sp>
      <p:sp>
        <p:nvSpPr>
          <p:cNvPr id="377" name="TextBox 376"/>
          <p:cNvSpPr txBox="1"/>
          <p:nvPr/>
        </p:nvSpPr>
        <p:spPr>
          <a:xfrm>
            <a:off x="5760720" y="5385816"/>
            <a:ext cx="1097280" cy="274320"/>
          </a:xfrm>
          <a:prstGeom prst="rect">
            <a:avLst/>
          </a:prstGeom>
          <a:noFill/>
        </p:spPr>
        <p:txBody>
          <a:bodyPr wrap="square" lIns="0" rIns="0" tIns="0" bIns="0" anchor="ctr">
            <a:noAutofit/>
          </a:bodyPr>
          <a:lstStyle/>
          <a:p>
            <a:pPr algn="r"/>
            <a:r>
              <a:rPr sz="1150" b="0" i="0">
                <a:solidFill>
                  <a:srgbClr val="0B0D11"/>
                </a:solidFill>
                <a:latin typeface="Segoe UI"/>
                <a:cs typeface="Segoe UI"/>
              </a:rPr>
              <a:t>Economic</a:t>
            </a:r>
          </a:p>
        </p:txBody>
      </p:sp>
      <p:sp>
        <p:nvSpPr>
          <p:cNvPr id="378" name="Rounded Rectangle 377"/>
          <p:cNvSpPr/>
          <p:nvPr/>
        </p:nvSpPr>
        <p:spPr>
          <a:xfrm>
            <a:off x="6949440" y="5404104"/>
            <a:ext cx="4754880" cy="237744"/>
          </a:xfrm>
          <a:prstGeom prst="roundRect">
            <a:avLst>
              <a:gd name="adj" fmla="val 1538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9" name="Rounded Rectangle 378"/>
          <p:cNvSpPr/>
          <p:nvPr/>
        </p:nvSpPr>
        <p:spPr>
          <a:xfrm>
            <a:off x="6949440" y="5404104"/>
            <a:ext cx="4184294" cy="237744"/>
          </a:xfrm>
          <a:prstGeom prst="roundRect">
            <a:avLst>
              <a:gd name="adj" fmla="val 15384"/>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0" name="TextBox 379"/>
          <p:cNvSpPr txBox="1"/>
          <p:nvPr/>
        </p:nvSpPr>
        <p:spPr>
          <a:xfrm>
            <a:off x="10676534" y="5404104"/>
            <a:ext cx="384048" cy="237744"/>
          </a:xfrm>
          <a:prstGeom prst="rect">
            <a:avLst/>
          </a:prstGeom>
          <a:noFill/>
        </p:spPr>
        <p:txBody>
          <a:bodyPr wrap="square" lIns="0" rIns="0" tIns="0" bIns="0" anchor="ctr">
            <a:noAutofit/>
          </a:bodyPr>
          <a:lstStyle/>
          <a:p>
            <a:pPr algn="r"/>
            <a:r>
              <a:rPr sz="1100" b="1" i="0">
                <a:solidFill>
                  <a:srgbClr val="FFFFFF"/>
                </a:solidFill>
                <a:latin typeface="Segoe UI"/>
                <a:cs typeface="Segoe UI"/>
              </a:rPr>
              <a:t>88</a:t>
            </a:r>
          </a:p>
        </p:txBody>
      </p:sp>
      <p:sp>
        <p:nvSpPr>
          <p:cNvPr id="381" name="TextBox 380"/>
          <p:cNvSpPr txBox="1"/>
          <p:nvPr/>
        </p:nvSpPr>
        <p:spPr>
          <a:xfrm>
            <a:off x="5760720" y="5733288"/>
            <a:ext cx="1097280" cy="274320"/>
          </a:xfrm>
          <a:prstGeom prst="rect">
            <a:avLst/>
          </a:prstGeom>
          <a:noFill/>
        </p:spPr>
        <p:txBody>
          <a:bodyPr wrap="square" lIns="0" rIns="0" tIns="0" bIns="0" anchor="ctr">
            <a:noAutofit/>
          </a:bodyPr>
          <a:lstStyle/>
          <a:p>
            <a:pPr algn="r"/>
            <a:r>
              <a:rPr sz="1150" b="0" i="0">
                <a:solidFill>
                  <a:srgbClr val="0B0D11"/>
                </a:solidFill>
                <a:latin typeface="Segoe UI"/>
                <a:cs typeface="Segoe UI"/>
              </a:rPr>
              <a:t>Regulatory</a:t>
            </a:r>
          </a:p>
        </p:txBody>
      </p:sp>
      <p:sp>
        <p:nvSpPr>
          <p:cNvPr id="382" name="Rounded Rectangle 381"/>
          <p:cNvSpPr/>
          <p:nvPr/>
        </p:nvSpPr>
        <p:spPr>
          <a:xfrm>
            <a:off x="6949440" y="5751576"/>
            <a:ext cx="4754880" cy="237744"/>
          </a:xfrm>
          <a:prstGeom prst="roundRect">
            <a:avLst>
              <a:gd name="adj" fmla="val 1538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3" name="Rounded Rectangle 382"/>
          <p:cNvSpPr/>
          <p:nvPr/>
        </p:nvSpPr>
        <p:spPr>
          <a:xfrm>
            <a:off x="6949440" y="5751576"/>
            <a:ext cx="3708806" cy="237744"/>
          </a:xfrm>
          <a:prstGeom prst="roundRect">
            <a:avLst>
              <a:gd name="adj" fmla="val 15384"/>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4" name="TextBox 383"/>
          <p:cNvSpPr txBox="1"/>
          <p:nvPr/>
        </p:nvSpPr>
        <p:spPr>
          <a:xfrm>
            <a:off x="10201046" y="5751576"/>
            <a:ext cx="384048" cy="237744"/>
          </a:xfrm>
          <a:prstGeom prst="rect">
            <a:avLst/>
          </a:prstGeom>
          <a:noFill/>
        </p:spPr>
        <p:txBody>
          <a:bodyPr wrap="square" lIns="0" rIns="0" tIns="0" bIns="0" anchor="ctr">
            <a:noAutofit/>
          </a:bodyPr>
          <a:lstStyle/>
          <a:p>
            <a:pPr algn="r"/>
            <a:r>
              <a:rPr sz="1100" b="1" i="0">
                <a:solidFill>
                  <a:srgbClr val="FFFFFF"/>
                </a:solidFill>
                <a:latin typeface="Segoe UI"/>
                <a:cs typeface="Segoe UI"/>
              </a:rPr>
              <a:t>78</a:t>
            </a:r>
          </a:p>
        </p:txBody>
      </p:sp>
      <p:sp>
        <p:nvSpPr>
          <p:cNvPr id="385" name="Rounded Rectangle 384"/>
          <p:cNvSpPr/>
          <p:nvPr/>
        </p:nvSpPr>
        <p:spPr>
          <a:xfrm>
            <a:off x="11951208" y="786384"/>
            <a:ext cx="6190488" cy="5358384"/>
          </a:xfrm>
          <a:prstGeom prst="roundRect">
            <a:avLst>
              <a:gd name="adj" fmla="val 1706"/>
            </a:avLst>
          </a:prstGeom>
          <a:solidFill>
            <a:srgbClr val="FFFFFF"/>
          </a:solidFill>
          <a:ln w="12700">
            <a:solidFill>
              <a:srgbClr val="E6EB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6" name="TextBox 385"/>
          <p:cNvSpPr txBox="1"/>
          <p:nvPr/>
        </p:nvSpPr>
        <p:spPr>
          <a:xfrm>
            <a:off x="12070080" y="914400"/>
            <a:ext cx="5943600" cy="201168"/>
          </a:xfrm>
          <a:prstGeom prst="rect">
            <a:avLst/>
          </a:prstGeom>
          <a:noFill/>
        </p:spPr>
        <p:txBody>
          <a:bodyPr wrap="square" lIns="0" rIns="0" tIns="0" bIns="0" anchor="t">
            <a:noAutofit/>
          </a:bodyPr>
          <a:lstStyle/>
          <a:p>
            <a:pPr algn="l"/>
            <a:r>
              <a:rPr sz="950" b="1" i="0">
                <a:solidFill>
                  <a:srgbClr val="475569"/>
                </a:solidFill>
                <a:latin typeface="Segoe UI"/>
                <a:cs typeface="Segoe UI"/>
              </a:rPr>
              <a:t>THE RISK IS REAL  —  </a:t>
            </a:r>
            <a:r>
              <a:rPr sz="950" b="0" i="0">
                <a:solidFill>
                  <a:srgbClr val="0B0D11"/>
                </a:solidFill>
                <a:latin typeface="Segoe UI"/>
                <a:cs typeface="Segoe UI"/>
              </a:rPr>
              <a:t>wettest day each year, Ghaziabad (mm), from the repo's 10-year record</a:t>
            </a:r>
          </a:p>
        </p:txBody>
      </p:sp>
      <p:graphicFrame>
        <p:nvGraphicFramePr>
          <p:cNvPr id="387" name="Chart 386"/>
          <p:cNvGraphicFramePr>
            <a:graphicFrameLocks noGrp="1"/>
          </p:cNvGraphicFramePr>
          <p:nvPr/>
        </p:nvGraphicFramePr>
        <p:xfrm>
          <a:off x="12024360" y="1115568"/>
          <a:ext cx="6035040" cy="1463040"/>
        </p:xfrm>
        <a:graphic>
          <a:graphicData uri="http://schemas.openxmlformats.org/drawingml/2006/chart">
            <c:chart xmlns:c="http://schemas.openxmlformats.org/drawingml/2006/chart" r:id="rId56"/>
          </a:graphicData>
        </a:graphic>
      </p:graphicFrame>
      <p:sp>
        <p:nvSpPr>
          <p:cNvPr id="388" name="Rounded Rectangle 387"/>
          <p:cNvSpPr/>
          <p:nvPr/>
        </p:nvSpPr>
        <p:spPr>
          <a:xfrm>
            <a:off x="12070080" y="2670048"/>
            <a:ext cx="5943600" cy="658368"/>
          </a:xfrm>
          <a:prstGeom prst="roundRect">
            <a:avLst>
              <a:gd name="adj" fmla="val 11111"/>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9" name="Rounded Rectangle 388"/>
          <p:cNvSpPr/>
          <p:nvPr/>
        </p:nvSpPr>
        <p:spPr>
          <a:xfrm>
            <a:off x="12179808" y="2770632"/>
            <a:ext cx="457200" cy="457200"/>
          </a:xfrm>
          <a:prstGeom prst="roundRect">
            <a:avLst>
              <a:gd name="adj" fmla="val 2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90" name="Picture 389" descr="landmark_w.png"/>
          <p:cNvPicPr>
            <a:picLocks noChangeAspect="1"/>
          </p:cNvPicPr>
          <p:nvPr/>
        </p:nvPicPr>
        <p:blipFill>
          <a:blip r:embed="rId57"/>
          <a:stretch>
            <a:fillRect/>
          </a:stretch>
        </p:blipFill>
        <p:spPr>
          <a:xfrm>
            <a:off x="12271248" y="2862072"/>
            <a:ext cx="274320" cy="274320"/>
          </a:xfrm>
          <a:prstGeom prst="rect">
            <a:avLst/>
          </a:prstGeom>
        </p:spPr>
      </p:pic>
      <p:sp>
        <p:nvSpPr>
          <p:cNvPr id="391" name="TextBox 390"/>
          <p:cNvSpPr txBox="1"/>
          <p:nvPr/>
        </p:nvSpPr>
        <p:spPr>
          <a:xfrm>
            <a:off x="12755880" y="2670048"/>
            <a:ext cx="3108960" cy="658368"/>
          </a:xfrm>
          <a:prstGeom prst="rect">
            <a:avLst/>
          </a:prstGeom>
          <a:noFill/>
        </p:spPr>
        <p:txBody>
          <a:bodyPr wrap="square" lIns="0" rIns="0" tIns="0" bIns="0" anchor="ctr">
            <a:noAutofit/>
          </a:bodyPr>
          <a:lstStyle/>
          <a:p>
            <a:pPr algn="l"/>
            <a:r>
              <a:rPr sz="1450" b="1" i="0">
                <a:solidFill>
                  <a:srgbClr val="0B0D11"/>
                </a:solidFill>
                <a:latin typeface="Segoe UI"/>
                <a:cs typeface="Segoe UI"/>
              </a:rPr>
              <a:t>POLICY IS ON OUR SIDE</a:t>
            </a:r>
          </a:p>
        </p:txBody>
      </p:sp>
      <p:sp>
        <p:nvSpPr>
          <p:cNvPr id="392" name="Rounded Rectangle 391"/>
          <p:cNvSpPr/>
          <p:nvPr/>
        </p:nvSpPr>
        <p:spPr>
          <a:xfrm>
            <a:off x="15590520" y="2852928"/>
            <a:ext cx="2286000" cy="292608"/>
          </a:xfrm>
          <a:prstGeom prst="roundRect">
            <a:avLst>
              <a:gd name="adj" fmla="val 15625"/>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850" b="1" i="0" spc="30">
                <a:solidFill>
                  <a:srgbClr val="334155"/>
                </a:solidFill>
                <a:latin typeface="Segoe UI"/>
                <a:cs typeface="Segoe UI"/>
              </a:rPr>
              <a:t>NDMA URBAN FLOOD GUIDELINES</a:t>
            </a:r>
          </a:p>
        </p:txBody>
      </p:sp>
      <p:sp>
        <p:nvSpPr>
          <p:cNvPr id="393" name="Rounded Rectangle 392"/>
          <p:cNvSpPr/>
          <p:nvPr/>
        </p:nvSpPr>
        <p:spPr>
          <a:xfrm>
            <a:off x="12070080" y="3419856"/>
            <a:ext cx="5943600" cy="658368"/>
          </a:xfrm>
          <a:prstGeom prst="roundRect">
            <a:avLst>
              <a:gd name="adj" fmla="val 11111"/>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4" name="Rounded Rectangle 393"/>
          <p:cNvSpPr/>
          <p:nvPr/>
        </p:nvSpPr>
        <p:spPr>
          <a:xfrm>
            <a:off x="12179808" y="3520439"/>
            <a:ext cx="457200" cy="457200"/>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395" name="Picture 394" descr="blocks_w.png"/>
          <p:cNvPicPr>
            <a:picLocks noChangeAspect="1"/>
          </p:cNvPicPr>
          <p:nvPr/>
        </p:nvPicPr>
        <p:blipFill>
          <a:blip r:embed="rId58"/>
          <a:stretch>
            <a:fillRect/>
          </a:stretch>
        </p:blipFill>
        <p:spPr>
          <a:xfrm>
            <a:off x="12271248" y="3611879"/>
            <a:ext cx="274320" cy="274320"/>
          </a:xfrm>
          <a:prstGeom prst="rect">
            <a:avLst/>
          </a:prstGeom>
        </p:spPr>
      </p:pic>
      <p:sp>
        <p:nvSpPr>
          <p:cNvPr id="396" name="TextBox 395"/>
          <p:cNvSpPr txBox="1"/>
          <p:nvPr/>
        </p:nvSpPr>
        <p:spPr>
          <a:xfrm>
            <a:off x="12755880" y="3419856"/>
            <a:ext cx="3108960" cy="658368"/>
          </a:xfrm>
          <a:prstGeom prst="rect">
            <a:avLst/>
          </a:prstGeom>
          <a:noFill/>
        </p:spPr>
        <p:txBody>
          <a:bodyPr wrap="square" lIns="0" rIns="0" tIns="0" bIns="0" anchor="ctr">
            <a:noAutofit/>
          </a:bodyPr>
          <a:lstStyle/>
          <a:p>
            <a:pPr algn="l"/>
            <a:r>
              <a:rPr sz="1450" b="1" i="0">
                <a:solidFill>
                  <a:srgbClr val="0B0D11"/>
                </a:solidFill>
                <a:latin typeface="Segoe UI"/>
                <a:cs typeface="Segoe UI"/>
              </a:rPr>
              <a:t>NOTHING TO REWRITE</a:t>
            </a:r>
          </a:p>
        </p:txBody>
      </p:sp>
      <p:sp>
        <p:nvSpPr>
          <p:cNvPr id="397" name="Rounded Rectangle 396"/>
          <p:cNvSpPr/>
          <p:nvPr/>
        </p:nvSpPr>
        <p:spPr>
          <a:xfrm>
            <a:off x="15590520" y="3602736"/>
            <a:ext cx="2286000" cy="292608"/>
          </a:xfrm>
          <a:prstGeom prst="roundRect">
            <a:avLst>
              <a:gd name="adj" fmla="val 15625"/>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850" b="1" i="0" spc="30">
                <a:solidFill>
                  <a:srgbClr val="2563EB"/>
                </a:solidFill>
                <a:latin typeface="Segoe UI"/>
                <a:cs typeface="Segoe UI"/>
              </a:rPr>
              <a:t>SURVEYED DRAINS DROP IN</a:t>
            </a:r>
          </a:p>
        </p:txBody>
      </p:sp>
      <p:sp>
        <p:nvSpPr>
          <p:cNvPr id="398" name="Rounded Rectangle 397"/>
          <p:cNvSpPr/>
          <p:nvPr/>
        </p:nvSpPr>
        <p:spPr>
          <a:xfrm>
            <a:off x="12070080" y="4169663"/>
            <a:ext cx="5943600" cy="658368"/>
          </a:xfrm>
          <a:prstGeom prst="roundRect">
            <a:avLst>
              <a:gd name="adj" fmla="val 11111"/>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9" name="Rounded Rectangle 398"/>
          <p:cNvSpPr/>
          <p:nvPr/>
        </p:nvSpPr>
        <p:spPr>
          <a:xfrm>
            <a:off x="12179808" y="4270248"/>
            <a:ext cx="457200" cy="457200"/>
          </a:xfrm>
          <a:prstGeom prst="roundRect">
            <a:avLst>
              <a:gd name="adj" fmla="val 2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00" name="Picture 399" descr="globe_w.png"/>
          <p:cNvPicPr>
            <a:picLocks noChangeAspect="1"/>
          </p:cNvPicPr>
          <p:nvPr/>
        </p:nvPicPr>
        <p:blipFill>
          <a:blip r:embed="rId59"/>
          <a:stretch>
            <a:fillRect/>
          </a:stretch>
        </p:blipFill>
        <p:spPr>
          <a:xfrm>
            <a:off x="12271248" y="4361688"/>
            <a:ext cx="274320" cy="274320"/>
          </a:xfrm>
          <a:prstGeom prst="rect">
            <a:avLst/>
          </a:prstGeom>
        </p:spPr>
      </p:pic>
      <p:sp>
        <p:nvSpPr>
          <p:cNvPr id="401" name="TextBox 400"/>
          <p:cNvSpPr txBox="1"/>
          <p:nvPr/>
        </p:nvSpPr>
        <p:spPr>
          <a:xfrm>
            <a:off x="12755880" y="4169663"/>
            <a:ext cx="3108960" cy="658368"/>
          </a:xfrm>
          <a:prstGeom prst="rect">
            <a:avLst/>
          </a:prstGeom>
          <a:noFill/>
        </p:spPr>
        <p:txBody>
          <a:bodyPr wrap="square" lIns="0" rIns="0" tIns="0" bIns="0" anchor="ctr">
            <a:noAutofit/>
          </a:bodyPr>
          <a:lstStyle/>
          <a:p>
            <a:pPr algn="l"/>
            <a:r>
              <a:rPr sz="1450" b="1" i="0">
                <a:solidFill>
                  <a:srgbClr val="0B0D11"/>
                </a:solidFill>
                <a:latin typeface="Segoe UI"/>
                <a:cs typeface="Segoe UI"/>
              </a:rPr>
              <a:t>THE NEXT CITY IS A CONFIG</a:t>
            </a:r>
          </a:p>
        </p:txBody>
      </p:sp>
      <p:sp>
        <p:nvSpPr>
          <p:cNvPr id="402" name="Rounded Rectangle 401"/>
          <p:cNvSpPr/>
          <p:nvPr/>
        </p:nvSpPr>
        <p:spPr>
          <a:xfrm>
            <a:off x="15590520" y="4352544"/>
            <a:ext cx="2286000" cy="292608"/>
          </a:xfrm>
          <a:prstGeom prst="roundRect">
            <a:avLst>
              <a:gd name="adj" fmla="val 15625"/>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850" b="1" i="0" spc="30">
                <a:solidFill>
                  <a:srgbClr val="059669"/>
                </a:solidFill>
                <a:latin typeface="Segoe UI"/>
                <a:cs typeface="Segoe UI"/>
              </a:rPr>
              <a:t>1 → N WARDS</a:t>
            </a:r>
          </a:p>
        </p:txBody>
      </p:sp>
      <p:sp>
        <p:nvSpPr>
          <p:cNvPr id="403" name="TextBox 402"/>
          <p:cNvSpPr txBox="1"/>
          <p:nvPr/>
        </p:nvSpPr>
        <p:spPr>
          <a:xfrm>
            <a:off x="12070080" y="4956048"/>
            <a:ext cx="2743200" cy="182880"/>
          </a:xfrm>
          <a:prstGeom prst="rect">
            <a:avLst/>
          </a:prstGeom>
          <a:noFill/>
        </p:spPr>
        <p:txBody>
          <a:bodyPr wrap="square" lIns="0" rIns="0" tIns="0" bIns="0" anchor="t">
            <a:noAutofit/>
          </a:bodyPr>
          <a:lstStyle/>
          <a:p>
            <a:pPr algn="l"/>
            <a:r>
              <a:rPr sz="1000" b="1" i="0" spc="80">
                <a:solidFill>
                  <a:srgbClr val="475569"/>
                </a:solidFill>
                <a:latin typeface="Segoe UI"/>
                <a:cs typeface="Segoe UI"/>
              </a:rPr>
              <a:t>ALREADY ON DISK</a:t>
            </a:r>
          </a:p>
        </p:txBody>
      </p:sp>
      <p:sp>
        <p:nvSpPr>
          <p:cNvPr id="404" name="Rounded Rectangle 403"/>
          <p:cNvSpPr/>
          <p:nvPr/>
        </p:nvSpPr>
        <p:spPr>
          <a:xfrm>
            <a:off x="12070080" y="5175504"/>
            <a:ext cx="1920240" cy="877824"/>
          </a:xfrm>
          <a:prstGeom prst="roundRect">
            <a:avLst>
              <a:gd name="adj" fmla="val 8333"/>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5" name="TextBox 404"/>
          <p:cNvSpPr txBox="1"/>
          <p:nvPr/>
        </p:nvSpPr>
        <p:spPr>
          <a:xfrm>
            <a:off x="12198096" y="5193792"/>
            <a:ext cx="1737360" cy="402336"/>
          </a:xfrm>
          <a:prstGeom prst="rect">
            <a:avLst/>
          </a:prstGeom>
          <a:noFill/>
        </p:spPr>
        <p:txBody>
          <a:bodyPr wrap="square" lIns="0" rIns="0" tIns="0" bIns="0" anchor="ctr">
            <a:noAutofit/>
          </a:bodyPr>
          <a:lstStyle/>
          <a:p>
            <a:pPr algn="l"/>
            <a:r>
              <a:rPr sz="2200" b="1" i="0">
                <a:solidFill>
                  <a:srgbClr val="2563EB"/>
                </a:solidFill>
                <a:latin typeface="Segoe UI"/>
                <a:cs typeface="Segoe UI"/>
              </a:rPr>
              <a:t>290</a:t>
            </a:r>
          </a:p>
        </p:txBody>
      </p:sp>
      <p:sp>
        <p:nvSpPr>
          <p:cNvPr id="406" name="TextBox 405"/>
          <p:cNvSpPr txBox="1"/>
          <p:nvPr/>
        </p:nvSpPr>
        <p:spPr>
          <a:xfrm>
            <a:off x="12198096" y="5577840"/>
            <a:ext cx="1737360" cy="438912"/>
          </a:xfrm>
          <a:prstGeom prst="rect">
            <a:avLst/>
          </a:prstGeom>
          <a:noFill/>
        </p:spPr>
        <p:txBody>
          <a:bodyPr wrap="square" lIns="0" rIns="0" tIns="0" bIns="0" anchor="t">
            <a:noAutofit/>
          </a:bodyPr>
          <a:lstStyle/>
          <a:p>
            <a:pPr algn="l">
              <a:lnSpc>
                <a:spcPct val="95000"/>
              </a:lnSpc>
            </a:pPr>
            <a:r>
              <a:rPr sz="900" b="0" i="0">
                <a:solidFill>
                  <a:srgbClr val="475569"/>
                </a:solidFill>
                <a:latin typeface="Segoe UI"/>
                <a:cs typeface="Segoe UI"/>
              </a:rPr>
              <a:t>physics storm runs, 6 h each, for training</a:t>
            </a:r>
          </a:p>
        </p:txBody>
      </p:sp>
      <p:sp>
        <p:nvSpPr>
          <p:cNvPr id="407" name="Rounded Rectangle 406"/>
          <p:cNvSpPr/>
          <p:nvPr/>
        </p:nvSpPr>
        <p:spPr>
          <a:xfrm>
            <a:off x="14081759" y="5175504"/>
            <a:ext cx="1920240" cy="877824"/>
          </a:xfrm>
          <a:prstGeom prst="roundRect">
            <a:avLst>
              <a:gd name="adj" fmla="val 8333"/>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8" name="TextBox 407"/>
          <p:cNvSpPr txBox="1"/>
          <p:nvPr/>
        </p:nvSpPr>
        <p:spPr>
          <a:xfrm>
            <a:off x="14209776" y="5193792"/>
            <a:ext cx="1737360" cy="402336"/>
          </a:xfrm>
          <a:prstGeom prst="rect">
            <a:avLst/>
          </a:prstGeom>
          <a:noFill/>
        </p:spPr>
        <p:txBody>
          <a:bodyPr wrap="square" lIns="0" rIns="0" tIns="0" bIns="0" anchor="ctr">
            <a:noAutofit/>
          </a:bodyPr>
          <a:lstStyle/>
          <a:p>
            <a:pPr algn="l"/>
            <a:r>
              <a:rPr sz="2200" b="1" i="0">
                <a:solidFill>
                  <a:srgbClr val="059669"/>
                </a:solidFill>
                <a:latin typeface="Segoe UI"/>
                <a:cs typeface="Segoe UI"/>
              </a:rPr>
              <a:t>1e-8</a:t>
            </a:r>
          </a:p>
        </p:txBody>
      </p:sp>
      <p:sp>
        <p:nvSpPr>
          <p:cNvPr id="409" name="TextBox 408"/>
          <p:cNvSpPr txBox="1"/>
          <p:nvPr/>
        </p:nvSpPr>
        <p:spPr>
          <a:xfrm>
            <a:off x="14209776" y="5577840"/>
            <a:ext cx="1737360" cy="438912"/>
          </a:xfrm>
          <a:prstGeom prst="rect">
            <a:avLst/>
          </a:prstGeom>
          <a:noFill/>
        </p:spPr>
        <p:txBody>
          <a:bodyPr wrap="square" lIns="0" rIns="0" tIns="0" bIns="0" anchor="t">
            <a:noAutofit/>
          </a:bodyPr>
          <a:lstStyle/>
          <a:p>
            <a:pPr algn="l">
              <a:lnSpc>
                <a:spcPct val="95000"/>
              </a:lnSpc>
            </a:pPr>
            <a:r>
              <a:rPr sz="900" b="0" i="0">
                <a:solidFill>
                  <a:srgbClr val="475569"/>
                </a:solidFill>
                <a:latin typeface="Segoe UI"/>
                <a:cs typeface="Segoe UI"/>
              </a:rPr>
              <a:t>typical mass-balance error per run</a:t>
            </a:r>
          </a:p>
        </p:txBody>
      </p:sp>
      <p:sp>
        <p:nvSpPr>
          <p:cNvPr id="410" name="Rounded Rectangle 409"/>
          <p:cNvSpPr/>
          <p:nvPr/>
        </p:nvSpPr>
        <p:spPr>
          <a:xfrm>
            <a:off x="16093440" y="5175504"/>
            <a:ext cx="1920240" cy="877824"/>
          </a:xfrm>
          <a:prstGeom prst="roundRect">
            <a:avLst>
              <a:gd name="adj" fmla="val 8333"/>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1" name="TextBox 410"/>
          <p:cNvSpPr txBox="1"/>
          <p:nvPr/>
        </p:nvSpPr>
        <p:spPr>
          <a:xfrm>
            <a:off x="16221456" y="5193792"/>
            <a:ext cx="1737360" cy="402336"/>
          </a:xfrm>
          <a:prstGeom prst="rect">
            <a:avLst/>
          </a:prstGeom>
          <a:noFill/>
        </p:spPr>
        <p:txBody>
          <a:bodyPr wrap="square" lIns="0" rIns="0" tIns="0" bIns="0" anchor="ctr">
            <a:noAutofit/>
          </a:bodyPr>
          <a:lstStyle/>
          <a:p>
            <a:pPr algn="l"/>
            <a:r>
              <a:rPr sz="2200" b="1" i="0">
                <a:solidFill>
                  <a:srgbClr val="D97706"/>
                </a:solidFill>
                <a:latin typeface="Segoe UI"/>
                <a:cs typeface="Segoe UI"/>
              </a:rPr>
              <a:t>31</a:t>
            </a:r>
          </a:p>
        </p:txBody>
      </p:sp>
      <p:sp>
        <p:nvSpPr>
          <p:cNvPr id="412" name="TextBox 411"/>
          <p:cNvSpPr txBox="1"/>
          <p:nvPr/>
        </p:nvSpPr>
        <p:spPr>
          <a:xfrm>
            <a:off x="16221456" y="5577840"/>
            <a:ext cx="1737360" cy="438912"/>
          </a:xfrm>
          <a:prstGeom prst="rect">
            <a:avLst/>
          </a:prstGeom>
          <a:noFill/>
        </p:spPr>
        <p:txBody>
          <a:bodyPr wrap="square" lIns="0" rIns="0" tIns="0" bIns="0" anchor="t">
            <a:noAutofit/>
          </a:bodyPr>
          <a:lstStyle/>
          <a:p>
            <a:pPr algn="l">
              <a:lnSpc>
                <a:spcPct val="95000"/>
              </a:lnSpc>
            </a:pPr>
            <a:r>
              <a:rPr sz="900" b="0" i="0">
                <a:solidFill>
                  <a:srgbClr val="475569"/>
                </a:solidFill>
                <a:latin typeface="Segoe UI"/>
                <a:cs typeface="Segoe UI"/>
              </a:rPr>
              <a:t>automated tests passing (1 skipped)</a:t>
            </a:r>
          </a:p>
        </p:txBody>
      </p:sp>
      <p:sp>
        <p:nvSpPr>
          <p:cNvPr id="413" name="Rounded Rectangle 412"/>
          <p:cNvSpPr/>
          <p:nvPr/>
        </p:nvSpPr>
        <p:spPr>
          <a:xfrm>
            <a:off x="5669280" y="6419088"/>
            <a:ext cx="12472416" cy="3502152"/>
          </a:xfrm>
          <a:prstGeom prst="roundRect">
            <a:avLst>
              <a:gd name="adj" fmla="val 2610"/>
            </a:avLst>
          </a:prstGeom>
          <a:solidFill>
            <a:srgbClr val="FFFFFF"/>
          </a:solidFill>
          <a:ln w="12700">
            <a:solidFill>
              <a:srgbClr val="E6EB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4" name="TextBox 413"/>
          <p:cNvSpPr txBox="1"/>
          <p:nvPr/>
        </p:nvSpPr>
        <p:spPr>
          <a:xfrm>
            <a:off x="5806440" y="6574536"/>
            <a:ext cx="3017520" cy="182880"/>
          </a:xfrm>
          <a:prstGeom prst="rect">
            <a:avLst/>
          </a:prstGeom>
          <a:noFill/>
        </p:spPr>
        <p:txBody>
          <a:bodyPr wrap="square" lIns="0" rIns="0" tIns="0" bIns="0" anchor="t">
            <a:noAutofit/>
          </a:bodyPr>
          <a:lstStyle/>
          <a:p>
            <a:pPr algn="ctr"/>
            <a:r>
              <a:rPr sz="1050" b="1" i="0" spc="80">
                <a:solidFill>
                  <a:srgbClr val="475569"/>
                </a:solidFill>
                <a:latin typeface="Segoe UI"/>
                <a:cs typeface="Segoe UI"/>
              </a:rPr>
              <a:t>THE CHALLENGE</a:t>
            </a:r>
          </a:p>
        </p:txBody>
      </p:sp>
      <p:sp>
        <p:nvSpPr>
          <p:cNvPr id="415" name="TextBox 414"/>
          <p:cNvSpPr txBox="1"/>
          <p:nvPr/>
        </p:nvSpPr>
        <p:spPr>
          <a:xfrm>
            <a:off x="9144000" y="6574536"/>
            <a:ext cx="8778240" cy="182880"/>
          </a:xfrm>
          <a:prstGeom prst="rect">
            <a:avLst/>
          </a:prstGeom>
          <a:noFill/>
        </p:spPr>
        <p:txBody>
          <a:bodyPr wrap="square" lIns="0" rIns="0" tIns="0" bIns="0" anchor="t">
            <a:noAutofit/>
          </a:bodyPr>
          <a:lstStyle/>
          <a:p>
            <a:pPr algn="ctr"/>
            <a:r>
              <a:rPr sz="1050" b="1" i="0" spc="80">
                <a:solidFill>
                  <a:srgbClr val="475569"/>
                </a:solidFill>
                <a:latin typeface="Segoe UI"/>
                <a:cs typeface="Segoe UI"/>
              </a:rPr>
              <a:t>HOW IT IS MITIGATED  —  IN CODE</a:t>
            </a:r>
          </a:p>
        </p:txBody>
      </p:sp>
      <p:sp>
        <p:nvSpPr>
          <p:cNvPr id="416" name="Rounded Rectangle 415"/>
          <p:cNvSpPr/>
          <p:nvPr/>
        </p:nvSpPr>
        <p:spPr>
          <a:xfrm>
            <a:off x="5806440" y="6812280"/>
            <a:ext cx="3017520" cy="694944"/>
          </a:xfrm>
          <a:prstGeom prst="roundRect">
            <a:avLst>
              <a:gd name="adj" fmla="val 7894"/>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17" name="Picture 416" descr="map_r.png"/>
          <p:cNvPicPr>
            <a:picLocks noChangeAspect="1"/>
          </p:cNvPicPr>
          <p:nvPr/>
        </p:nvPicPr>
        <p:blipFill>
          <a:blip r:embed="rId60"/>
          <a:stretch>
            <a:fillRect/>
          </a:stretch>
        </p:blipFill>
        <p:spPr>
          <a:xfrm>
            <a:off x="5943600" y="6995160"/>
            <a:ext cx="329184" cy="329184"/>
          </a:xfrm>
          <a:prstGeom prst="rect">
            <a:avLst/>
          </a:prstGeom>
        </p:spPr>
      </p:pic>
      <p:sp>
        <p:nvSpPr>
          <p:cNvPr id="418" name="TextBox 417"/>
          <p:cNvSpPr txBox="1"/>
          <p:nvPr/>
        </p:nvSpPr>
        <p:spPr>
          <a:xfrm>
            <a:off x="6382512" y="6812280"/>
            <a:ext cx="2423160" cy="694944"/>
          </a:xfrm>
          <a:prstGeom prst="rect">
            <a:avLst/>
          </a:prstGeom>
          <a:noFill/>
        </p:spPr>
        <p:txBody>
          <a:bodyPr wrap="square" lIns="0" rIns="0" tIns="0" bIns="0" anchor="ctr">
            <a:noAutofit/>
          </a:bodyPr>
          <a:lstStyle/>
          <a:p>
            <a:pPr algn="l">
              <a:lnSpc>
                <a:spcPct val="95000"/>
              </a:lnSpc>
            </a:pPr>
            <a:r>
              <a:rPr sz="1400" b="1" i="0">
                <a:solidFill>
                  <a:srgbClr val="DC2626"/>
                </a:solidFill>
                <a:latin typeface="Segoe UI"/>
                <a:cs typeface="Segoe UI"/>
              </a:rPr>
              <a:t>NO DRAIN MAP</a:t>
            </a:r>
          </a:p>
        </p:txBody>
      </p:sp>
      <p:cxnSp>
        <p:nvCxnSpPr>
          <p:cNvPr id="419" name="Connector 418"/>
          <p:cNvCxnSpPr/>
          <p:nvPr/>
        </p:nvCxnSpPr>
        <p:spPr>
          <a:xfrm>
            <a:off x="8887968" y="7159752"/>
            <a:ext cx="210312" cy="0"/>
          </a:xfrm>
          <a:prstGeom prst="line">
            <a:avLst/>
          </a:prstGeom>
          <a:ln w="19050">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420" name="Rounded Rectangle 419"/>
          <p:cNvSpPr/>
          <p:nvPr/>
        </p:nvSpPr>
        <p:spPr>
          <a:xfrm>
            <a:off x="9162288" y="6812280"/>
            <a:ext cx="4370832" cy="694944"/>
          </a:xfrm>
          <a:prstGeom prst="roundRect">
            <a:avLst>
              <a:gd name="adj" fmla="val 7894"/>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1" name="Rounded Rectangle 420"/>
          <p:cNvSpPr/>
          <p:nvPr/>
        </p:nvSpPr>
        <p:spPr>
          <a:xfrm>
            <a:off x="9272016" y="6940296"/>
            <a:ext cx="438912" cy="438912"/>
          </a:xfrm>
          <a:prstGeom prst="roundRect">
            <a:avLst>
              <a:gd name="adj" fmla="val 20833"/>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22" name="Picture 421" descr="network_w.png"/>
          <p:cNvPicPr>
            <a:picLocks noChangeAspect="1"/>
          </p:cNvPicPr>
          <p:nvPr/>
        </p:nvPicPr>
        <p:blipFill>
          <a:blip r:embed="rId61"/>
          <a:stretch>
            <a:fillRect/>
          </a:stretch>
        </p:blipFill>
        <p:spPr>
          <a:xfrm>
            <a:off x="9359798" y="7028078"/>
            <a:ext cx="263347" cy="263347"/>
          </a:xfrm>
          <a:prstGeom prst="rect">
            <a:avLst/>
          </a:prstGeom>
        </p:spPr>
      </p:pic>
      <p:sp>
        <p:nvSpPr>
          <p:cNvPr id="423" name="TextBox 422"/>
          <p:cNvSpPr txBox="1"/>
          <p:nvPr/>
        </p:nvSpPr>
        <p:spPr>
          <a:xfrm>
            <a:off x="9857232" y="6812280"/>
            <a:ext cx="3657600" cy="694944"/>
          </a:xfrm>
          <a:prstGeom prst="rect">
            <a:avLst/>
          </a:prstGeom>
          <a:noFill/>
        </p:spPr>
        <p:txBody>
          <a:bodyPr wrap="square" lIns="0" rIns="0" tIns="0" bIns="0" anchor="ctr">
            <a:noAutofit/>
          </a:bodyPr>
          <a:lstStyle/>
          <a:p>
            <a:pPr algn="l"/>
            <a:r>
              <a:rPr sz="1250" b="1" i="0">
                <a:solidFill>
                  <a:srgbClr val="0B0D11"/>
                </a:solidFill>
                <a:latin typeface="Segoe UI"/>
                <a:cs typeface="Segoe UI"/>
              </a:rPr>
              <a:t>SYNTHETIC NETWORK, verified=false</a:t>
            </a:r>
          </a:p>
        </p:txBody>
      </p:sp>
      <p:sp>
        <p:nvSpPr>
          <p:cNvPr id="424" name="Rounded Rectangle 423"/>
          <p:cNvSpPr/>
          <p:nvPr/>
        </p:nvSpPr>
        <p:spPr>
          <a:xfrm>
            <a:off x="13642848" y="6812280"/>
            <a:ext cx="4370832" cy="694944"/>
          </a:xfrm>
          <a:prstGeom prst="roundRect">
            <a:avLst>
              <a:gd name="adj" fmla="val 7894"/>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5" name="Rounded Rectangle 424"/>
          <p:cNvSpPr/>
          <p:nvPr/>
        </p:nvSpPr>
        <p:spPr>
          <a:xfrm>
            <a:off x="13752576" y="6940296"/>
            <a:ext cx="438912" cy="438912"/>
          </a:xfrm>
          <a:prstGeom prst="roundRect">
            <a:avLst>
              <a:gd name="adj" fmla="val 20833"/>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26" name="Picture 425" descr="file_w.png"/>
          <p:cNvPicPr>
            <a:picLocks noChangeAspect="1"/>
          </p:cNvPicPr>
          <p:nvPr/>
        </p:nvPicPr>
        <p:blipFill>
          <a:blip r:embed="rId62"/>
          <a:stretch>
            <a:fillRect/>
          </a:stretch>
        </p:blipFill>
        <p:spPr>
          <a:xfrm>
            <a:off x="13840358" y="7028078"/>
            <a:ext cx="263347" cy="263347"/>
          </a:xfrm>
          <a:prstGeom prst="rect">
            <a:avLst/>
          </a:prstGeom>
        </p:spPr>
      </p:pic>
      <p:sp>
        <p:nvSpPr>
          <p:cNvPr id="427" name="TextBox 426"/>
          <p:cNvSpPr txBox="1"/>
          <p:nvPr/>
        </p:nvSpPr>
        <p:spPr>
          <a:xfrm>
            <a:off x="14337792" y="6812280"/>
            <a:ext cx="3657600" cy="694944"/>
          </a:xfrm>
          <a:prstGeom prst="rect">
            <a:avLst/>
          </a:prstGeom>
          <a:noFill/>
        </p:spPr>
        <p:txBody>
          <a:bodyPr wrap="square" lIns="0" rIns="0" tIns="0" bIns="0" anchor="ctr">
            <a:noAutofit/>
          </a:bodyPr>
          <a:lstStyle/>
          <a:p>
            <a:pPr algn="l"/>
            <a:r>
              <a:rPr sz="1250" b="1" i="0">
                <a:solidFill>
                  <a:srgbClr val="0B0D11"/>
                </a:solidFill>
                <a:latin typeface="Segoe UI"/>
                <a:cs typeface="Segoe UI"/>
              </a:rPr>
              <a:t>SURVEY DATA DROPS IN, SAME SCHEMA</a:t>
            </a:r>
          </a:p>
        </p:txBody>
      </p:sp>
      <p:sp>
        <p:nvSpPr>
          <p:cNvPr id="428" name="Rounded Rectangle 427"/>
          <p:cNvSpPr/>
          <p:nvPr/>
        </p:nvSpPr>
        <p:spPr>
          <a:xfrm>
            <a:off x="5806440" y="7584948"/>
            <a:ext cx="3017520" cy="694944"/>
          </a:xfrm>
          <a:prstGeom prst="roundRect">
            <a:avLst>
              <a:gd name="adj" fmla="val 7894"/>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29" name="Picture 428" descr="mountain_a.png"/>
          <p:cNvPicPr>
            <a:picLocks noChangeAspect="1"/>
          </p:cNvPicPr>
          <p:nvPr/>
        </p:nvPicPr>
        <p:blipFill>
          <a:blip r:embed="rId63"/>
          <a:stretch>
            <a:fillRect/>
          </a:stretch>
        </p:blipFill>
        <p:spPr>
          <a:xfrm>
            <a:off x="5943600" y="7767827"/>
            <a:ext cx="329184" cy="329184"/>
          </a:xfrm>
          <a:prstGeom prst="rect">
            <a:avLst/>
          </a:prstGeom>
        </p:spPr>
      </p:pic>
      <p:sp>
        <p:nvSpPr>
          <p:cNvPr id="430" name="TextBox 429"/>
          <p:cNvSpPr txBox="1"/>
          <p:nvPr/>
        </p:nvSpPr>
        <p:spPr>
          <a:xfrm>
            <a:off x="6382512" y="7584948"/>
            <a:ext cx="2423160" cy="694944"/>
          </a:xfrm>
          <a:prstGeom prst="rect">
            <a:avLst/>
          </a:prstGeom>
          <a:noFill/>
        </p:spPr>
        <p:txBody>
          <a:bodyPr wrap="square" lIns="0" rIns="0" tIns="0" bIns="0" anchor="ctr">
            <a:noAutofit/>
          </a:bodyPr>
          <a:lstStyle/>
          <a:p>
            <a:pPr algn="l">
              <a:lnSpc>
                <a:spcPct val="95000"/>
              </a:lnSpc>
            </a:pPr>
            <a:r>
              <a:rPr sz="1400" b="1" i="0">
                <a:solidFill>
                  <a:srgbClr val="D97706"/>
                </a:solidFill>
                <a:latin typeface="Segoe UI"/>
                <a:cs typeface="Segoe UI"/>
              </a:rPr>
              <a:t>COARSE 30 m TERRAIN</a:t>
            </a:r>
          </a:p>
        </p:txBody>
      </p:sp>
      <p:cxnSp>
        <p:nvCxnSpPr>
          <p:cNvPr id="431" name="Connector 430"/>
          <p:cNvCxnSpPr/>
          <p:nvPr/>
        </p:nvCxnSpPr>
        <p:spPr>
          <a:xfrm>
            <a:off x="8887968" y="7932420"/>
            <a:ext cx="210312" cy="0"/>
          </a:xfrm>
          <a:prstGeom prst="line">
            <a:avLst/>
          </a:prstGeom>
          <a:ln w="19050">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432" name="Rounded Rectangle 431"/>
          <p:cNvSpPr/>
          <p:nvPr/>
        </p:nvSpPr>
        <p:spPr>
          <a:xfrm>
            <a:off x="9162288" y="7584948"/>
            <a:ext cx="4370832" cy="694944"/>
          </a:xfrm>
          <a:prstGeom prst="roundRect">
            <a:avLst>
              <a:gd name="adj" fmla="val 7894"/>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3" name="Rounded Rectangle 432"/>
          <p:cNvSpPr/>
          <p:nvPr/>
        </p:nvSpPr>
        <p:spPr>
          <a:xfrm>
            <a:off x="9272016" y="7712964"/>
            <a:ext cx="438912" cy="438912"/>
          </a:xfrm>
          <a:prstGeom prst="roundRect">
            <a:avLst>
              <a:gd name="adj" fmla="val 20833"/>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34" name="Picture 433" descr="eye_w.png"/>
          <p:cNvPicPr>
            <a:picLocks noChangeAspect="1"/>
          </p:cNvPicPr>
          <p:nvPr/>
        </p:nvPicPr>
        <p:blipFill>
          <a:blip r:embed="rId64"/>
          <a:stretch>
            <a:fillRect/>
          </a:stretch>
        </p:blipFill>
        <p:spPr>
          <a:xfrm>
            <a:off x="9359798" y="7800746"/>
            <a:ext cx="263347" cy="263347"/>
          </a:xfrm>
          <a:prstGeom prst="rect">
            <a:avLst/>
          </a:prstGeom>
        </p:spPr>
      </p:pic>
      <p:sp>
        <p:nvSpPr>
          <p:cNvPr id="435" name="TextBox 434"/>
          <p:cNvSpPr txBox="1"/>
          <p:nvPr/>
        </p:nvSpPr>
        <p:spPr>
          <a:xfrm>
            <a:off x="9857232" y="7584948"/>
            <a:ext cx="3657600" cy="694944"/>
          </a:xfrm>
          <a:prstGeom prst="rect">
            <a:avLst/>
          </a:prstGeom>
          <a:noFill/>
        </p:spPr>
        <p:txBody>
          <a:bodyPr wrap="square" lIns="0" rIns="0" tIns="0" bIns="0" anchor="ctr">
            <a:noAutofit/>
          </a:bodyPr>
          <a:lstStyle/>
          <a:p>
            <a:pPr algn="l"/>
            <a:r>
              <a:rPr sz="1250" b="1" i="0">
                <a:solidFill>
                  <a:srgbClr val="0B0D11"/>
                </a:solidFill>
                <a:latin typeface="Segoe UI"/>
                <a:cs typeface="Segoe UI"/>
              </a:rPr>
              <a:t>DATA TIER SHOWN IN THE UI</a:t>
            </a:r>
          </a:p>
        </p:txBody>
      </p:sp>
      <p:sp>
        <p:nvSpPr>
          <p:cNvPr id="436" name="Rounded Rectangle 435"/>
          <p:cNvSpPr/>
          <p:nvPr/>
        </p:nvSpPr>
        <p:spPr>
          <a:xfrm>
            <a:off x="13642848" y="7584948"/>
            <a:ext cx="4370832" cy="694944"/>
          </a:xfrm>
          <a:prstGeom prst="roundRect">
            <a:avLst>
              <a:gd name="adj" fmla="val 7894"/>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7" name="Rounded Rectangle 436"/>
          <p:cNvSpPr/>
          <p:nvPr/>
        </p:nvSpPr>
        <p:spPr>
          <a:xfrm>
            <a:off x="13752576" y="7712964"/>
            <a:ext cx="438912" cy="438912"/>
          </a:xfrm>
          <a:prstGeom prst="roundRect">
            <a:avLst>
              <a:gd name="adj" fmla="val 20833"/>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38" name="Picture 437" descr="satellite_w.png"/>
          <p:cNvPicPr>
            <a:picLocks noChangeAspect="1"/>
          </p:cNvPicPr>
          <p:nvPr/>
        </p:nvPicPr>
        <p:blipFill>
          <a:blip r:embed="rId65"/>
          <a:stretch>
            <a:fillRect/>
          </a:stretch>
        </p:blipFill>
        <p:spPr>
          <a:xfrm>
            <a:off x="13840358" y="7800746"/>
            <a:ext cx="263347" cy="263347"/>
          </a:xfrm>
          <a:prstGeom prst="rect">
            <a:avLst/>
          </a:prstGeom>
        </p:spPr>
      </p:pic>
      <p:sp>
        <p:nvSpPr>
          <p:cNvPr id="439" name="TextBox 438"/>
          <p:cNvSpPr txBox="1"/>
          <p:nvPr/>
        </p:nvSpPr>
        <p:spPr>
          <a:xfrm>
            <a:off x="14337792" y="7584948"/>
            <a:ext cx="3657600" cy="694944"/>
          </a:xfrm>
          <a:prstGeom prst="rect">
            <a:avLst/>
          </a:prstGeom>
          <a:noFill/>
        </p:spPr>
        <p:txBody>
          <a:bodyPr wrap="square" lIns="0" rIns="0" tIns="0" bIns="0" anchor="ctr">
            <a:noAutofit/>
          </a:bodyPr>
          <a:lstStyle/>
          <a:p>
            <a:pPr algn="l"/>
            <a:r>
              <a:rPr sz="1250" b="1" i="0">
                <a:solidFill>
                  <a:srgbClr val="0B0D11"/>
                </a:solidFill>
                <a:latin typeface="Segoe UI"/>
                <a:cs typeface="Segoe UI"/>
              </a:rPr>
              <a:t>LiDAR / DRONE DEM READY TO SWAP</a:t>
            </a:r>
          </a:p>
        </p:txBody>
      </p:sp>
      <p:sp>
        <p:nvSpPr>
          <p:cNvPr id="440" name="Rounded Rectangle 439"/>
          <p:cNvSpPr/>
          <p:nvPr/>
        </p:nvSpPr>
        <p:spPr>
          <a:xfrm>
            <a:off x="5806440" y="8357616"/>
            <a:ext cx="3017520" cy="694944"/>
          </a:xfrm>
          <a:prstGeom prst="roundRect">
            <a:avLst>
              <a:gd name="adj" fmla="val 7894"/>
            </a:avLst>
          </a:prstGeom>
          <a:solidFill>
            <a:srgbClr val="F5F3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41" name="Picture 440" descr="wifioff_v.png"/>
          <p:cNvPicPr>
            <a:picLocks noChangeAspect="1"/>
          </p:cNvPicPr>
          <p:nvPr/>
        </p:nvPicPr>
        <p:blipFill>
          <a:blip r:embed="rId66"/>
          <a:stretch>
            <a:fillRect/>
          </a:stretch>
        </p:blipFill>
        <p:spPr>
          <a:xfrm>
            <a:off x="5943600" y="8540496"/>
            <a:ext cx="329184" cy="329184"/>
          </a:xfrm>
          <a:prstGeom prst="rect">
            <a:avLst/>
          </a:prstGeom>
        </p:spPr>
      </p:pic>
      <p:sp>
        <p:nvSpPr>
          <p:cNvPr id="442" name="TextBox 441"/>
          <p:cNvSpPr txBox="1"/>
          <p:nvPr/>
        </p:nvSpPr>
        <p:spPr>
          <a:xfrm>
            <a:off x="6382512" y="8357616"/>
            <a:ext cx="2423160" cy="694944"/>
          </a:xfrm>
          <a:prstGeom prst="rect">
            <a:avLst/>
          </a:prstGeom>
          <a:noFill/>
        </p:spPr>
        <p:txBody>
          <a:bodyPr wrap="square" lIns="0" rIns="0" tIns="0" bIns="0" anchor="ctr">
            <a:noAutofit/>
          </a:bodyPr>
          <a:lstStyle/>
          <a:p>
            <a:pPr algn="l">
              <a:lnSpc>
                <a:spcPct val="95000"/>
              </a:lnSpc>
            </a:pPr>
            <a:r>
              <a:rPr sz="1400" b="1" i="0">
                <a:solidFill>
                  <a:srgbClr val="7C3AED"/>
                </a:solidFill>
                <a:latin typeface="Segoe UI"/>
                <a:cs typeface="Segoe UI"/>
              </a:rPr>
              <a:t>RADAR CAN GO DOWN</a:t>
            </a:r>
          </a:p>
        </p:txBody>
      </p:sp>
      <p:cxnSp>
        <p:nvCxnSpPr>
          <p:cNvPr id="443" name="Connector 442"/>
          <p:cNvCxnSpPr/>
          <p:nvPr/>
        </p:nvCxnSpPr>
        <p:spPr>
          <a:xfrm>
            <a:off x="8887968" y="8705088"/>
            <a:ext cx="210312" cy="0"/>
          </a:xfrm>
          <a:prstGeom prst="line">
            <a:avLst/>
          </a:prstGeom>
          <a:ln w="19050">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444" name="Rounded Rectangle 443"/>
          <p:cNvSpPr/>
          <p:nvPr/>
        </p:nvSpPr>
        <p:spPr>
          <a:xfrm>
            <a:off x="9162288" y="8357616"/>
            <a:ext cx="4370832" cy="694944"/>
          </a:xfrm>
          <a:prstGeom prst="roundRect">
            <a:avLst>
              <a:gd name="adj" fmla="val 7894"/>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5" name="Rounded Rectangle 444"/>
          <p:cNvSpPr/>
          <p:nvPr/>
        </p:nvSpPr>
        <p:spPr>
          <a:xfrm>
            <a:off x="9272016" y="8485632"/>
            <a:ext cx="438912" cy="438912"/>
          </a:xfrm>
          <a:prstGeom prst="roundRect">
            <a:avLst>
              <a:gd name="adj" fmla="val 20833"/>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46" name="Picture 445" descr="tower_w.png"/>
          <p:cNvPicPr>
            <a:picLocks noChangeAspect="1"/>
          </p:cNvPicPr>
          <p:nvPr/>
        </p:nvPicPr>
        <p:blipFill>
          <a:blip r:embed="rId67"/>
          <a:stretch>
            <a:fillRect/>
          </a:stretch>
        </p:blipFill>
        <p:spPr>
          <a:xfrm>
            <a:off x="9359798" y="8573414"/>
            <a:ext cx="263347" cy="263347"/>
          </a:xfrm>
          <a:prstGeom prst="rect">
            <a:avLst/>
          </a:prstGeom>
        </p:spPr>
      </p:pic>
      <p:sp>
        <p:nvSpPr>
          <p:cNvPr id="447" name="TextBox 446"/>
          <p:cNvSpPr txBox="1"/>
          <p:nvPr/>
        </p:nvSpPr>
        <p:spPr>
          <a:xfrm>
            <a:off x="9857232" y="8357616"/>
            <a:ext cx="3657600" cy="694944"/>
          </a:xfrm>
          <a:prstGeom prst="rect">
            <a:avLst/>
          </a:prstGeom>
          <a:noFill/>
        </p:spPr>
        <p:txBody>
          <a:bodyPr wrap="square" lIns="0" rIns="0" tIns="0" bIns="0" anchor="ctr">
            <a:noAutofit/>
          </a:bodyPr>
          <a:lstStyle/>
          <a:p>
            <a:pPr algn="l"/>
            <a:r>
              <a:rPr sz="1250" b="1" i="0">
                <a:solidFill>
                  <a:srgbClr val="0B0D11"/>
                </a:solidFill>
                <a:latin typeface="Segoe UI"/>
                <a:cs typeface="Segoe UI"/>
              </a:rPr>
              <a:t>GAUGE FALLBACK, FLAGGED DEGRADED</a:t>
            </a:r>
          </a:p>
        </p:txBody>
      </p:sp>
      <p:sp>
        <p:nvSpPr>
          <p:cNvPr id="448" name="Rounded Rectangle 447"/>
          <p:cNvSpPr/>
          <p:nvPr/>
        </p:nvSpPr>
        <p:spPr>
          <a:xfrm>
            <a:off x="13642848" y="8357616"/>
            <a:ext cx="4370832" cy="694944"/>
          </a:xfrm>
          <a:prstGeom prst="roundRect">
            <a:avLst>
              <a:gd name="adj" fmla="val 7894"/>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9" name="Rounded Rectangle 448"/>
          <p:cNvSpPr/>
          <p:nvPr/>
        </p:nvSpPr>
        <p:spPr>
          <a:xfrm>
            <a:off x="13752576" y="8485632"/>
            <a:ext cx="438912" cy="438912"/>
          </a:xfrm>
          <a:prstGeom prst="roundRect">
            <a:avLst>
              <a:gd name="adj" fmla="val 20833"/>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50" name="Picture 449" descr="sliders_w.png"/>
          <p:cNvPicPr>
            <a:picLocks noChangeAspect="1"/>
          </p:cNvPicPr>
          <p:nvPr/>
        </p:nvPicPr>
        <p:blipFill>
          <a:blip r:embed="rId68"/>
          <a:stretch>
            <a:fillRect/>
          </a:stretch>
        </p:blipFill>
        <p:spPr>
          <a:xfrm>
            <a:off x="13840358" y="8573414"/>
            <a:ext cx="263347" cy="263347"/>
          </a:xfrm>
          <a:prstGeom prst="rect">
            <a:avLst/>
          </a:prstGeom>
        </p:spPr>
      </p:pic>
      <p:sp>
        <p:nvSpPr>
          <p:cNvPr id="451" name="TextBox 450"/>
          <p:cNvSpPr txBox="1"/>
          <p:nvPr/>
        </p:nvSpPr>
        <p:spPr>
          <a:xfrm>
            <a:off x="14337792" y="8357616"/>
            <a:ext cx="3657600" cy="694944"/>
          </a:xfrm>
          <a:prstGeom prst="rect">
            <a:avLst/>
          </a:prstGeom>
          <a:noFill/>
        </p:spPr>
        <p:txBody>
          <a:bodyPr wrap="square" lIns="0" rIns="0" tIns="0" bIns="0" anchor="ctr">
            <a:noAutofit/>
          </a:bodyPr>
          <a:lstStyle/>
          <a:p>
            <a:pPr algn="l"/>
            <a:r>
              <a:rPr sz="1250" b="1" i="0">
                <a:solidFill>
                  <a:srgbClr val="0B0D11"/>
                </a:solidFill>
                <a:latin typeface="Segoe UI"/>
                <a:cs typeface="Segoe UI"/>
              </a:rPr>
              <a:t>UNCERTAINTY WIDENED × 1.5</a:t>
            </a:r>
          </a:p>
        </p:txBody>
      </p:sp>
      <p:sp>
        <p:nvSpPr>
          <p:cNvPr id="452" name="Rounded Rectangle 451"/>
          <p:cNvSpPr/>
          <p:nvPr/>
        </p:nvSpPr>
        <p:spPr>
          <a:xfrm>
            <a:off x="5806440" y="9130284"/>
            <a:ext cx="3017520" cy="694944"/>
          </a:xfrm>
          <a:prstGeom prst="roundRect">
            <a:avLst>
              <a:gd name="adj" fmla="val 7894"/>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53" name="Picture 452" descr="search_b.png"/>
          <p:cNvPicPr>
            <a:picLocks noChangeAspect="1"/>
          </p:cNvPicPr>
          <p:nvPr/>
        </p:nvPicPr>
        <p:blipFill>
          <a:blip r:embed="rId69"/>
          <a:stretch>
            <a:fillRect/>
          </a:stretch>
        </p:blipFill>
        <p:spPr>
          <a:xfrm>
            <a:off x="5943600" y="9313163"/>
            <a:ext cx="329184" cy="329184"/>
          </a:xfrm>
          <a:prstGeom prst="rect">
            <a:avLst/>
          </a:prstGeom>
        </p:spPr>
      </p:pic>
      <p:sp>
        <p:nvSpPr>
          <p:cNvPr id="454" name="TextBox 453"/>
          <p:cNvSpPr txBox="1"/>
          <p:nvPr/>
        </p:nvSpPr>
        <p:spPr>
          <a:xfrm>
            <a:off x="6382512" y="9130284"/>
            <a:ext cx="2423160" cy="694944"/>
          </a:xfrm>
          <a:prstGeom prst="rect">
            <a:avLst/>
          </a:prstGeom>
          <a:noFill/>
        </p:spPr>
        <p:txBody>
          <a:bodyPr wrap="square" lIns="0" rIns="0" tIns="0" bIns="0" anchor="ctr">
            <a:noAutofit/>
          </a:bodyPr>
          <a:lstStyle/>
          <a:p>
            <a:pPr algn="l">
              <a:lnSpc>
                <a:spcPct val="95000"/>
              </a:lnSpc>
            </a:pPr>
            <a:r>
              <a:rPr sz="1400" b="1" i="0">
                <a:solidFill>
                  <a:srgbClr val="2563EB"/>
                </a:solidFill>
                <a:latin typeface="Segoe UI"/>
                <a:cs typeface="Segoe UI"/>
              </a:rPr>
              <a:t>NO FLOOD OBSERVATIONS</a:t>
            </a:r>
          </a:p>
        </p:txBody>
      </p:sp>
      <p:cxnSp>
        <p:nvCxnSpPr>
          <p:cNvPr id="455" name="Connector 454"/>
          <p:cNvCxnSpPr/>
          <p:nvPr/>
        </p:nvCxnSpPr>
        <p:spPr>
          <a:xfrm>
            <a:off x="8887968" y="9477756"/>
            <a:ext cx="210312" cy="0"/>
          </a:xfrm>
          <a:prstGeom prst="line">
            <a:avLst/>
          </a:prstGeom>
          <a:ln w="19050">
            <a:solidFill>
              <a:srgbClr val="94A3B8"/>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456" name="Rounded Rectangle 455"/>
          <p:cNvSpPr/>
          <p:nvPr/>
        </p:nvSpPr>
        <p:spPr>
          <a:xfrm>
            <a:off x="9162288" y="9130284"/>
            <a:ext cx="4370832" cy="694944"/>
          </a:xfrm>
          <a:prstGeom prst="roundRect">
            <a:avLst>
              <a:gd name="adj" fmla="val 7894"/>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7" name="Rounded Rectangle 456"/>
          <p:cNvSpPr/>
          <p:nvPr/>
        </p:nvSpPr>
        <p:spPr>
          <a:xfrm>
            <a:off x="9272016" y="9258300"/>
            <a:ext cx="438912" cy="438912"/>
          </a:xfrm>
          <a:prstGeom prst="roundRect">
            <a:avLst>
              <a:gd name="adj" fmla="val 20833"/>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58" name="Picture 457" descr="flask_w.png"/>
          <p:cNvPicPr>
            <a:picLocks noChangeAspect="1"/>
          </p:cNvPicPr>
          <p:nvPr/>
        </p:nvPicPr>
        <p:blipFill>
          <a:blip r:embed="rId70"/>
          <a:stretch>
            <a:fillRect/>
          </a:stretch>
        </p:blipFill>
        <p:spPr>
          <a:xfrm>
            <a:off x="9359798" y="9346082"/>
            <a:ext cx="263347" cy="263347"/>
          </a:xfrm>
          <a:prstGeom prst="rect">
            <a:avLst/>
          </a:prstGeom>
        </p:spPr>
      </p:pic>
      <p:sp>
        <p:nvSpPr>
          <p:cNvPr id="459" name="TextBox 458"/>
          <p:cNvSpPr txBox="1"/>
          <p:nvPr/>
        </p:nvSpPr>
        <p:spPr>
          <a:xfrm>
            <a:off x="9857232" y="9130284"/>
            <a:ext cx="3657600" cy="694944"/>
          </a:xfrm>
          <a:prstGeom prst="rect">
            <a:avLst/>
          </a:prstGeom>
          <a:noFill/>
        </p:spPr>
        <p:txBody>
          <a:bodyPr wrap="square" lIns="0" rIns="0" tIns="0" bIns="0" anchor="ctr">
            <a:noAutofit/>
          </a:bodyPr>
          <a:lstStyle/>
          <a:p>
            <a:pPr algn="l"/>
            <a:r>
              <a:rPr sz="1250" b="1" i="0">
                <a:solidFill>
                  <a:srgbClr val="0B0D11"/>
                </a:solidFill>
                <a:latin typeface="Segoe UI"/>
                <a:cs typeface="Segoe UI"/>
              </a:rPr>
              <a:t>TWIN EXPERIMENTS vs HIDDEN TRUTH</a:t>
            </a:r>
          </a:p>
        </p:txBody>
      </p:sp>
      <p:sp>
        <p:nvSpPr>
          <p:cNvPr id="460" name="Rounded Rectangle 459"/>
          <p:cNvSpPr/>
          <p:nvPr/>
        </p:nvSpPr>
        <p:spPr>
          <a:xfrm>
            <a:off x="13642848" y="9130284"/>
            <a:ext cx="4370832" cy="694944"/>
          </a:xfrm>
          <a:prstGeom prst="roundRect">
            <a:avLst>
              <a:gd name="adj" fmla="val 7894"/>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1" name="Rounded Rectangle 460"/>
          <p:cNvSpPr/>
          <p:nvPr/>
        </p:nvSpPr>
        <p:spPr>
          <a:xfrm>
            <a:off x="13752576" y="9258300"/>
            <a:ext cx="438912" cy="438912"/>
          </a:xfrm>
          <a:prstGeom prst="roundRect">
            <a:avLst>
              <a:gd name="adj" fmla="val 20833"/>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62" name="Picture 461" descr="history_w.png"/>
          <p:cNvPicPr>
            <a:picLocks noChangeAspect="1"/>
          </p:cNvPicPr>
          <p:nvPr/>
        </p:nvPicPr>
        <p:blipFill>
          <a:blip r:embed="rId71"/>
          <a:stretch>
            <a:fillRect/>
          </a:stretch>
        </p:blipFill>
        <p:spPr>
          <a:xfrm>
            <a:off x="13840358" y="9346082"/>
            <a:ext cx="263347" cy="263347"/>
          </a:xfrm>
          <a:prstGeom prst="rect">
            <a:avLst/>
          </a:prstGeom>
        </p:spPr>
      </p:pic>
      <p:sp>
        <p:nvSpPr>
          <p:cNvPr id="463" name="TextBox 462"/>
          <p:cNvSpPr txBox="1"/>
          <p:nvPr/>
        </p:nvSpPr>
        <p:spPr>
          <a:xfrm>
            <a:off x="14337792" y="9130284"/>
            <a:ext cx="3657600" cy="694944"/>
          </a:xfrm>
          <a:prstGeom prst="rect">
            <a:avLst/>
          </a:prstGeom>
          <a:noFill/>
        </p:spPr>
        <p:txBody>
          <a:bodyPr wrap="square" lIns="0" rIns="0" tIns="0" bIns="0" anchor="ctr">
            <a:noAutofit/>
          </a:bodyPr>
          <a:lstStyle/>
          <a:p>
            <a:pPr algn="l"/>
            <a:r>
              <a:rPr sz="1250" b="1" i="0">
                <a:solidFill>
                  <a:srgbClr val="0B0D11"/>
                </a:solidFill>
                <a:latin typeface="Segoe UI"/>
                <a:cs typeface="Segoe UI"/>
              </a:rPr>
              <a:t>REPLAY &amp; VALIDATION VIEW</a:t>
            </a:r>
          </a:p>
        </p:txBody>
      </p:sp>
      <p:sp>
        <p:nvSpPr>
          <p:cNvPr id="464" name="TextBox 463"/>
          <p:cNvSpPr txBox="1"/>
          <p:nvPr/>
        </p:nvSpPr>
        <p:spPr>
          <a:xfrm>
            <a:off x="17922240" y="10040112"/>
            <a:ext cx="274320" cy="182880"/>
          </a:xfrm>
          <a:prstGeom prst="rect">
            <a:avLst/>
          </a:prstGeom>
          <a:noFill/>
        </p:spPr>
        <p:txBody>
          <a:bodyPr wrap="square" lIns="0" rIns="0" tIns="0" bIns="0" anchor="t">
            <a:noAutofit/>
          </a:bodyPr>
          <a:lstStyle/>
          <a:p>
            <a:pPr algn="l"/>
            <a:r>
              <a:rPr sz="800" b="0" i="0">
                <a:solidFill>
                  <a:srgbClr val="0B0D11"/>
                </a:solidFill>
                <a:latin typeface="Segoe UI"/>
                <a:cs typeface="Segoe UI"/>
              </a:rPr>
              <a:t/>
            </a:r>
          </a:p>
        </p:txBody>
      </p:sp>
      <p:sp>
        <p:nvSpPr>
          <p:cNvPr id="465" name="Oval 464"/>
          <p:cNvSpPr/>
          <p:nvPr/>
        </p:nvSpPr>
        <p:spPr>
          <a:xfrm>
            <a:off x="82295" y="612647"/>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1</a:t>
            </a:r>
          </a:p>
        </p:txBody>
      </p:sp>
      <p:sp>
        <p:nvSpPr>
          <p:cNvPr id="466" name="Rectangle 465"/>
          <p:cNvSpPr/>
          <p:nvPr/>
        </p:nvSpPr>
        <p:spPr>
          <a:xfrm>
            <a:off x="448056" y="640080"/>
            <a:ext cx="3154680"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67" name="Picture 466" descr="rupee_w.png"/>
          <p:cNvPicPr>
            <a:picLocks noChangeAspect="1"/>
          </p:cNvPicPr>
          <p:nvPr/>
        </p:nvPicPr>
        <p:blipFill>
          <a:blip r:embed="rId72"/>
          <a:stretch>
            <a:fillRect/>
          </a:stretch>
        </p:blipFill>
        <p:spPr>
          <a:xfrm>
            <a:off x="539496" y="690371"/>
            <a:ext cx="182880" cy="182880"/>
          </a:xfrm>
          <a:prstGeom prst="rect">
            <a:avLst/>
          </a:prstGeom>
        </p:spPr>
      </p:pic>
      <p:sp>
        <p:nvSpPr>
          <p:cNvPr id="468" name="TextBox 467"/>
          <p:cNvSpPr txBox="1"/>
          <p:nvPr/>
        </p:nvSpPr>
        <p:spPr>
          <a:xfrm>
            <a:off x="777240" y="640080"/>
            <a:ext cx="2788920"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ECONOMICS — COST TO DEPLOY</a:t>
            </a:r>
          </a:p>
        </p:txBody>
      </p:sp>
      <p:sp>
        <p:nvSpPr>
          <p:cNvPr id="469" name="Rounded Rectangle 468"/>
          <p:cNvSpPr/>
          <p:nvPr/>
        </p:nvSpPr>
        <p:spPr>
          <a:xfrm>
            <a:off x="4599432" y="649224"/>
            <a:ext cx="868680" cy="192024"/>
          </a:xfrm>
          <a:prstGeom prst="roundRect">
            <a:avLst>
              <a:gd name="adj" fmla="val 23809"/>
            </a:avLst>
          </a:prstGeom>
          <a:solidFill>
            <a:srgbClr val="FFFBEB"/>
          </a:solidFill>
          <a:ln w="9525">
            <a:solidFill>
              <a:srgbClr val="FCD34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850" b="1" i="0" spc="40">
                <a:solidFill>
                  <a:srgbClr val="B45309"/>
                </a:solidFill>
                <a:latin typeface="Segoe UI"/>
                <a:cs typeface="Segoe UI"/>
              </a:rPr>
              <a:t>INDICATIVE</a:t>
            </a:r>
          </a:p>
        </p:txBody>
      </p:sp>
      <p:sp>
        <p:nvSpPr>
          <p:cNvPr id="470" name="Oval 469"/>
          <p:cNvSpPr/>
          <p:nvPr/>
        </p:nvSpPr>
        <p:spPr>
          <a:xfrm>
            <a:off x="5596127" y="612647"/>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2</a:t>
            </a:r>
          </a:p>
        </p:txBody>
      </p:sp>
      <p:sp>
        <p:nvSpPr>
          <p:cNvPr id="471" name="Rectangle 470"/>
          <p:cNvSpPr/>
          <p:nvPr/>
        </p:nvSpPr>
        <p:spPr>
          <a:xfrm>
            <a:off x="5961888" y="640080"/>
            <a:ext cx="1554480"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72" name="Picture 471" descr="sliders_w.png"/>
          <p:cNvPicPr>
            <a:picLocks noChangeAspect="1"/>
          </p:cNvPicPr>
          <p:nvPr/>
        </p:nvPicPr>
        <p:blipFill>
          <a:blip r:embed="rId68"/>
          <a:stretch>
            <a:fillRect/>
          </a:stretch>
        </p:blipFill>
        <p:spPr>
          <a:xfrm>
            <a:off x="6053327" y="690371"/>
            <a:ext cx="182880" cy="182880"/>
          </a:xfrm>
          <a:prstGeom prst="rect">
            <a:avLst/>
          </a:prstGeom>
        </p:spPr>
      </p:pic>
      <p:sp>
        <p:nvSpPr>
          <p:cNvPr id="473" name="TextBox 472"/>
          <p:cNvSpPr txBox="1"/>
          <p:nvPr/>
        </p:nvSpPr>
        <p:spPr>
          <a:xfrm>
            <a:off x="6291072" y="640080"/>
            <a:ext cx="1188719"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FEASIBILITY</a:t>
            </a:r>
          </a:p>
        </p:txBody>
      </p:sp>
      <p:sp>
        <p:nvSpPr>
          <p:cNvPr id="474" name="Rounded Rectangle 473"/>
          <p:cNvSpPr/>
          <p:nvPr/>
        </p:nvSpPr>
        <p:spPr>
          <a:xfrm>
            <a:off x="10561320" y="649224"/>
            <a:ext cx="1188720" cy="192024"/>
          </a:xfrm>
          <a:prstGeom prst="roundRect">
            <a:avLst>
              <a:gd name="adj" fmla="val 23809"/>
            </a:avLst>
          </a:prstGeom>
          <a:solidFill>
            <a:srgbClr val="ECFDF5"/>
          </a:solidFill>
          <a:ln w="9525">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850" b="1" i="0" spc="40">
                <a:solidFill>
                  <a:srgbClr val="059669"/>
                </a:solidFill>
                <a:latin typeface="Segoe UI"/>
                <a:cs typeface="Segoe UI"/>
              </a:rPr>
              <a:t>RUNNING TODAY</a:t>
            </a:r>
          </a:p>
        </p:txBody>
      </p:sp>
      <p:sp>
        <p:nvSpPr>
          <p:cNvPr id="475" name="Oval 474"/>
          <p:cNvSpPr/>
          <p:nvPr/>
        </p:nvSpPr>
        <p:spPr>
          <a:xfrm>
            <a:off x="11887200" y="612647"/>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3</a:t>
            </a:r>
          </a:p>
        </p:txBody>
      </p:sp>
      <p:sp>
        <p:nvSpPr>
          <p:cNvPr id="476" name="Rectangle 475"/>
          <p:cNvSpPr/>
          <p:nvPr/>
        </p:nvSpPr>
        <p:spPr>
          <a:xfrm>
            <a:off x="12252960" y="640080"/>
            <a:ext cx="1371600"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77" name="Picture 476" descr="trend_w.png"/>
          <p:cNvPicPr>
            <a:picLocks noChangeAspect="1"/>
          </p:cNvPicPr>
          <p:nvPr/>
        </p:nvPicPr>
        <p:blipFill>
          <a:blip r:embed="rId54"/>
          <a:stretch>
            <a:fillRect/>
          </a:stretch>
        </p:blipFill>
        <p:spPr>
          <a:xfrm>
            <a:off x="12344400" y="690371"/>
            <a:ext cx="182880" cy="182880"/>
          </a:xfrm>
          <a:prstGeom prst="rect">
            <a:avLst/>
          </a:prstGeom>
        </p:spPr>
      </p:pic>
      <p:sp>
        <p:nvSpPr>
          <p:cNvPr id="478" name="TextBox 477"/>
          <p:cNvSpPr txBox="1"/>
          <p:nvPr/>
        </p:nvSpPr>
        <p:spPr>
          <a:xfrm>
            <a:off x="12582144" y="640080"/>
            <a:ext cx="1005840"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VIABILITY</a:t>
            </a:r>
          </a:p>
        </p:txBody>
      </p:sp>
      <p:sp>
        <p:nvSpPr>
          <p:cNvPr id="479" name="Oval 478"/>
          <p:cNvSpPr/>
          <p:nvPr/>
        </p:nvSpPr>
        <p:spPr>
          <a:xfrm>
            <a:off x="5596127" y="6245352"/>
            <a:ext cx="283464" cy="283464"/>
          </a:xfrm>
          <a:prstGeom prst="ellipse">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Segoe UI"/>
                <a:cs typeface="Segoe UI"/>
              </a:rPr>
              <a:t>4</a:t>
            </a:r>
          </a:p>
        </p:txBody>
      </p:sp>
      <p:sp>
        <p:nvSpPr>
          <p:cNvPr id="480" name="Rectangle 479"/>
          <p:cNvSpPr/>
          <p:nvPr/>
        </p:nvSpPr>
        <p:spPr>
          <a:xfrm>
            <a:off x="5961888" y="6272784"/>
            <a:ext cx="3200400" cy="283464"/>
          </a:xfrm>
          <a:prstGeom prst="rect">
            <a:avLst/>
          </a:prstGeom>
          <a:solidFill>
            <a:srgbClr val="0B0D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481" name="Picture 480" descr="shieldalert_w.png"/>
          <p:cNvPicPr>
            <a:picLocks noChangeAspect="1"/>
          </p:cNvPicPr>
          <p:nvPr/>
        </p:nvPicPr>
        <p:blipFill>
          <a:blip r:embed="rId73"/>
          <a:stretch>
            <a:fillRect/>
          </a:stretch>
        </p:blipFill>
        <p:spPr>
          <a:xfrm>
            <a:off x="6053327" y="6323076"/>
            <a:ext cx="182880" cy="182880"/>
          </a:xfrm>
          <a:prstGeom prst="rect">
            <a:avLst/>
          </a:prstGeom>
        </p:spPr>
      </p:pic>
      <p:sp>
        <p:nvSpPr>
          <p:cNvPr id="482" name="TextBox 481"/>
          <p:cNvSpPr txBox="1"/>
          <p:nvPr/>
        </p:nvSpPr>
        <p:spPr>
          <a:xfrm>
            <a:off x="6291072" y="6272784"/>
            <a:ext cx="2834640" cy="283464"/>
          </a:xfrm>
          <a:prstGeom prst="rect">
            <a:avLst/>
          </a:prstGeom>
          <a:noFill/>
        </p:spPr>
        <p:txBody>
          <a:bodyPr wrap="none" lIns="0" rIns="0" tIns="0" bIns="0" anchor="ctr">
            <a:noAutofit/>
          </a:bodyPr>
          <a:lstStyle/>
          <a:p>
            <a:pPr algn="l"/>
            <a:r>
              <a:rPr sz="1530" b="1" i="0" spc="65">
                <a:solidFill>
                  <a:srgbClr val="FFFFFF"/>
                </a:solidFill>
                <a:latin typeface="Arial Narrow"/>
                <a:cs typeface="Arial Narrow"/>
              </a:rPr>
              <a:t>CHALLENGES AND MITIGATION</a:t>
            </a:r>
          </a:p>
        </p:txBody>
      </p:sp>
      <p:sp>
        <p:nvSpPr>
          <p:cNvPr id="483" name="Rounded Rectangle 482"/>
          <p:cNvSpPr/>
          <p:nvPr/>
        </p:nvSpPr>
        <p:spPr>
          <a:xfrm>
            <a:off x="16002000" y="6327648"/>
            <a:ext cx="2011680" cy="192024"/>
          </a:xfrm>
          <a:prstGeom prst="roundRect">
            <a:avLst>
              <a:gd name="adj" fmla="val 23809"/>
            </a:avLst>
          </a:prstGeom>
          <a:solidFill>
            <a:srgbClr val="ECFDF5"/>
          </a:solidFill>
          <a:ln w="9525">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850" b="1" i="0" spc="40">
                <a:solidFill>
                  <a:srgbClr val="059669"/>
                </a:solidFill>
                <a:latin typeface="Segoe UI"/>
                <a:cs typeface="Segoe UI"/>
              </a:rPr>
              <a:t>ALL FOUR ANSWERED IN CODE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Group 16">
            <a:extLst>
              <a:ext uri="{FF2B5EF4-FFF2-40B4-BE49-F238E27FC236}">
                <a16:creationId xmlns:a16="http://schemas.microsoft.com/office/drawing/2014/main" id="{1098F3FC-6978-8B64-C923-30411D6C0628}"/>
              </a:ext>
            </a:extLst>
          </p:cNvPr>
          <p:cNvGrpSpPr/>
          <p:nvPr/>
        </p:nvGrpSpPr>
        <p:grpSpPr>
          <a:xfrm>
            <a:off x="-367447" y="-254567"/>
            <a:ext cx="2854615" cy="1816667"/>
            <a:chOff x="0" y="0"/>
            <a:chExt cx="3908883" cy="2650496"/>
          </a:xfrm>
        </p:grpSpPr>
        <p:sp>
          <p:nvSpPr>
            <p:cNvPr id="74" name="Freeform 17" descr="Your startup LOGO">
              <a:extLst>
                <a:ext uri="{FF2B5EF4-FFF2-40B4-BE49-F238E27FC236}">
                  <a16:creationId xmlns:a16="http://schemas.microsoft.com/office/drawing/2014/main" id="{E2E83057-4ECD-BE02-311D-CB8F55C58DBE}"/>
                </a:ext>
              </a:extLst>
            </p:cNvPr>
            <p:cNvSpPr/>
            <p:nvPr/>
          </p:nvSpPr>
          <p:spPr>
            <a:xfrm>
              <a:off x="489929" y="422094"/>
              <a:ext cx="2748917" cy="1806308"/>
            </a:xfrm>
            <a:custGeom>
              <a:avLst/>
              <a:gdLst/>
              <a:ahLst/>
              <a:cxnLst/>
              <a:rect l="l" t="t" r="r" b="b"/>
              <a:pathLst>
                <a:path w="2748917" h="1806308">
                  <a:moveTo>
                    <a:pt x="0" y="0"/>
                  </a:moveTo>
                  <a:lnTo>
                    <a:pt x="2748917" y="0"/>
                  </a:lnTo>
                  <a:lnTo>
                    <a:pt x="2748917" y="1806308"/>
                  </a:lnTo>
                  <a:lnTo>
                    <a:pt x="0" y="1806308"/>
                  </a:lnTo>
                  <a:lnTo>
                    <a:pt x="0" y="0"/>
                  </a:lnTo>
                  <a:close/>
                </a:path>
              </a:pathLst>
            </a:custGeom>
            <a:blipFill>
              <a:blip>
                <a:extLst>
                  <a:ext uri="{96DAC541-7B7A-43D3-8B79-37D633B846F1}">
                    <asvg:svgBlip xmlns:asvg="http://schemas.microsoft.com/office/drawing/2016/SVG/main" r:embed="rId30"/>
                  </a:ext>
                </a:extLst>
              </a:blip>
              <a:stretch>
                <a:fillRect/>
              </a:stretch>
            </a:blipFill>
          </p:spPr>
        </p:sp>
        <p:grpSp>
          <p:nvGrpSpPr>
            <p:cNvPr id="75" name="Group 18">
              <a:extLst>
                <a:ext uri="{FF2B5EF4-FFF2-40B4-BE49-F238E27FC236}">
                  <a16:creationId xmlns:a16="http://schemas.microsoft.com/office/drawing/2014/main" id="{3898BF8A-4645-0D54-5638-9BC550D0E79D}"/>
                </a:ext>
              </a:extLst>
            </p:cNvPr>
            <p:cNvGrpSpPr/>
            <p:nvPr/>
          </p:nvGrpSpPr>
          <p:grpSpPr>
            <a:xfrm>
              <a:off x="0" y="0"/>
              <a:ext cx="3908883" cy="2650496"/>
              <a:chOff x="0" y="0"/>
              <a:chExt cx="2554516" cy="1732140"/>
            </a:xfrm>
          </p:grpSpPr>
          <p:sp>
            <p:nvSpPr>
              <p:cNvPr id="76" name="Freeform 19">
                <a:extLst>
                  <a:ext uri="{FF2B5EF4-FFF2-40B4-BE49-F238E27FC236}">
                    <a16:creationId xmlns:a16="http://schemas.microsoft.com/office/drawing/2014/main" id="{525E89AC-D51F-F5FA-2CB0-4D15649AF13A}"/>
                  </a:ext>
                </a:extLst>
              </p:cNvPr>
              <p:cNvSpPr/>
              <p:nvPr/>
            </p:nvSpPr>
            <p:spPr>
              <a:xfrm>
                <a:off x="0" y="0"/>
                <a:ext cx="2554516" cy="1732143"/>
              </a:xfrm>
              <a:custGeom>
                <a:avLst/>
                <a:gdLst/>
                <a:ahLst/>
                <a:cxnLst/>
                <a:rect l="l" t="t" r="r" b="b"/>
                <a:pathLst>
                  <a:path w="2554516" h="1732143">
                    <a:moveTo>
                      <a:pt x="0" y="0"/>
                    </a:moveTo>
                    <a:lnTo>
                      <a:pt x="2554516" y="0"/>
                    </a:lnTo>
                    <a:lnTo>
                      <a:pt x="2554516" y="1732143"/>
                    </a:lnTo>
                    <a:lnTo>
                      <a:pt x="0" y="1732143"/>
                    </a:lnTo>
                    <a:close/>
                  </a:path>
                </a:pathLst>
              </a:custGeom>
              <a:blipFill>
                <a:blip r:embed="rId31">
                  <a:alphaModFix amt="0"/>
                </a:blip>
                <a:stretch>
                  <a:fillRect l="-36998" r="-36998"/>
                </a:stretch>
              </a:blipFill>
            </p:spPr>
          </p:sp>
          <p:sp>
            <p:nvSpPr>
              <p:cNvPr id="77" name="TextBox 20">
                <a:extLst>
                  <a:ext uri="{FF2B5EF4-FFF2-40B4-BE49-F238E27FC236}">
                    <a16:creationId xmlns:a16="http://schemas.microsoft.com/office/drawing/2014/main" id="{BAB429CF-2729-FD8A-8574-7A747A9CF0F2}"/>
                  </a:ext>
                </a:extLst>
              </p:cNvPr>
              <p:cNvSpPr txBox="1"/>
              <p:nvPr/>
            </p:nvSpPr>
            <p:spPr>
              <a:xfrm>
                <a:off x="0" y="-66675"/>
                <a:ext cx="2554516" cy="1798815"/>
              </a:xfrm>
              <a:prstGeom prst="rect">
                <a:avLst/>
              </a:prstGeom>
            </p:spPr>
            <p:txBody>
              <a:bodyPr lIns="0" tIns="0" rIns="0" bIns="0" rtlCol="0" anchor="ctr"/>
              <a:lstStyle/>
              <a:p>
                <a:pPr algn="ctr">
                  <a:lnSpc>
                    <a:spcPts val="4199"/>
                  </a:lnSpc>
                </a:pPr>
                <a:r>
                  <a:rPr lang="en-US" sz="3498" dirty="0" err="1">
                    <a:solidFill>
                      <a:srgbClr val="000000"/>
                    </a:solidFill>
                    <a:latin typeface="Segoe UI" panose="020B0502040204020203" pitchFamily="34" charset="0"/>
                    <a:ea typeface="Calibri (MS)"/>
                    <a:cs typeface="Segoe UI" panose="020B0502040204020203" pitchFamily="34" charset="0"/>
                    <a:sym typeface="Calibri (MS)"/>
                  </a:rPr>
                  <a:t>LLMao</a:t>
                </a:r>
                <a:endParaRPr lang="en-US" sz="3498" dirty="0">
                  <a:solidFill>
                    <a:srgbClr val="000000"/>
                  </a:solidFill>
                  <a:latin typeface="Segoe UI" panose="020B0502040204020203" pitchFamily="34" charset="0"/>
                  <a:ea typeface="Calibri (MS)"/>
                  <a:cs typeface="Segoe UI" panose="020B0502040204020203" pitchFamily="34" charset="0"/>
                  <a:sym typeface="Calibri (MS)"/>
                </a:endParaRPr>
              </a:p>
            </p:txBody>
          </p:sp>
        </p:grpSp>
      </p:grpSp>
      <p:grpSp>
        <p:nvGrpSpPr>
          <p:cNvPr id="82" name="Group 12">
            <a:extLst>
              <a:ext uri="{FF2B5EF4-FFF2-40B4-BE49-F238E27FC236}">
                <a16:creationId xmlns:a16="http://schemas.microsoft.com/office/drawing/2014/main" id="{F4999290-7C75-D7AF-9C88-D157F1B608FB}"/>
              </a:ext>
            </a:extLst>
          </p:cNvPr>
          <p:cNvGrpSpPr/>
          <p:nvPr/>
        </p:nvGrpSpPr>
        <p:grpSpPr>
          <a:xfrm>
            <a:off x="15113269" y="2248"/>
            <a:ext cx="2931663" cy="1241431"/>
            <a:chOff x="0" y="0"/>
            <a:chExt cx="4499737" cy="2124710"/>
          </a:xfrm>
        </p:grpSpPr>
        <p:sp>
          <p:nvSpPr>
            <p:cNvPr id="83" name="Freeform 13">
              <a:extLst>
                <a:ext uri="{FF2B5EF4-FFF2-40B4-BE49-F238E27FC236}">
                  <a16:creationId xmlns:a16="http://schemas.microsoft.com/office/drawing/2014/main" id="{4BC54FD0-3174-8CCF-4DA5-89C633488D42}"/>
                </a:ext>
              </a:extLst>
            </p:cNvPr>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32"/>
              <a:stretch>
                <a:fillRect t="-22" b="-21"/>
              </a:stretch>
            </a:blipFill>
          </p:spPr>
        </p:sp>
      </p:grpSp>
      <p:sp>
        <p:nvSpPr>
          <p:cNvPr id="93" name="Freeform 22">
            <a:extLst>
              <a:ext uri="{FF2B5EF4-FFF2-40B4-BE49-F238E27FC236}">
                <a16:creationId xmlns:a16="http://schemas.microsoft.com/office/drawing/2014/main" id="{52F1E3C5-AC40-BA72-D478-0B8F48B0041D}"/>
              </a:ext>
            </a:extLst>
          </p:cNvPr>
          <p:cNvSpPr/>
          <p:nvPr/>
        </p:nvSpPr>
        <p:spPr>
          <a:xfrm>
            <a:off x="0" y="9893911"/>
            <a:ext cx="18288000" cy="413872"/>
          </a:xfrm>
          <a:custGeom>
            <a:avLst/>
            <a:gdLst/>
            <a:ahLst/>
            <a:cxnLst/>
            <a:rect l="l" t="t" r="r" b="b"/>
            <a:pathLst>
              <a:path w="24384000" h="730377">
                <a:moveTo>
                  <a:pt x="24384000" y="730377"/>
                </a:moveTo>
                <a:lnTo>
                  <a:pt x="0" y="730377"/>
                </a:lnTo>
                <a:lnTo>
                  <a:pt x="0" y="0"/>
                </a:lnTo>
                <a:lnTo>
                  <a:pt x="24384000" y="0"/>
                </a:lnTo>
                <a:lnTo>
                  <a:pt x="24384000" y="730377"/>
                </a:lnTo>
                <a:close/>
              </a:path>
            </a:pathLst>
          </a:custGeom>
          <a:solidFill>
            <a:srgbClr val="0070C0"/>
          </a:solidFill>
        </p:spPr>
      </p:sp>
      <p:sp>
        <p:nvSpPr>
          <p:cNvPr id="95" name="TextBox 94">
            <a:extLst>
              <a:ext uri="{FF2B5EF4-FFF2-40B4-BE49-F238E27FC236}">
                <a16:creationId xmlns:a16="http://schemas.microsoft.com/office/drawing/2014/main" id="{E1C56E8E-E6E2-B16B-1975-388EABB16760}"/>
              </a:ext>
            </a:extLst>
          </p:cNvPr>
          <p:cNvSpPr txBox="1"/>
          <p:nvPr/>
        </p:nvSpPr>
        <p:spPr>
          <a:xfrm>
            <a:off x="17779222" y="9936217"/>
            <a:ext cx="531419" cy="383277"/>
          </a:xfrm>
          <a:prstGeom prst="rect">
            <a:avLst/>
          </a:prstGeom>
          <a:noFill/>
        </p:spPr>
        <p:txBody>
          <a:bodyPr wrap="square">
            <a:spAutoFit/>
          </a:bodyPr>
          <a:lstStyle/>
          <a:p>
            <a:r>
              <a:rPr lang="en-IN" dirty="0">
                <a:solidFill>
                  <a:schemeClr val="bg1">
                    <a:lumMod val="95000"/>
                  </a:schemeClr>
                </a:solidFill>
                <a:latin typeface="Segoe UI" panose="020B0502040204020203" pitchFamily="34" charset="0"/>
                <a:cs typeface="Segoe UI" panose="020B0502040204020203" pitchFamily="34" charset="0"/>
              </a:rPr>
              <a:t>5</a:t>
            </a:r>
            <a:endParaRPr lang="en-IN" sz="1800" dirty="0">
              <a:solidFill>
                <a:schemeClr val="bg1">
                  <a:lumMod val="95000"/>
                </a:schemeClr>
              </a:solidFill>
              <a:latin typeface="Segoe UI" panose="020B0502040204020203" pitchFamily="34" charset="0"/>
              <a:cs typeface="Segoe UI" panose="020B0502040204020203" pitchFamily="34" charset="0"/>
            </a:endParaRPr>
          </a:p>
        </p:txBody>
      </p:sp>
      <p:sp>
        <p:nvSpPr>
          <p:cNvPr id="96" name="TextBox 95"/>
          <p:cNvSpPr txBox="1"/>
          <p:nvPr/>
        </p:nvSpPr>
        <p:spPr>
          <a:xfrm>
            <a:off x="2651760" y="292608"/>
            <a:ext cx="12984480" cy="731520"/>
          </a:xfrm>
          <a:prstGeom prst="rect">
            <a:avLst/>
          </a:prstGeom>
          <a:noFill/>
        </p:spPr>
        <p:txBody>
          <a:bodyPr wrap="square" lIns="0" rIns="0" tIns="0" bIns="0" anchor="ctr">
            <a:noAutofit/>
          </a:bodyPr>
          <a:lstStyle/>
          <a:p>
            <a:pPr algn="ctr"/>
            <a:r>
              <a:rPr sz="4000" b="1" i="0" spc="-1">
                <a:solidFill>
                  <a:srgbClr val="123668"/>
                </a:solidFill>
                <a:latin typeface="Segoe UI"/>
                <a:cs typeface="Segoe UI"/>
              </a:rPr>
              <a:t>Impacts And Benefits</a:t>
            </a:r>
          </a:p>
        </p:txBody>
      </p:sp>
      <p:sp>
        <p:nvSpPr>
          <p:cNvPr id="97" name="Rounded Rectangle 96"/>
          <p:cNvSpPr/>
          <p:nvPr/>
        </p:nvSpPr>
        <p:spPr>
          <a:xfrm>
            <a:off x="365760" y="1307592"/>
            <a:ext cx="3291840" cy="2542032"/>
          </a:xfrm>
          <a:prstGeom prst="roundRect">
            <a:avLst>
              <a:gd name="adj" fmla="val 4316"/>
            </a:avLst>
          </a:prstGeom>
          <a:solidFill>
            <a:srgbClr val="F4F8FF"/>
          </a:solidFill>
          <a:ln w="9525">
            <a:solidFill>
              <a:srgbClr val="B9CFF0"/>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8" name="Rounded Rectangle 97"/>
          <p:cNvSpPr/>
          <p:nvPr/>
        </p:nvSpPr>
        <p:spPr>
          <a:xfrm>
            <a:off x="365760" y="1307592"/>
            <a:ext cx="3291840" cy="603504"/>
          </a:xfrm>
          <a:prstGeom prst="roundRect">
            <a:avLst>
              <a:gd name="adj" fmla="val 18181"/>
            </a:avLst>
          </a:prstGeom>
          <a:solidFill>
            <a:srgbClr val="1552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Rectangle 98"/>
          <p:cNvSpPr/>
          <p:nvPr/>
        </p:nvSpPr>
        <p:spPr>
          <a:xfrm>
            <a:off x="365760" y="1645920"/>
            <a:ext cx="3291840" cy="265176"/>
          </a:xfrm>
          <a:prstGeom prst="rect">
            <a:avLst/>
          </a:prstGeom>
          <a:solidFill>
            <a:srgbClr val="1552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0" name="TextBox 99"/>
          <p:cNvSpPr txBox="1"/>
          <p:nvPr/>
        </p:nvSpPr>
        <p:spPr>
          <a:xfrm>
            <a:off x="566928" y="1307592"/>
            <a:ext cx="2468880" cy="603504"/>
          </a:xfrm>
          <a:prstGeom prst="rect">
            <a:avLst/>
          </a:prstGeom>
          <a:noFill/>
        </p:spPr>
        <p:txBody>
          <a:bodyPr wrap="square" lIns="0" rIns="0" tIns="0" bIns="0" anchor="ctr">
            <a:noAutofit/>
          </a:bodyPr>
          <a:lstStyle/>
          <a:p>
            <a:pPr algn="l"/>
            <a:r>
              <a:rPr sz="1300" b="1" i="0" spc="30">
                <a:solidFill>
                  <a:srgbClr val="FFFFFF"/>
                </a:solidFill>
                <a:latin typeface="Segoe UI"/>
                <a:cs typeface="Segoe UI"/>
              </a:rPr>
              <a:t>PUBLIC SAFETY</a:t>
            </a:r>
          </a:p>
        </p:txBody>
      </p:sp>
      <p:pic>
        <p:nvPicPr>
          <p:cNvPr id="101" name="Picture 100" descr="shield_w.png"/>
          <p:cNvPicPr>
            <a:picLocks noChangeAspect="1"/>
          </p:cNvPicPr>
          <p:nvPr/>
        </p:nvPicPr>
        <p:blipFill>
          <a:blip r:embed="rId37"/>
          <a:stretch>
            <a:fillRect/>
          </a:stretch>
        </p:blipFill>
        <p:spPr>
          <a:xfrm>
            <a:off x="3108960" y="1408176"/>
            <a:ext cx="402336" cy="402336"/>
          </a:xfrm>
          <a:prstGeom prst="rect">
            <a:avLst/>
          </a:prstGeom>
        </p:spPr>
      </p:pic>
      <p:sp>
        <p:nvSpPr>
          <p:cNvPr id="102" name="TextBox 101"/>
          <p:cNvSpPr txBox="1"/>
          <p:nvPr/>
        </p:nvSpPr>
        <p:spPr>
          <a:xfrm>
            <a:off x="566928" y="2048256"/>
            <a:ext cx="2926080" cy="1188720"/>
          </a:xfrm>
          <a:prstGeom prst="rect">
            <a:avLst/>
          </a:prstGeom>
          <a:noFill/>
        </p:spPr>
        <p:txBody>
          <a:bodyPr wrap="square" lIns="0" rIns="0" tIns="0" bIns="0" anchor="t">
            <a:noAutofit/>
          </a:bodyPr>
          <a:lstStyle/>
          <a:p>
            <a:pPr algn="l">
              <a:lnSpc>
                <a:spcPct val="108000"/>
              </a:lnSpc>
            </a:pPr>
            <a:r>
              <a:rPr sz="1500" b="0" i="0">
                <a:solidFill>
                  <a:srgbClr val="1F2937"/>
                </a:solidFill>
                <a:latin typeface="Segoe UI"/>
                <a:cs typeface="Segoe UI"/>
              </a:rPr>
              <a:t>Citizens are warned street by street before water crosses ankle depth — not after the road is gone.</a:t>
            </a:r>
          </a:p>
        </p:txBody>
      </p:sp>
      <p:sp>
        <p:nvSpPr>
          <p:cNvPr id="103" name="Rounded Rectangle 102"/>
          <p:cNvSpPr/>
          <p:nvPr/>
        </p:nvSpPr>
        <p:spPr>
          <a:xfrm>
            <a:off x="566928" y="3310128"/>
            <a:ext cx="2889504" cy="347472"/>
          </a:xfrm>
          <a:prstGeom prst="roundRect">
            <a:avLst>
              <a:gd name="adj" fmla="val 13157"/>
            </a:avLst>
          </a:prstGeom>
          <a:solidFill>
            <a:srgbClr val="FFFFFF"/>
          </a:solidFill>
          <a:ln w="9525">
            <a:solidFill>
              <a:srgbClr val="B9CF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spc="30">
                <a:solidFill>
                  <a:srgbClr val="1552A6"/>
                </a:solidFill>
                <a:latin typeface="Segoe UI"/>
                <a:cs typeface="Segoe UI"/>
              </a:rPr>
              <a:t>67% OF CELLS WARNED IN TIME</a:t>
            </a:r>
          </a:p>
        </p:txBody>
      </p:sp>
      <p:sp>
        <p:nvSpPr>
          <p:cNvPr id="104" name="Rounded Rectangle 103"/>
          <p:cNvSpPr/>
          <p:nvPr/>
        </p:nvSpPr>
        <p:spPr>
          <a:xfrm>
            <a:off x="3904488" y="1307592"/>
            <a:ext cx="3291840" cy="2542032"/>
          </a:xfrm>
          <a:prstGeom prst="roundRect">
            <a:avLst>
              <a:gd name="adj" fmla="val 4316"/>
            </a:avLst>
          </a:prstGeom>
          <a:solidFill>
            <a:srgbClr val="F1FBF9"/>
          </a:solidFill>
          <a:ln w="9525">
            <a:solidFill>
              <a:srgbClr val="A9E2D9"/>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5" name="Rounded Rectangle 104"/>
          <p:cNvSpPr/>
          <p:nvPr/>
        </p:nvSpPr>
        <p:spPr>
          <a:xfrm>
            <a:off x="3904488" y="1307592"/>
            <a:ext cx="3291840" cy="603504"/>
          </a:xfrm>
          <a:prstGeom prst="roundRect">
            <a:avLst>
              <a:gd name="adj" fmla="val 18181"/>
            </a:avLst>
          </a:prstGeom>
          <a:solidFill>
            <a:srgbClr val="10A0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6" name="Rectangle 105"/>
          <p:cNvSpPr/>
          <p:nvPr/>
        </p:nvSpPr>
        <p:spPr>
          <a:xfrm>
            <a:off x="3904488" y="1645920"/>
            <a:ext cx="3291840" cy="265176"/>
          </a:xfrm>
          <a:prstGeom prst="rect">
            <a:avLst/>
          </a:prstGeom>
          <a:solidFill>
            <a:srgbClr val="10A0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7" name="TextBox 106"/>
          <p:cNvSpPr txBox="1"/>
          <p:nvPr/>
        </p:nvSpPr>
        <p:spPr>
          <a:xfrm>
            <a:off x="4105656" y="1307592"/>
            <a:ext cx="2468880" cy="603504"/>
          </a:xfrm>
          <a:prstGeom prst="rect">
            <a:avLst/>
          </a:prstGeom>
          <a:noFill/>
        </p:spPr>
        <p:txBody>
          <a:bodyPr wrap="square" lIns="0" rIns="0" tIns="0" bIns="0" anchor="ctr">
            <a:noAutofit/>
          </a:bodyPr>
          <a:lstStyle/>
          <a:p>
            <a:pPr algn="l"/>
            <a:r>
              <a:rPr sz="1300" b="1" i="0" spc="30">
                <a:solidFill>
                  <a:srgbClr val="FFFFFF"/>
                </a:solidFill>
                <a:latin typeface="Segoe UI"/>
                <a:cs typeface="Segoe UI"/>
              </a:rPr>
              <a:t>EMERGENCY RESPONSE</a:t>
            </a:r>
          </a:p>
        </p:txBody>
      </p:sp>
      <p:pic>
        <p:nvPicPr>
          <p:cNvPr id="108" name="Picture 107" descr="ambulance_w.png"/>
          <p:cNvPicPr>
            <a:picLocks noChangeAspect="1"/>
          </p:cNvPicPr>
          <p:nvPr/>
        </p:nvPicPr>
        <p:blipFill>
          <a:blip r:embed="rId38"/>
          <a:stretch>
            <a:fillRect/>
          </a:stretch>
        </p:blipFill>
        <p:spPr>
          <a:xfrm>
            <a:off x="6647688" y="1408176"/>
            <a:ext cx="402336" cy="402336"/>
          </a:xfrm>
          <a:prstGeom prst="rect">
            <a:avLst/>
          </a:prstGeom>
        </p:spPr>
      </p:pic>
      <p:sp>
        <p:nvSpPr>
          <p:cNvPr id="109" name="TextBox 108"/>
          <p:cNvSpPr txBox="1"/>
          <p:nvPr/>
        </p:nvSpPr>
        <p:spPr>
          <a:xfrm>
            <a:off x="4105656" y="2048256"/>
            <a:ext cx="2926080" cy="1188720"/>
          </a:xfrm>
          <a:prstGeom prst="rect">
            <a:avLst/>
          </a:prstGeom>
          <a:noFill/>
        </p:spPr>
        <p:txBody>
          <a:bodyPr wrap="square" lIns="0" rIns="0" tIns="0" bIns="0" anchor="t">
            <a:noAutofit/>
          </a:bodyPr>
          <a:lstStyle/>
          <a:p>
            <a:pPr algn="l">
              <a:lnSpc>
                <a:spcPct val="108000"/>
              </a:lnSpc>
            </a:pPr>
            <a:r>
              <a:rPr sz="1500" b="0" i="0">
                <a:solidFill>
                  <a:srgbClr val="1F2937"/>
                </a:solidFill>
                <a:latin typeface="Segoe UI"/>
                <a:cs typeface="Segoe UI"/>
              </a:rPr>
              <a:t>Ambulance and fire routes are checked against the water expected when the vehicle actually arrives.</a:t>
            </a:r>
          </a:p>
        </p:txBody>
      </p:sp>
      <p:sp>
        <p:nvSpPr>
          <p:cNvPr id="110" name="Rounded Rectangle 109"/>
          <p:cNvSpPr/>
          <p:nvPr/>
        </p:nvSpPr>
        <p:spPr>
          <a:xfrm>
            <a:off x="4105656" y="3310128"/>
            <a:ext cx="2889504" cy="347472"/>
          </a:xfrm>
          <a:prstGeom prst="roundRect">
            <a:avLst>
              <a:gd name="adj" fmla="val 13157"/>
            </a:avLst>
          </a:prstGeom>
          <a:solidFill>
            <a:srgbClr val="FFFFFF"/>
          </a:solidFill>
          <a:ln w="9525">
            <a:solidFill>
              <a:srgbClr val="A9E2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spc="30">
                <a:solidFill>
                  <a:srgbClr val="10A08E"/>
                </a:solidFill>
                <a:latin typeface="Segoe UI"/>
                <a:cs typeface="Segoe UI"/>
              </a:rPr>
              <a:t>5 VEHICLE CLASSES · 3 ROUTES</a:t>
            </a:r>
          </a:p>
        </p:txBody>
      </p:sp>
      <p:sp>
        <p:nvSpPr>
          <p:cNvPr id="111" name="Rounded Rectangle 110"/>
          <p:cNvSpPr/>
          <p:nvPr/>
        </p:nvSpPr>
        <p:spPr>
          <a:xfrm>
            <a:off x="7443216" y="1307592"/>
            <a:ext cx="3291840" cy="2542032"/>
          </a:xfrm>
          <a:prstGeom prst="roundRect">
            <a:avLst>
              <a:gd name="adj" fmla="val 4316"/>
            </a:avLst>
          </a:prstGeom>
          <a:solidFill>
            <a:srgbClr val="FFF7EE"/>
          </a:solidFill>
          <a:ln w="9525">
            <a:solidFill>
              <a:srgbClr val="FBD3A5"/>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2" name="Rounded Rectangle 111"/>
          <p:cNvSpPr/>
          <p:nvPr/>
        </p:nvSpPr>
        <p:spPr>
          <a:xfrm>
            <a:off x="7443216" y="1307592"/>
            <a:ext cx="3291840" cy="603504"/>
          </a:xfrm>
          <a:prstGeom prst="roundRect">
            <a:avLst>
              <a:gd name="adj" fmla="val 18181"/>
            </a:avLst>
          </a:prstGeom>
          <a:solidFill>
            <a:srgbClr val="F58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3" name="Rectangle 112"/>
          <p:cNvSpPr/>
          <p:nvPr/>
        </p:nvSpPr>
        <p:spPr>
          <a:xfrm>
            <a:off x="7443216" y="1645920"/>
            <a:ext cx="3291840" cy="265176"/>
          </a:xfrm>
          <a:prstGeom prst="rect">
            <a:avLst/>
          </a:prstGeom>
          <a:solidFill>
            <a:srgbClr val="F58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4" name="TextBox 113"/>
          <p:cNvSpPr txBox="1"/>
          <p:nvPr/>
        </p:nvSpPr>
        <p:spPr>
          <a:xfrm>
            <a:off x="7644384" y="1307592"/>
            <a:ext cx="2468880" cy="603504"/>
          </a:xfrm>
          <a:prstGeom prst="rect">
            <a:avLst/>
          </a:prstGeom>
          <a:noFill/>
        </p:spPr>
        <p:txBody>
          <a:bodyPr wrap="square" lIns="0" rIns="0" tIns="0" bIns="0" anchor="ctr">
            <a:noAutofit/>
          </a:bodyPr>
          <a:lstStyle/>
          <a:p>
            <a:pPr algn="l"/>
            <a:r>
              <a:rPr sz="1300" b="1" i="0" spc="30">
                <a:solidFill>
                  <a:srgbClr val="FFFFFF"/>
                </a:solidFill>
                <a:latin typeface="Segoe UI"/>
                <a:cs typeface="Segoe UI"/>
              </a:rPr>
              <a:t>INFRASTRUCTURE HEALTH</a:t>
            </a:r>
          </a:p>
        </p:txBody>
      </p:sp>
      <p:pic>
        <p:nvPicPr>
          <p:cNvPr id="115" name="Picture 114" descr="wrench_w.png"/>
          <p:cNvPicPr>
            <a:picLocks noChangeAspect="1"/>
          </p:cNvPicPr>
          <p:nvPr/>
        </p:nvPicPr>
        <p:blipFill>
          <a:blip r:embed="rId39"/>
          <a:stretch>
            <a:fillRect/>
          </a:stretch>
        </p:blipFill>
        <p:spPr>
          <a:xfrm>
            <a:off x="10186416" y="1408176"/>
            <a:ext cx="402336" cy="402336"/>
          </a:xfrm>
          <a:prstGeom prst="rect">
            <a:avLst/>
          </a:prstGeom>
        </p:spPr>
      </p:pic>
      <p:sp>
        <p:nvSpPr>
          <p:cNvPr id="116" name="TextBox 115"/>
          <p:cNvSpPr txBox="1"/>
          <p:nvPr/>
        </p:nvSpPr>
        <p:spPr>
          <a:xfrm>
            <a:off x="7644384" y="2048256"/>
            <a:ext cx="2926080" cy="1188720"/>
          </a:xfrm>
          <a:prstGeom prst="rect">
            <a:avLst/>
          </a:prstGeom>
          <a:noFill/>
        </p:spPr>
        <p:txBody>
          <a:bodyPr wrap="square" lIns="0" rIns="0" tIns="0" bIns="0" anchor="t">
            <a:noAutofit/>
          </a:bodyPr>
          <a:lstStyle/>
          <a:p>
            <a:pPr algn="l">
              <a:lnSpc>
                <a:spcPct val="108000"/>
              </a:lnSpc>
            </a:pPr>
            <a:r>
              <a:rPr sz="1500" b="0" i="0">
                <a:solidFill>
                  <a:srgbClr val="1F2937"/>
                </a:solidFill>
                <a:latin typeface="Segoe UI"/>
                <a:cs typeface="Segoe UI"/>
              </a:rPr>
              <a:t>Hidden drain blockages and faulty sensors are flagged with evidence, so crews fix the right pipe first.</a:t>
            </a:r>
          </a:p>
        </p:txBody>
      </p:sp>
      <p:sp>
        <p:nvSpPr>
          <p:cNvPr id="117" name="Rounded Rectangle 116"/>
          <p:cNvSpPr/>
          <p:nvPr/>
        </p:nvSpPr>
        <p:spPr>
          <a:xfrm>
            <a:off x="7644384" y="3310128"/>
            <a:ext cx="2889504" cy="347472"/>
          </a:xfrm>
          <a:prstGeom prst="roundRect">
            <a:avLst>
              <a:gd name="adj" fmla="val 13157"/>
            </a:avLst>
          </a:prstGeom>
          <a:solidFill>
            <a:srgbClr val="FFFFFF"/>
          </a:solidFill>
          <a:ln w="9525">
            <a:solidFill>
              <a:srgbClr val="FBD3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spc="30">
                <a:solidFill>
                  <a:srgbClr val="F58A1F"/>
                </a:solidFill>
                <a:latin typeface="Segoe UI"/>
                <a:cs typeface="Segoe UI"/>
              </a:rPr>
              <a:t>HIDDEN BLOCKAGE P-49 FOUND</a:t>
            </a:r>
          </a:p>
        </p:txBody>
      </p:sp>
      <p:sp>
        <p:nvSpPr>
          <p:cNvPr id="118" name="Rounded Rectangle 117"/>
          <p:cNvSpPr/>
          <p:nvPr/>
        </p:nvSpPr>
        <p:spPr>
          <a:xfrm>
            <a:off x="10981944" y="1307592"/>
            <a:ext cx="3291840" cy="2542032"/>
          </a:xfrm>
          <a:prstGeom prst="roundRect">
            <a:avLst>
              <a:gd name="adj" fmla="val 4316"/>
            </a:avLst>
          </a:prstGeom>
          <a:solidFill>
            <a:srgbClr val="F0FBFA"/>
          </a:solidFill>
          <a:ln w="9525">
            <a:solidFill>
              <a:srgbClr val="A5E0DE"/>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9" name="Rounded Rectangle 118"/>
          <p:cNvSpPr/>
          <p:nvPr/>
        </p:nvSpPr>
        <p:spPr>
          <a:xfrm>
            <a:off x="10981944" y="1307592"/>
            <a:ext cx="3291840" cy="603504"/>
          </a:xfrm>
          <a:prstGeom prst="roundRect">
            <a:avLst>
              <a:gd name="adj" fmla="val 18181"/>
            </a:avLst>
          </a:prstGeom>
          <a:solidFill>
            <a:srgbClr val="0E9F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0" name="Rectangle 119"/>
          <p:cNvSpPr/>
          <p:nvPr/>
        </p:nvSpPr>
        <p:spPr>
          <a:xfrm>
            <a:off x="10981944" y="1645920"/>
            <a:ext cx="3291840" cy="265176"/>
          </a:xfrm>
          <a:prstGeom prst="rect">
            <a:avLst/>
          </a:prstGeom>
          <a:solidFill>
            <a:srgbClr val="0E9F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1" name="TextBox 120"/>
          <p:cNvSpPr txBox="1"/>
          <p:nvPr/>
        </p:nvSpPr>
        <p:spPr>
          <a:xfrm>
            <a:off x="11183112" y="1307592"/>
            <a:ext cx="2468880" cy="603504"/>
          </a:xfrm>
          <a:prstGeom prst="rect">
            <a:avLst/>
          </a:prstGeom>
          <a:noFill/>
        </p:spPr>
        <p:txBody>
          <a:bodyPr wrap="square" lIns="0" rIns="0" tIns="0" bIns="0" anchor="ctr">
            <a:noAutofit/>
          </a:bodyPr>
          <a:lstStyle/>
          <a:p>
            <a:pPr algn="l"/>
            <a:r>
              <a:rPr sz="1300" b="1" i="0" spc="30">
                <a:solidFill>
                  <a:srgbClr val="FFFFFF"/>
                </a:solidFill>
                <a:latin typeface="Segoe UI"/>
                <a:cs typeface="Segoe UI"/>
              </a:rPr>
              <a:t>GOVERNANCE &amp; TRUST</a:t>
            </a:r>
          </a:p>
        </p:txBody>
      </p:sp>
      <p:pic>
        <p:nvPicPr>
          <p:cNvPr id="122" name="Picture 121" descr="file_w.png"/>
          <p:cNvPicPr>
            <a:picLocks noChangeAspect="1"/>
          </p:cNvPicPr>
          <p:nvPr/>
        </p:nvPicPr>
        <p:blipFill>
          <a:blip r:embed="rId40"/>
          <a:stretch>
            <a:fillRect/>
          </a:stretch>
        </p:blipFill>
        <p:spPr>
          <a:xfrm>
            <a:off x="13725144" y="1408176"/>
            <a:ext cx="402336" cy="402336"/>
          </a:xfrm>
          <a:prstGeom prst="rect">
            <a:avLst/>
          </a:prstGeom>
        </p:spPr>
      </p:pic>
      <p:sp>
        <p:nvSpPr>
          <p:cNvPr id="123" name="TextBox 122"/>
          <p:cNvSpPr txBox="1"/>
          <p:nvPr/>
        </p:nvSpPr>
        <p:spPr>
          <a:xfrm>
            <a:off x="11183112" y="2048256"/>
            <a:ext cx="2926080" cy="1188720"/>
          </a:xfrm>
          <a:prstGeom prst="rect">
            <a:avLst/>
          </a:prstGeom>
          <a:noFill/>
        </p:spPr>
        <p:txBody>
          <a:bodyPr wrap="square" lIns="0" rIns="0" tIns="0" bIns="0" anchor="t">
            <a:noAutofit/>
          </a:bodyPr>
          <a:lstStyle/>
          <a:p>
            <a:pPr algn="l">
              <a:lnSpc>
                <a:spcPct val="108000"/>
              </a:lnSpc>
            </a:pPr>
            <a:r>
              <a:rPr sz="1500" b="0" i="0">
                <a:solidFill>
                  <a:srgbClr val="1F2937"/>
                </a:solidFill>
                <a:latin typeface="Segoe UI"/>
                <a:cs typeface="Segoe UI"/>
              </a:rPr>
              <a:t>Every forecast stores its inputs, model and config — any alert can be replayed and audited later.</a:t>
            </a:r>
          </a:p>
        </p:txBody>
      </p:sp>
      <p:sp>
        <p:nvSpPr>
          <p:cNvPr id="124" name="Rounded Rectangle 123"/>
          <p:cNvSpPr/>
          <p:nvPr/>
        </p:nvSpPr>
        <p:spPr>
          <a:xfrm>
            <a:off x="11183112" y="3310128"/>
            <a:ext cx="2889504" cy="347472"/>
          </a:xfrm>
          <a:prstGeom prst="roundRect">
            <a:avLst>
              <a:gd name="adj" fmla="val 13157"/>
            </a:avLst>
          </a:prstGeom>
          <a:solidFill>
            <a:srgbClr val="FFFFFF"/>
          </a:solidFill>
          <a:ln w="9525">
            <a:solidFill>
              <a:srgbClr val="A5E0D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spc="30">
                <a:solidFill>
                  <a:srgbClr val="0E9F9A"/>
                </a:solidFill>
                <a:latin typeface="Segoe UI"/>
                <a:cs typeface="Segoe UI"/>
              </a:rPr>
              <a:t>EVERY RUN REPLAYABLE</a:t>
            </a:r>
          </a:p>
        </p:txBody>
      </p:sp>
      <p:sp>
        <p:nvSpPr>
          <p:cNvPr id="125" name="Rounded Rectangle 124"/>
          <p:cNvSpPr/>
          <p:nvPr/>
        </p:nvSpPr>
        <p:spPr>
          <a:xfrm>
            <a:off x="14520672" y="1307592"/>
            <a:ext cx="3291840" cy="2542032"/>
          </a:xfrm>
          <a:prstGeom prst="roundRect">
            <a:avLst>
              <a:gd name="adj" fmla="val 4316"/>
            </a:avLst>
          </a:prstGeom>
          <a:solidFill>
            <a:srgbClr val="F2F7FF"/>
          </a:solidFill>
          <a:ln w="9525">
            <a:solidFill>
              <a:srgbClr val="B7D0F3"/>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6" name="Rounded Rectangle 125"/>
          <p:cNvSpPr/>
          <p:nvPr/>
        </p:nvSpPr>
        <p:spPr>
          <a:xfrm>
            <a:off x="14520672" y="1307592"/>
            <a:ext cx="3291840" cy="603504"/>
          </a:xfrm>
          <a:prstGeom prst="roundRect">
            <a:avLst>
              <a:gd name="adj" fmla="val 18181"/>
            </a:avLst>
          </a:prstGeom>
          <a:solidFill>
            <a:srgbClr val="0B5C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7" name="Rectangle 126"/>
          <p:cNvSpPr/>
          <p:nvPr/>
        </p:nvSpPr>
        <p:spPr>
          <a:xfrm>
            <a:off x="14520672" y="1645920"/>
            <a:ext cx="3291840" cy="265176"/>
          </a:xfrm>
          <a:prstGeom prst="rect">
            <a:avLst/>
          </a:prstGeom>
          <a:solidFill>
            <a:srgbClr val="0B5C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8" name="TextBox 127"/>
          <p:cNvSpPr txBox="1"/>
          <p:nvPr/>
        </p:nvSpPr>
        <p:spPr>
          <a:xfrm>
            <a:off x="14721840" y="1307592"/>
            <a:ext cx="2468880" cy="603504"/>
          </a:xfrm>
          <a:prstGeom prst="rect">
            <a:avLst/>
          </a:prstGeom>
          <a:noFill/>
        </p:spPr>
        <p:txBody>
          <a:bodyPr wrap="square" lIns="0" rIns="0" tIns="0" bIns="0" anchor="ctr">
            <a:noAutofit/>
          </a:bodyPr>
          <a:lstStyle/>
          <a:p>
            <a:pPr algn="l"/>
            <a:r>
              <a:rPr sz="1300" b="1" i="0" spc="30">
                <a:solidFill>
                  <a:srgbClr val="FFFFFF"/>
                </a:solidFill>
                <a:latin typeface="Segoe UI"/>
                <a:cs typeface="Segoe UI"/>
              </a:rPr>
              <a:t>PLANNING &amp; RESILIENCE</a:t>
            </a:r>
          </a:p>
        </p:txBody>
      </p:sp>
      <p:pic>
        <p:nvPicPr>
          <p:cNvPr id="129" name="Picture 128" descr="bar_w.png"/>
          <p:cNvPicPr>
            <a:picLocks noChangeAspect="1"/>
          </p:cNvPicPr>
          <p:nvPr/>
        </p:nvPicPr>
        <p:blipFill>
          <a:blip r:embed="rId41"/>
          <a:stretch>
            <a:fillRect/>
          </a:stretch>
        </p:blipFill>
        <p:spPr>
          <a:xfrm>
            <a:off x="17263872" y="1408176"/>
            <a:ext cx="402336" cy="402336"/>
          </a:xfrm>
          <a:prstGeom prst="rect">
            <a:avLst/>
          </a:prstGeom>
        </p:spPr>
      </p:pic>
      <p:sp>
        <p:nvSpPr>
          <p:cNvPr id="130" name="TextBox 129"/>
          <p:cNvSpPr txBox="1"/>
          <p:nvPr/>
        </p:nvSpPr>
        <p:spPr>
          <a:xfrm>
            <a:off x="14721840" y="2048256"/>
            <a:ext cx="2926080" cy="1188720"/>
          </a:xfrm>
          <a:prstGeom prst="rect">
            <a:avLst/>
          </a:prstGeom>
          <a:noFill/>
        </p:spPr>
        <p:txBody>
          <a:bodyPr wrap="square" lIns="0" rIns="0" tIns="0" bIns="0" anchor="t">
            <a:noAutofit/>
          </a:bodyPr>
          <a:lstStyle/>
          <a:p>
            <a:pPr algn="l">
              <a:lnSpc>
                <a:spcPct val="108000"/>
              </a:lnSpc>
            </a:pPr>
            <a:r>
              <a:rPr sz="1500" b="0" i="0">
                <a:solidFill>
                  <a:srgbClr val="1F2937"/>
                </a:solidFill>
                <a:latin typeface="Segoe UI"/>
                <a:cs typeface="Segoe UI"/>
              </a:rPr>
              <a:t>What-if runs (rain +20%, pump failure, river backwater) show which fix cuts flooding the most.</a:t>
            </a:r>
          </a:p>
        </p:txBody>
      </p:sp>
      <p:sp>
        <p:nvSpPr>
          <p:cNvPr id="131" name="Rounded Rectangle 130"/>
          <p:cNvSpPr/>
          <p:nvPr/>
        </p:nvSpPr>
        <p:spPr>
          <a:xfrm>
            <a:off x="14721840" y="3310128"/>
            <a:ext cx="2889504" cy="347472"/>
          </a:xfrm>
          <a:prstGeom prst="roundRect">
            <a:avLst>
              <a:gd name="adj" fmla="val 13157"/>
            </a:avLst>
          </a:prstGeom>
          <a:solidFill>
            <a:srgbClr val="FFFFFF"/>
          </a:solidFill>
          <a:ln w="9525">
            <a:solidFill>
              <a:srgbClr val="B7D0F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spc="30">
                <a:solidFill>
                  <a:srgbClr val="0B5CC7"/>
                </a:solidFill>
                <a:latin typeface="Segoe UI"/>
                <a:cs typeface="Segoe UI"/>
              </a:rPr>
              <a:t>5 WHAT-IFS · 3 ACTIONS TESTED</a:t>
            </a:r>
          </a:p>
        </p:txBody>
      </p:sp>
      <p:sp>
        <p:nvSpPr>
          <p:cNvPr id="132" name="Rectangle 131"/>
          <p:cNvSpPr/>
          <p:nvPr/>
        </p:nvSpPr>
        <p:spPr>
          <a:xfrm>
            <a:off x="365760" y="4005072"/>
            <a:ext cx="17446752" cy="530352"/>
          </a:xfrm>
          <a:prstGeom prst="rect">
            <a:avLst/>
          </a:prstGeom>
          <a:solidFill>
            <a:srgbClr val="0A1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3" name="TextBox 132"/>
          <p:cNvSpPr txBox="1"/>
          <p:nvPr/>
        </p:nvSpPr>
        <p:spPr>
          <a:xfrm>
            <a:off x="365760" y="4005072"/>
            <a:ext cx="17446752" cy="530352"/>
          </a:xfrm>
          <a:prstGeom prst="rect">
            <a:avLst/>
          </a:prstGeom>
          <a:noFill/>
        </p:spPr>
        <p:txBody>
          <a:bodyPr wrap="square" lIns="0" rIns="0" tIns="0" bIns="0" anchor="ctr">
            <a:noAutofit/>
          </a:bodyPr>
          <a:lstStyle/>
          <a:p>
            <a:pPr algn="ctr"/>
            <a:r>
              <a:rPr sz="2070" b="1" i="0">
                <a:solidFill>
                  <a:srgbClr val="FFFFFF"/>
                </a:solidFill>
                <a:latin typeface="Segoe UI"/>
                <a:cs typeface="Segoe UI"/>
              </a:rPr>
              <a:t>IMPACT &amp; BENEFIT FLOW</a:t>
            </a:r>
          </a:p>
        </p:txBody>
      </p:sp>
      <p:pic>
        <p:nvPicPr>
          <p:cNvPr id="134" name="Picture 133" descr="rain_n.png"/>
          <p:cNvPicPr>
            <a:picLocks noChangeAspect="1"/>
          </p:cNvPicPr>
          <p:nvPr/>
        </p:nvPicPr>
        <p:blipFill>
          <a:blip r:embed="rId42"/>
          <a:stretch>
            <a:fillRect/>
          </a:stretch>
        </p:blipFill>
        <p:spPr>
          <a:xfrm>
            <a:off x="1325880" y="4663440"/>
            <a:ext cx="914400" cy="914400"/>
          </a:xfrm>
          <a:prstGeom prst="rect">
            <a:avLst/>
          </a:prstGeom>
        </p:spPr>
      </p:pic>
      <p:sp>
        <p:nvSpPr>
          <p:cNvPr id="135" name="Oval 134"/>
          <p:cNvSpPr/>
          <p:nvPr/>
        </p:nvSpPr>
        <p:spPr>
          <a:xfrm>
            <a:off x="2057400" y="5303520"/>
            <a:ext cx="329184" cy="329184"/>
          </a:xfrm>
          <a:prstGeom prst="ellipse">
            <a:avLst/>
          </a:prstGeom>
          <a:solidFill>
            <a:srgbClr val="16A34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6" name="Picture 135" descr="check_w.png"/>
          <p:cNvPicPr>
            <a:picLocks noChangeAspect="1"/>
          </p:cNvPicPr>
          <p:nvPr/>
        </p:nvPicPr>
        <p:blipFill>
          <a:blip r:embed="rId43"/>
          <a:stretch>
            <a:fillRect/>
          </a:stretch>
        </p:blipFill>
        <p:spPr>
          <a:xfrm>
            <a:off x="2112264" y="5358384"/>
            <a:ext cx="219456" cy="219456"/>
          </a:xfrm>
          <a:prstGeom prst="rect">
            <a:avLst/>
          </a:prstGeom>
        </p:spPr>
      </p:pic>
      <p:sp>
        <p:nvSpPr>
          <p:cNvPr id="137" name="TextBox 136"/>
          <p:cNvSpPr txBox="1"/>
          <p:nvPr/>
        </p:nvSpPr>
        <p:spPr>
          <a:xfrm>
            <a:off x="320039" y="5687568"/>
            <a:ext cx="2926080" cy="292608"/>
          </a:xfrm>
          <a:prstGeom prst="rect">
            <a:avLst/>
          </a:prstGeom>
          <a:noFill/>
        </p:spPr>
        <p:txBody>
          <a:bodyPr wrap="square" lIns="0" rIns="0" tIns="0" bIns="0" anchor="t">
            <a:noAutofit/>
          </a:bodyPr>
          <a:lstStyle/>
          <a:p>
            <a:pPr algn="ctr"/>
            <a:r>
              <a:rPr sz="1550" b="1" i="0">
                <a:solidFill>
                  <a:srgbClr val="0B1F4B"/>
                </a:solidFill>
                <a:latin typeface="Segoe UI"/>
                <a:cs typeface="Segoe UI"/>
              </a:rPr>
              <a:t>1. Rain Observed</a:t>
            </a:r>
          </a:p>
        </p:txBody>
      </p:sp>
      <p:sp>
        <p:nvSpPr>
          <p:cNvPr id="138" name="TextBox 137"/>
          <p:cNvSpPr txBox="1"/>
          <p:nvPr/>
        </p:nvSpPr>
        <p:spPr>
          <a:xfrm>
            <a:off x="320039" y="5998464"/>
            <a:ext cx="2926080" cy="457200"/>
          </a:xfrm>
          <a:prstGeom prst="rect">
            <a:avLst/>
          </a:prstGeom>
          <a:noFill/>
        </p:spPr>
        <p:txBody>
          <a:bodyPr wrap="square" lIns="0" rIns="0" tIns="0" bIns="0" anchor="t">
            <a:noAutofit/>
          </a:bodyPr>
          <a:lstStyle/>
          <a:p>
            <a:pPr algn="ctr">
              <a:lnSpc>
                <a:spcPct val="95000"/>
              </a:lnSpc>
            </a:pPr>
            <a:r>
              <a:rPr sz="1150" b="1" i="0">
                <a:solidFill>
                  <a:srgbClr val="0B1F4B"/>
                </a:solidFill>
                <a:latin typeface="Segoe UI"/>
                <a:cs typeface="Segoe UI"/>
              </a:rPr>
              <a:t>Radar + gauges, every</a:t>
            </a:r>
          </a:p>
          <a:p>
            <a:pPr algn="ctr">
              <a:lnSpc>
                <a:spcPct val="95000"/>
              </a:lnSpc>
            </a:pPr>
            <a:r>
              <a:rPr sz="1150" b="1" i="0">
                <a:solidFill>
                  <a:srgbClr val="0B1F4B"/>
                </a:solidFill>
                <a:latin typeface="Segoe UI"/>
                <a:cs typeface="Segoe UI"/>
              </a:rPr>
              <a:t>reading quality-checked</a:t>
            </a:r>
          </a:p>
        </p:txBody>
      </p:sp>
      <p:cxnSp>
        <p:nvCxnSpPr>
          <p:cNvPr id="139" name="Connector 138"/>
          <p:cNvCxnSpPr/>
          <p:nvPr/>
        </p:nvCxnSpPr>
        <p:spPr>
          <a:xfrm>
            <a:off x="2743200" y="5120640"/>
            <a:ext cx="1645920" cy="0"/>
          </a:xfrm>
          <a:prstGeom prst="line">
            <a:avLst/>
          </a:prstGeom>
          <a:ln w="44450">
            <a:solidFill>
              <a:srgbClr val="1F6FD1"/>
            </a:solidFill>
            <a:round/>
            <a:tailEnd type="triangle" w="med" len="med"/>
          </a:ln>
        </p:spPr>
        <p:style>
          <a:lnRef idx="2">
            <a:schemeClr val="accent1"/>
          </a:lnRef>
          <a:fillRef idx="0">
            <a:schemeClr val="accent1"/>
          </a:fillRef>
          <a:effectRef idx="1">
            <a:schemeClr val="accent1"/>
          </a:effectRef>
          <a:fontRef idx="minor">
            <a:schemeClr val="tx1"/>
          </a:fontRef>
        </p:style>
      </p:cxnSp>
      <p:pic>
        <p:nvPicPr>
          <p:cNvPr id="140" name="Picture 139" descr="radar_n.png"/>
          <p:cNvPicPr>
            <a:picLocks noChangeAspect="1"/>
          </p:cNvPicPr>
          <p:nvPr/>
        </p:nvPicPr>
        <p:blipFill>
          <a:blip r:embed="rId44"/>
          <a:stretch>
            <a:fillRect/>
          </a:stretch>
        </p:blipFill>
        <p:spPr>
          <a:xfrm>
            <a:off x="4919472" y="4663440"/>
            <a:ext cx="914400" cy="914400"/>
          </a:xfrm>
          <a:prstGeom prst="rect">
            <a:avLst/>
          </a:prstGeom>
        </p:spPr>
      </p:pic>
      <p:sp>
        <p:nvSpPr>
          <p:cNvPr id="141" name="Oval 140"/>
          <p:cNvSpPr/>
          <p:nvPr/>
        </p:nvSpPr>
        <p:spPr>
          <a:xfrm>
            <a:off x="5650992" y="5303520"/>
            <a:ext cx="329184" cy="329184"/>
          </a:xfrm>
          <a:prstGeom prst="ellipse">
            <a:avLst/>
          </a:prstGeom>
          <a:solidFill>
            <a:srgbClr val="16A34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42" name="Picture 141" descr="check_w.png"/>
          <p:cNvPicPr>
            <a:picLocks noChangeAspect="1"/>
          </p:cNvPicPr>
          <p:nvPr/>
        </p:nvPicPr>
        <p:blipFill>
          <a:blip r:embed="rId43"/>
          <a:stretch>
            <a:fillRect/>
          </a:stretch>
        </p:blipFill>
        <p:spPr>
          <a:xfrm>
            <a:off x="5705856" y="5358384"/>
            <a:ext cx="219456" cy="219456"/>
          </a:xfrm>
          <a:prstGeom prst="rect">
            <a:avLst/>
          </a:prstGeom>
        </p:spPr>
      </p:pic>
      <p:sp>
        <p:nvSpPr>
          <p:cNvPr id="143" name="TextBox 142"/>
          <p:cNvSpPr txBox="1"/>
          <p:nvPr/>
        </p:nvSpPr>
        <p:spPr>
          <a:xfrm>
            <a:off x="3913631" y="5687568"/>
            <a:ext cx="2926080" cy="292608"/>
          </a:xfrm>
          <a:prstGeom prst="rect">
            <a:avLst/>
          </a:prstGeom>
          <a:noFill/>
        </p:spPr>
        <p:txBody>
          <a:bodyPr wrap="square" lIns="0" rIns="0" tIns="0" bIns="0" anchor="t">
            <a:noAutofit/>
          </a:bodyPr>
          <a:lstStyle/>
          <a:p>
            <a:pPr algn="ctr"/>
            <a:r>
              <a:rPr sz="1550" b="1" i="0">
                <a:solidFill>
                  <a:srgbClr val="0B1F4B"/>
                </a:solidFill>
                <a:latin typeface="Segoe UI"/>
                <a:cs typeface="Segoe UI"/>
              </a:rPr>
              <a:t>2. 3-Hour Forecast</a:t>
            </a:r>
          </a:p>
        </p:txBody>
      </p:sp>
      <p:sp>
        <p:nvSpPr>
          <p:cNvPr id="144" name="TextBox 143"/>
          <p:cNvSpPr txBox="1"/>
          <p:nvPr/>
        </p:nvSpPr>
        <p:spPr>
          <a:xfrm>
            <a:off x="3913631" y="5998464"/>
            <a:ext cx="2926080" cy="457200"/>
          </a:xfrm>
          <a:prstGeom prst="rect">
            <a:avLst/>
          </a:prstGeom>
          <a:noFill/>
        </p:spPr>
        <p:txBody>
          <a:bodyPr wrap="square" lIns="0" rIns="0" tIns="0" bIns="0" anchor="t">
            <a:noAutofit/>
          </a:bodyPr>
          <a:lstStyle/>
          <a:p>
            <a:pPr algn="ctr">
              <a:lnSpc>
                <a:spcPct val="95000"/>
              </a:lnSpc>
            </a:pPr>
            <a:r>
              <a:rPr sz="1150" b="1" i="0">
                <a:solidFill>
                  <a:srgbClr val="0B1F4B"/>
                </a:solidFill>
                <a:latin typeface="Segoe UI"/>
                <a:cs typeface="Segoe UI"/>
              </a:rPr>
              <a:t>20 possible futures,</a:t>
            </a:r>
          </a:p>
          <a:p>
            <a:pPr algn="ctr">
              <a:lnSpc>
                <a:spcPct val="95000"/>
              </a:lnSpc>
            </a:pPr>
            <a:r>
              <a:rPr sz="1150" b="1" i="0">
                <a:solidFill>
                  <a:srgbClr val="0B1F4B"/>
                </a:solidFill>
                <a:latin typeface="Segoe UI"/>
                <a:cs typeface="Segoe UI"/>
              </a:rPr>
              <a:t>P10 / P50 / P90 depth</a:t>
            </a:r>
          </a:p>
        </p:txBody>
      </p:sp>
      <p:cxnSp>
        <p:nvCxnSpPr>
          <p:cNvPr id="145" name="Connector 144"/>
          <p:cNvCxnSpPr/>
          <p:nvPr/>
        </p:nvCxnSpPr>
        <p:spPr>
          <a:xfrm>
            <a:off x="6336792" y="5120640"/>
            <a:ext cx="1645920" cy="0"/>
          </a:xfrm>
          <a:prstGeom prst="line">
            <a:avLst/>
          </a:prstGeom>
          <a:ln w="44450">
            <a:solidFill>
              <a:srgbClr val="1F6FD1"/>
            </a:solidFill>
            <a:round/>
            <a:tailEnd type="triangle" w="med" len="med"/>
          </a:ln>
        </p:spPr>
        <p:style>
          <a:lnRef idx="2">
            <a:schemeClr val="accent1"/>
          </a:lnRef>
          <a:fillRef idx="0">
            <a:schemeClr val="accent1"/>
          </a:fillRef>
          <a:effectRef idx="1">
            <a:schemeClr val="accent1"/>
          </a:effectRef>
          <a:fontRef idx="minor">
            <a:schemeClr val="tx1"/>
          </a:fontRef>
        </p:style>
      </p:cxnSp>
      <p:pic>
        <p:nvPicPr>
          <p:cNvPr id="146" name="Picture 145" descr="bell_n.png"/>
          <p:cNvPicPr>
            <a:picLocks noChangeAspect="1"/>
          </p:cNvPicPr>
          <p:nvPr/>
        </p:nvPicPr>
        <p:blipFill>
          <a:blip r:embed="rId45"/>
          <a:stretch>
            <a:fillRect/>
          </a:stretch>
        </p:blipFill>
        <p:spPr>
          <a:xfrm>
            <a:off x="8513064" y="4663440"/>
            <a:ext cx="914400" cy="914400"/>
          </a:xfrm>
          <a:prstGeom prst="rect">
            <a:avLst/>
          </a:prstGeom>
        </p:spPr>
      </p:pic>
      <p:sp>
        <p:nvSpPr>
          <p:cNvPr id="147" name="Oval 146"/>
          <p:cNvSpPr/>
          <p:nvPr/>
        </p:nvSpPr>
        <p:spPr>
          <a:xfrm>
            <a:off x="9244584" y="5303520"/>
            <a:ext cx="329184" cy="329184"/>
          </a:xfrm>
          <a:prstGeom prst="ellipse">
            <a:avLst/>
          </a:prstGeom>
          <a:solidFill>
            <a:srgbClr val="16A34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48" name="Picture 147" descr="check_w.png"/>
          <p:cNvPicPr>
            <a:picLocks noChangeAspect="1"/>
          </p:cNvPicPr>
          <p:nvPr/>
        </p:nvPicPr>
        <p:blipFill>
          <a:blip r:embed="rId43"/>
          <a:stretch>
            <a:fillRect/>
          </a:stretch>
        </p:blipFill>
        <p:spPr>
          <a:xfrm>
            <a:off x="9299448" y="5358384"/>
            <a:ext cx="219456" cy="219456"/>
          </a:xfrm>
          <a:prstGeom prst="rect">
            <a:avLst/>
          </a:prstGeom>
        </p:spPr>
      </p:pic>
      <p:sp>
        <p:nvSpPr>
          <p:cNvPr id="149" name="TextBox 148"/>
          <p:cNvSpPr txBox="1"/>
          <p:nvPr/>
        </p:nvSpPr>
        <p:spPr>
          <a:xfrm>
            <a:off x="7507224" y="5687568"/>
            <a:ext cx="2926080" cy="292608"/>
          </a:xfrm>
          <a:prstGeom prst="rect">
            <a:avLst/>
          </a:prstGeom>
          <a:noFill/>
        </p:spPr>
        <p:txBody>
          <a:bodyPr wrap="square" lIns="0" rIns="0" tIns="0" bIns="0" anchor="t">
            <a:noAutofit/>
          </a:bodyPr>
          <a:lstStyle/>
          <a:p>
            <a:pPr algn="ctr"/>
            <a:r>
              <a:rPr sz="1550" b="1" i="0">
                <a:solidFill>
                  <a:srgbClr val="0B1F4B"/>
                </a:solidFill>
                <a:latin typeface="Segoe UI"/>
                <a:cs typeface="Segoe UI"/>
              </a:rPr>
              <a:t>3. Hotspot Warned</a:t>
            </a:r>
          </a:p>
        </p:txBody>
      </p:sp>
      <p:sp>
        <p:nvSpPr>
          <p:cNvPr id="150" name="TextBox 149"/>
          <p:cNvSpPr txBox="1"/>
          <p:nvPr/>
        </p:nvSpPr>
        <p:spPr>
          <a:xfrm>
            <a:off x="7507224" y="5998464"/>
            <a:ext cx="2926080" cy="457200"/>
          </a:xfrm>
          <a:prstGeom prst="rect">
            <a:avLst/>
          </a:prstGeom>
          <a:noFill/>
        </p:spPr>
        <p:txBody>
          <a:bodyPr wrap="square" lIns="0" rIns="0" tIns="0" bIns="0" anchor="t">
            <a:noAutofit/>
          </a:bodyPr>
          <a:lstStyle/>
          <a:p>
            <a:pPr algn="ctr">
              <a:lnSpc>
                <a:spcPct val="95000"/>
              </a:lnSpc>
            </a:pPr>
            <a:r>
              <a:rPr sz="1150" b="1" i="0">
                <a:solidFill>
                  <a:srgbClr val="0B1F4B"/>
                </a:solidFill>
                <a:latin typeface="Segoe UI"/>
                <a:cs typeface="Segoe UI"/>
              </a:rPr>
              <a:t>Up to 50 min before water</a:t>
            </a:r>
          </a:p>
          <a:p>
            <a:pPr algn="ctr">
              <a:lnSpc>
                <a:spcPct val="95000"/>
              </a:lnSpc>
            </a:pPr>
            <a:r>
              <a:rPr sz="1150" b="1" i="0">
                <a:solidFill>
                  <a:srgbClr val="0B1F4B"/>
                </a:solidFill>
                <a:latin typeface="Segoe UI"/>
                <a:cs typeface="Segoe UI"/>
              </a:rPr>
              <a:t>crosses 10 cm</a:t>
            </a:r>
          </a:p>
        </p:txBody>
      </p:sp>
      <p:cxnSp>
        <p:nvCxnSpPr>
          <p:cNvPr id="151" name="Connector 150"/>
          <p:cNvCxnSpPr/>
          <p:nvPr/>
        </p:nvCxnSpPr>
        <p:spPr>
          <a:xfrm>
            <a:off x="9930384" y="5120640"/>
            <a:ext cx="1645920" cy="0"/>
          </a:xfrm>
          <a:prstGeom prst="line">
            <a:avLst/>
          </a:prstGeom>
          <a:ln w="44450">
            <a:solidFill>
              <a:srgbClr val="1F6FD1"/>
            </a:solidFill>
            <a:round/>
            <a:tailEnd type="triangle" w="med" len="med"/>
          </a:ln>
        </p:spPr>
        <p:style>
          <a:lnRef idx="2">
            <a:schemeClr val="accent1"/>
          </a:lnRef>
          <a:fillRef idx="0">
            <a:schemeClr val="accent1"/>
          </a:fillRef>
          <a:effectRef idx="1">
            <a:schemeClr val="accent1"/>
          </a:effectRef>
          <a:fontRef idx="minor">
            <a:schemeClr val="tx1"/>
          </a:fontRef>
        </p:style>
      </p:cxnSp>
      <p:pic>
        <p:nvPicPr>
          <p:cNvPr id="152" name="Picture 151" descr="users_n.png"/>
          <p:cNvPicPr>
            <a:picLocks noChangeAspect="1"/>
          </p:cNvPicPr>
          <p:nvPr/>
        </p:nvPicPr>
        <p:blipFill>
          <a:blip r:embed="rId46"/>
          <a:stretch>
            <a:fillRect/>
          </a:stretch>
        </p:blipFill>
        <p:spPr>
          <a:xfrm>
            <a:off x="12106656" y="4663440"/>
            <a:ext cx="914400" cy="914400"/>
          </a:xfrm>
          <a:prstGeom prst="rect">
            <a:avLst/>
          </a:prstGeom>
        </p:spPr>
      </p:pic>
      <p:sp>
        <p:nvSpPr>
          <p:cNvPr id="153" name="Oval 152"/>
          <p:cNvSpPr/>
          <p:nvPr/>
        </p:nvSpPr>
        <p:spPr>
          <a:xfrm>
            <a:off x="12838176" y="5303520"/>
            <a:ext cx="329184" cy="329184"/>
          </a:xfrm>
          <a:prstGeom prst="ellipse">
            <a:avLst/>
          </a:prstGeom>
          <a:solidFill>
            <a:srgbClr val="16A34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4" name="Picture 153" descr="check_w.png"/>
          <p:cNvPicPr>
            <a:picLocks noChangeAspect="1"/>
          </p:cNvPicPr>
          <p:nvPr/>
        </p:nvPicPr>
        <p:blipFill>
          <a:blip r:embed="rId43"/>
          <a:stretch>
            <a:fillRect/>
          </a:stretch>
        </p:blipFill>
        <p:spPr>
          <a:xfrm>
            <a:off x="12893040" y="5358384"/>
            <a:ext cx="219456" cy="219456"/>
          </a:xfrm>
          <a:prstGeom prst="rect">
            <a:avLst/>
          </a:prstGeom>
        </p:spPr>
      </p:pic>
      <p:sp>
        <p:nvSpPr>
          <p:cNvPr id="155" name="TextBox 154"/>
          <p:cNvSpPr txBox="1"/>
          <p:nvPr/>
        </p:nvSpPr>
        <p:spPr>
          <a:xfrm>
            <a:off x="11100816" y="5687568"/>
            <a:ext cx="2926080" cy="292608"/>
          </a:xfrm>
          <a:prstGeom prst="rect">
            <a:avLst/>
          </a:prstGeom>
          <a:noFill/>
        </p:spPr>
        <p:txBody>
          <a:bodyPr wrap="square" lIns="0" rIns="0" tIns="0" bIns="0" anchor="t">
            <a:noAutofit/>
          </a:bodyPr>
          <a:lstStyle/>
          <a:p>
            <a:pPr algn="ctr"/>
            <a:r>
              <a:rPr sz="1550" b="1" i="0">
                <a:solidFill>
                  <a:srgbClr val="0B1F4B"/>
                </a:solidFill>
                <a:latin typeface="Segoe UI"/>
                <a:cs typeface="Segoe UI"/>
              </a:rPr>
              <a:t>4. Human-Approved Action</a:t>
            </a:r>
          </a:p>
        </p:txBody>
      </p:sp>
      <p:sp>
        <p:nvSpPr>
          <p:cNvPr id="156" name="TextBox 155"/>
          <p:cNvSpPr txBox="1"/>
          <p:nvPr/>
        </p:nvSpPr>
        <p:spPr>
          <a:xfrm>
            <a:off x="11100816" y="5998464"/>
            <a:ext cx="2926080" cy="457200"/>
          </a:xfrm>
          <a:prstGeom prst="rect">
            <a:avLst/>
          </a:prstGeom>
          <a:noFill/>
        </p:spPr>
        <p:txBody>
          <a:bodyPr wrap="square" lIns="0" rIns="0" tIns="0" bIns="0" anchor="t">
            <a:noAutofit/>
          </a:bodyPr>
          <a:lstStyle/>
          <a:p>
            <a:pPr algn="ctr">
              <a:lnSpc>
                <a:spcPct val="95000"/>
              </a:lnSpc>
            </a:pPr>
            <a:r>
              <a:rPr sz="1150" b="1" i="0">
                <a:solidFill>
                  <a:srgbClr val="0B1F4B"/>
                </a:solidFill>
                <a:latin typeface="Segoe UI"/>
                <a:cs typeface="Segoe UI"/>
              </a:rPr>
              <a:t>Routes diverted, crews sent,</a:t>
            </a:r>
          </a:p>
          <a:p>
            <a:pPr algn="ctr">
              <a:lnSpc>
                <a:spcPct val="95000"/>
              </a:lnSpc>
            </a:pPr>
            <a:r>
              <a:rPr sz="1150" b="1" i="0">
                <a:solidFill>
                  <a:srgbClr val="0B1F4B"/>
                </a:solidFill>
                <a:latin typeface="Segoe UI"/>
                <a:cs typeface="Segoe UI"/>
              </a:rPr>
              <a:t>pumps started</a:t>
            </a:r>
          </a:p>
        </p:txBody>
      </p:sp>
      <p:cxnSp>
        <p:nvCxnSpPr>
          <p:cNvPr id="157" name="Connector 156"/>
          <p:cNvCxnSpPr/>
          <p:nvPr/>
        </p:nvCxnSpPr>
        <p:spPr>
          <a:xfrm>
            <a:off x="13523976" y="5120640"/>
            <a:ext cx="1645920" cy="0"/>
          </a:xfrm>
          <a:prstGeom prst="line">
            <a:avLst/>
          </a:prstGeom>
          <a:ln w="44450">
            <a:solidFill>
              <a:srgbClr val="1F6FD1"/>
            </a:solidFill>
            <a:round/>
            <a:tailEnd type="triangle" w="med" len="med"/>
          </a:ln>
        </p:spPr>
        <p:style>
          <a:lnRef idx="2">
            <a:schemeClr val="accent1"/>
          </a:lnRef>
          <a:fillRef idx="0">
            <a:schemeClr val="accent1"/>
          </a:fillRef>
          <a:effectRef idx="1">
            <a:schemeClr val="accent1"/>
          </a:effectRef>
          <a:fontRef idx="minor">
            <a:schemeClr val="tx1"/>
          </a:fontRef>
        </p:style>
      </p:cxnSp>
      <p:pic>
        <p:nvPicPr>
          <p:cNvPr id="158" name="Picture 157" descr="history_n.png"/>
          <p:cNvPicPr>
            <a:picLocks noChangeAspect="1"/>
          </p:cNvPicPr>
          <p:nvPr/>
        </p:nvPicPr>
        <p:blipFill>
          <a:blip r:embed="rId47"/>
          <a:stretch>
            <a:fillRect/>
          </a:stretch>
        </p:blipFill>
        <p:spPr>
          <a:xfrm>
            <a:off x="15700248" y="4663440"/>
            <a:ext cx="914400" cy="914400"/>
          </a:xfrm>
          <a:prstGeom prst="rect">
            <a:avLst/>
          </a:prstGeom>
        </p:spPr>
      </p:pic>
      <p:sp>
        <p:nvSpPr>
          <p:cNvPr id="159" name="Oval 158"/>
          <p:cNvSpPr/>
          <p:nvPr/>
        </p:nvSpPr>
        <p:spPr>
          <a:xfrm>
            <a:off x="16431768" y="5303520"/>
            <a:ext cx="329184" cy="329184"/>
          </a:xfrm>
          <a:prstGeom prst="ellipse">
            <a:avLst/>
          </a:prstGeom>
          <a:solidFill>
            <a:srgbClr val="16A34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0" name="Picture 159" descr="check_w.png"/>
          <p:cNvPicPr>
            <a:picLocks noChangeAspect="1"/>
          </p:cNvPicPr>
          <p:nvPr/>
        </p:nvPicPr>
        <p:blipFill>
          <a:blip r:embed="rId43"/>
          <a:stretch>
            <a:fillRect/>
          </a:stretch>
        </p:blipFill>
        <p:spPr>
          <a:xfrm>
            <a:off x="16486632" y="5358384"/>
            <a:ext cx="219456" cy="219456"/>
          </a:xfrm>
          <a:prstGeom prst="rect">
            <a:avLst/>
          </a:prstGeom>
        </p:spPr>
      </p:pic>
      <p:sp>
        <p:nvSpPr>
          <p:cNvPr id="161" name="TextBox 160"/>
          <p:cNvSpPr txBox="1"/>
          <p:nvPr/>
        </p:nvSpPr>
        <p:spPr>
          <a:xfrm>
            <a:off x="14694408" y="5687568"/>
            <a:ext cx="2926080" cy="292608"/>
          </a:xfrm>
          <a:prstGeom prst="rect">
            <a:avLst/>
          </a:prstGeom>
          <a:noFill/>
        </p:spPr>
        <p:txBody>
          <a:bodyPr wrap="square" lIns="0" rIns="0" tIns="0" bIns="0" anchor="t">
            <a:noAutofit/>
          </a:bodyPr>
          <a:lstStyle/>
          <a:p>
            <a:pPr algn="ctr"/>
            <a:r>
              <a:rPr sz="1550" b="1" i="0">
                <a:solidFill>
                  <a:srgbClr val="0B1F4B"/>
                </a:solidFill>
                <a:latin typeface="Segoe UI"/>
                <a:cs typeface="Segoe UI"/>
              </a:rPr>
              <a:t>5. Audit &amp; Learn</a:t>
            </a:r>
          </a:p>
        </p:txBody>
      </p:sp>
      <p:sp>
        <p:nvSpPr>
          <p:cNvPr id="162" name="TextBox 161"/>
          <p:cNvSpPr txBox="1"/>
          <p:nvPr/>
        </p:nvSpPr>
        <p:spPr>
          <a:xfrm>
            <a:off x="14694408" y="5998464"/>
            <a:ext cx="2926080" cy="457200"/>
          </a:xfrm>
          <a:prstGeom prst="rect">
            <a:avLst/>
          </a:prstGeom>
          <a:noFill/>
        </p:spPr>
        <p:txBody>
          <a:bodyPr wrap="square" lIns="0" rIns="0" tIns="0" bIns="0" anchor="t">
            <a:noAutofit/>
          </a:bodyPr>
          <a:lstStyle/>
          <a:p>
            <a:pPr algn="ctr">
              <a:lnSpc>
                <a:spcPct val="95000"/>
              </a:lnSpc>
            </a:pPr>
            <a:r>
              <a:rPr sz="1150" b="1" i="0">
                <a:solidFill>
                  <a:srgbClr val="0B1F4B"/>
                </a:solidFill>
                <a:latin typeface="Segoe UI"/>
                <a:cs typeface="Segoe UI"/>
              </a:rPr>
              <a:t>Sensors correct the twin;</a:t>
            </a:r>
          </a:p>
          <a:p>
            <a:pPr algn="ctr">
              <a:lnSpc>
                <a:spcPct val="95000"/>
              </a:lnSpc>
            </a:pPr>
            <a:r>
              <a:rPr sz="1150" b="1" i="0">
                <a:solidFill>
                  <a:srgbClr val="0B1F4B"/>
                </a:solidFill>
                <a:latin typeface="Segoe UI"/>
                <a:cs typeface="Segoe UI"/>
              </a:rPr>
              <a:t>every run replayable</a:t>
            </a:r>
          </a:p>
        </p:txBody>
      </p:sp>
      <p:sp>
        <p:nvSpPr>
          <p:cNvPr id="163" name="Rounded Rectangle 162"/>
          <p:cNvSpPr/>
          <p:nvPr/>
        </p:nvSpPr>
        <p:spPr>
          <a:xfrm>
            <a:off x="365760" y="6675120"/>
            <a:ext cx="5577840" cy="1417320"/>
          </a:xfrm>
          <a:prstGeom prst="roundRect">
            <a:avLst>
              <a:gd name="adj" fmla="val 6451"/>
            </a:avLst>
          </a:prstGeom>
          <a:solidFill>
            <a:srgbClr val="F7F5FF"/>
          </a:solidFill>
          <a:ln w="15875">
            <a:solidFill>
              <a:srgbClr val="D8D2F7"/>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4" name="Rounded Rectangle 163"/>
          <p:cNvSpPr/>
          <p:nvPr/>
        </p:nvSpPr>
        <p:spPr>
          <a:xfrm>
            <a:off x="365760" y="6675120"/>
            <a:ext cx="1325880" cy="1417320"/>
          </a:xfrm>
          <a:prstGeom prst="roundRect">
            <a:avLst>
              <a:gd name="adj" fmla="val 6896"/>
            </a:avLst>
          </a:prstGeom>
          <a:solidFill>
            <a:srgbClr val="8B7F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5" name="Rectangle 164"/>
          <p:cNvSpPr/>
          <p:nvPr/>
        </p:nvSpPr>
        <p:spPr>
          <a:xfrm>
            <a:off x="1463040" y="6675120"/>
            <a:ext cx="228600" cy="1417320"/>
          </a:xfrm>
          <a:prstGeom prst="rect">
            <a:avLst/>
          </a:prstGeom>
          <a:solidFill>
            <a:srgbClr val="8B7F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6" name="Picture 165" descr="timer_w.png"/>
          <p:cNvPicPr>
            <a:picLocks noChangeAspect="1"/>
          </p:cNvPicPr>
          <p:nvPr/>
        </p:nvPicPr>
        <p:blipFill>
          <a:blip r:embed="rId48"/>
          <a:stretch>
            <a:fillRect/>
          </a:stretch>
        </p:blipFill>
        <p:spPr>
          <a:xfrm>
            <a:off x="640080" y="6995159"/>
            <a:ext cx="777240" cy="777240"/>
          </a:xfrm>
          <a:prstGeom prst="rect">
            <a:avLst/>
          </a:prstGeom>
        </p:spPr>
      </p:pic>
      <p:sp>
        <p:nvSpPr>
          <p:cNvPr id="167" name="TextBox 166"/>
          <p:cNvSpPr txBox="1"/>
          <p:nvPr/>
        </p:nvSpPr>
        <p:spPr>
          <a:xfrm>
            <a:off x="1874519" y="6803136"/>
            <a:ext cx="3977639" cy="320040"/>
          </a:xfrm>
          <a:prstGeom prst="rect">
            <a:avLst/>
          </a:prstGeom>
          <a:noFill/>
        </p:spPr>
        <p:txBody>
          <a:bodyPr wrap="square" lIns="0" rIns="0" tIns="0" bIns="0" anchor="t">
            <a:noAutofit/>
          </a:bodyPr>
          <a:lstStyle/>
          <a:p>
            <a:pPr algn="l"/>
            <a:r>
              <a:rPr sz="1500" b="1" i="0" spc="20">
                <a:solidFill>
                  <a:srgbClr val="0F172A"/>
                </a:solidFill>
                <a:latin typeface="Segoe UI"/>
                <a:cs typeface="Segoe UI"/>
              </a:rPr>
              <a:t>LEAD TIME GAINED</a:t>
            </a:r>
          </a:p>
        </p:txBody>
      </p:sp>
      <p:sp>
        <p:nvSpPr>
          <p:cNvPr id="168" name="TextBox 167"/>
          <p:cNvSpPr txBox="1"/>
          <p:nvPr/>
        </p:nvSpPr>
        <p:spPr>
          <a:xfrm>
            <a:off x="1874519" y="7150608"/>
            <a:ext cx="3931920" cy="868680"/>
          </a:xfrm>
          <a:prstGeom prst="rect">
            <a:avLst/>
          </a:prstGeom>
          <a:noFill/>
        </p:spPr>
        <p:txBody>
          <a:bodyPr wrap="square" lIns="0" rIns="0" tIns="0" bIns="0" anchor="t">
            <a:noAutofit/>
          </a:bodyPr>
          <a:lstStyle/>
          <a:p>
            <a:pPr algn="l">
              <a:lnSpc>
                <a:spcPct val="105000"/>
              </a:lnSpc>
            </a:pPr>
            <a:r>
              <a:rPr sz="1300" b="0" i="0">
                <a:solidFill>
                  <a:srgbClr val="334155"/>
                </a:solidFill>
                <a:latin typeface="Segoe UI"/>
                <a:cs typeface="Segoe UI"/>
              </a:rPr>
              <a:t>Streets flagged a median 20–50 min before they cross 10 cm, in replayed storms.</a:t>
            </a:r>
          </a:p>
        </p:txBody>
      </p:sp>
      <p:sp>
        <p:nvSpPr>
          <p:cNvPr id="169" name="Rounded Rectangle 168"/>
          <p:cNvSpPr/>
          <p:nvPr/>
        </p:nvSpPr>
        <p:spPr>
          <a:xfrm>
            <a:off x="365760" y="8247888"/>
            <a:ext cx="5577840" cy="1417320"/>
          </a:xfrm>
          <a:prstGeom prst="roundRect">
            <a:avLst>
              <a:gd name="adj" fmla="val 6451"/>
            </a:avLst>
          </a:prstGeom>
          <a:solidFill>
            <a:srgbClr val="F3F7FF"/>
          </a:solidFill>
          <a:ln w="15875">
            <a:solidFill>
              <a:srgbClr val="C2D4F7"/>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0" name="Rounded Rectangle 169"/>
          <p:cNvSpPr/>
          <p:nvPr/>
        </p:nvSpPr>
        <p:spPr>
          <a:xfrm>
            <a:off x="365760" y="8247888"/>
            <a:ext cx="1325880" cy="1417320"/>
          </a:xfrm>
          <a:prstGeom prst="roundRect">
            <a:avLst>
              <a:gd name="adj" fmla="val 6896"/>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1" name="Rectangle 170"/>
          <p:cNvSpPr/>
          <p:nvPr/>
        </p:nvSpPr>
        <p:spPr>
          <a:xfrm>
            <a:off x="1463040" y="8247888"/>
            <a:ext cx="228600" cy="1417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72" name="Picture 171" descr="bell_w.png"/>
          <p:cNvPicPr>
            <a:picLocks noChangeAspect="1"/>
          </p:cNvPicPr>
          <p:nvPr/>
        </p:nvPicPr>
        <p:blipFill>
          <a:blip r:embed="rId49"/>
          <a:stretch>
            <a:fillRect/>
          </a:stretch>
        </p:blipFill>
        <p:spPr>
          <a:xfrm>
            <a:off x="640080" y="8567928"/>
            <a:ext cx="777240" cy="777240"/>
          </a:xfrm>
          <a:prstGeom prst="rect">
            <a:avLst/>
          </a:prstGeom>
        </p:spPr>
      </p:pic>
      <p:sp>
        <p:nvSpPr>
          <p:cNvPr id="173" name="TextBox 172"/>
          <p:cNvSpPr txBox="1"/>
          <p:nvPr/>
        </p:nvSpPr>
        <p:spPr>
          <a:xfrm>
            <a:off x="1874519" y="8375904"/>
            <a:ext cx="3977639" cy="320040"/>
          </a:xfrm>
          <a:prstGeom prst="rect">
            <a:avLst/>
          </a:prstGeom>
          <a:noFill/>
        </p:spPr>
        <p:txBody>
          <a:bodyPr wrap="square" lIns="0" rIns="0" tIns="0" bIns="0" anchor="t">
            <a:noAutofit/>
          </a:bodyPr>
          <a:lstStyle/>
          <a:p>
            <a:pPr algn="l"/>
            <a:r>
              <a:rPr sz="1500" b="1" i="0" spc="20">
                <a:solidFill>
                  <a:srgbClr val="0F172A"/>
                </a:solidFill>
                <a:latin typeface="Segoe UI"/>
                <a:cs typeface="Segoe UI"/>
              </a:rPr>
              <a:t>FEWER FALSE ALARMS</a:t>
            </a:r>
          </a:p>
        </p:txBody>
      </p:sp>
      <p:sp>
        <p:nvSpPr>
          <p:cNvPr id="174" name="TextBox 173"/>
          <p:cNvSpPr txBox="1"/>
          <p:nvPr/>
        </p:nvSpPr>
        <p:spPr>
          <a:xfrm>
            <a:off x="1874519" y="8723376"/>
            <a:ext cx="3931920" cy="868680"/>
          </a:xfrm>
          <a:prstGeom prst="rect">
            <a:avLst/>
          </a:prstGeom>
          <a:noFill/>
        </p:spPr>
        <p:txBody>
          <a:bodyPr wrap="square" lIns="0" rIns="0" tIns="0" bIns="0" anchor="t">
            <a:noAutofit/>
          </a:bodyPr>
          <a:lstStyle/>
          <a:p>
            <a:pPr algn="l">
              <a:lnSpc>
                <a:spcPct val="105000"/>
              </a:lnSpc>
            </a:pPr>
            <a:r>
              <a:rPr sz="1300" b="0" i="0">
                <a:solidFill>
                  <a:srgbClr val="334155"/>
                </a:solidFill>
                <a:latin typeface="Segoe UI"/>
                <a:cs typeface="Segoe UI"/>
              </a:rPr>
              <a:t>2% false alarms at the T+115 forecast — warnings people keep trusting.</a:t>
            </a:r>
          </a:p>
        </p:txBody>
      </p:sp>
      <p:sp>
        <p:nvSpPr>
          <p:cNvPr id="175" name="Rounded Rectangle 174"/>
          <p:cNvSpPr/>
          <p:nvPr/>
        </p:nvSpPr>
        <p:spPr>
          <a:xfrm>
            <a:off x="6281928" y="6675120"/>
            <a:ext cx="5577840" cy="1417320"/>
          </a:xfrm>
          <a:prstGeom prst="roundRect">
            <a:avLst>
              <a:gd name="adj" fmla="val 6451"/>
            </a:avLst>
          </a:prstGeom>
          <a:solidFill>
            <a:srgbClr val="FFFBEF"/>
          </a:solidFill>
          <a:ln w="15875">
            <a:solidFill>
              <a:srgbClr val="F5E0A6"/>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6" name="Rounded Rectangle 175"/>
          <p:cNvSpPr/>
          <p:nvPr/>
        </p:nvSpPr>
        <p:spPr>
          <a:xfrm>
            <a:off x="6281928" y="6675120"/>
            <a:ext cx="1325880" cy="1417320"/>
          </a:xfrm>
          <a:prstGeom prst="roundRect">
            <a:avLst>
              <a:gd name="adj" fmla="val 6896"/>
            </a:avLst>
          </a:prstGeom>
          <a:solidFill>
            <a:srgbClr val="E0A2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7" name="Rectangle 176"/>
          <p:cNvSpPr/>
          <p:nvPr/>
        </p:nvSpPr>
        <p:spPr>
          <a:xfrm>
            <a:off x="7379208" y="6675120"/>
            <a:ext cx="228600" cy="1417320"/>
          </a:xfrm>
          <a:prstGeom prst="rect">
            <a:avLst/>
          </a:prstGeom>
          <a:solidFill>
            <a:srgbClr val="E0A2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78" name="Picture 177" descr="rupee_w.png"/>
          <p:cNvPicPr>
            <a:picLocks noChangeAspect="1"/>
          </p:cNvPicPr>
          <p:nvPr/>
        </p:nvPicPr>
        <p:blipFill>
          <a:blip r:embed="rId50"/>
          <a:stretch>
            <a:fillRect/>
          </a:stretch>
        </p:blipFill>
        <p:spPr>
          <a:xfrm>
            <a:off x="6556248" y="6995159"/>
            <a:ext cx="777240" cy="777240"/>
          </a:xfrm>
          <a:prstGeom prst="rect">
            <a:avLst/>
          </a:prstGeom>
        </p:spPr>
      </p:pic>
      <p:sp>
        <p:nvSpPr>
          <p:cNvPr id="179" name="TextBox 178"/>
          <p:cNvSpPr txBox="1"/>
          <p:nvPr/>
        </p:nvSpPr>
        <p:spPr>
          <a:xfrm>
            <a:off x="7790688" y="6803136"/>
            <a:ext cx="3977639" cy="320040"/>
          </a:xfrm>
          <a:prstGeom prst="rect">
            <a:avLst/>
          </a:prstGeom>
          <a:noFill/>
        </p:spPr>
        <p:txBody>
          <a:bodyPr wrap="square" lIns="0" rIns="0" tIns="0" bIns="0" anchor="t">
            <a:noAutofit/>
          </a:bodyPr>
          <a:lstStyle/>
          <a:p>
            <a:pPr algn="l"/>
            <a:r>
              <a:rPr sz="1500" b="1" i="0" spc="20">
                <a:solidFill>
                  <a:srgbClr val="0F172A"/>
                </a:solidFill>
                <a:latin typeface="Segoe UI"/>
                <a:cs typeface="Segoe UI"/>
              </a:rPr>
              <a:t>SMARTER DRAIN SPENDING</a:t>
            </a:r>
          </a:p>
        </p:txBody>
      </p:sp>
      <p:sp>
        <p:nvSpPr>
          <p:cNvPr id="180" name="TextBox 179"/>
          <p:cNvSpPr txBox="1"/>
          <p:nvPr/>
        </p:nvSpPr>
        <p:spPr>
          <a:xfrm>
            <a:off x="7790688" y="7150608"/>
            <a:ext cx="3931920" cy="868680"/>
          </a:xfrm>
          <a:prstGeom prst="rect">
            <a:avLst/>
          </a:prstGeom>
          <a:noFill/>
        </p:spPr>
        <p:txBody>
          <a:bodyPr wrap="square" lIns="0" rIns="0" tIns="0" bIns="0" anchor="t">
            <a:noAutofit/>
          </a:bodyPr>
          <a:lstStyle/>
          <a:p>
            <a:pPr algn="l">
              <a:lnSpc>
                <a:spcPct val="105000"/>
              </a:lnSpc>
            </a:pPr>
            <a:r>
              <a:rPr sz="1300" b="0" i="0">
                <a:solidFill>
                  <a:srgbClr val="334155"/>
                </a:solidFill>
                <a:latin typeface="Segoe UI"/>
                <a:cs typeface="Segoe UI"/>
              </a:rPr>
              <a:t>Action lab tests pump vs. drain-clearing in physics before money is spent.</a:t>
            </a:r>
          </a:p>
        </p:txBody>
      </p:sp>
      <p:sp>
        <p:nvSpPr>
          <p:cNvPr id="181" name="Rounded Rectangle 180"/>
          <p:cNvSpPr/>
          <p:nvPr/>
        </p:nvSpPr>
        <p:spPr>
          <a:xfrm>
            <a:off x="6281928" y="8247888"/>
            <a:ext cx="5577840" cy="1417320"/>
          </a:xfrm>
          <a:prstGeom prst="roundRect">
            <a:avLst>
              <a:gd name="adj" fmla="val 6451"/>
            </a:avLst>
          </a:prstGeom>
          <a:solidFill>
            <a:srgbClr val="FFF5F4"/>
          </a:solidFill>
          <a:ln w="15875">
            <a:solidFill>
              <a:srgbClr val="F7C9C5"/>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2" name="Rounded Rectangle 181"/>
          <p:cNvSpPr/>
          <p:nvPr/>
        </p:nvSpPr>
        <p:spPr>
          <a:xfrm>
            <a:off x="6281928" y="8247888"/>
            <a:ext cx="1325880" cy="1417320"/>
          </a:xfrm>
          <a:prstGeom prst="roundRect">
            <a:avLst>
              <a:gd name="adj" fmla="val 6896"/>
            </a:avLst>
          </a:prstGeom>
          <a:solidFill>
            <a:srgbClr val="F07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3" name="Rectangle 182"/>
          <p:cNvSpPr/>
          <p:nvPr/>
        </p:nvSpPr>
        <p:spPr>
          <a:xfrm>
            <a:off x="7379208" y="8247888"/>
            <a:ext cx="228600" cy="1417320"/>
          </a:xfrm>
          <a:prstGeom prst="rect">
            <a:avLst/>
          </a:prstGeom>
          <a:solidFill>
            <a:srgbClr val="F07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84" name="Picture 183" descr="cpu_w.png"/>
          <p:cNvPicPr>
            <a:picLocks noChangeAspect="1"/>
          </p:cNvPicPr>
          <p:nvPr/>
        </p:nvPicPr>
        <p:blipFill>
          <a:blip r:embed="rId51"/>
          <a:stretch>
            <a:fillRect/>
          </a:stretch>
        </p:blipFill>
        <p:spPr>
          <a:xfrm>
            <a:off x="6556248" y="8567928"/>
            <a:ext cx="777240" cy="777240"/>
          </a:xfrm>
          <a:prstGeom prst="rect">
            <a:avLst/>
          </a:prstGeom>
        </p:spPr>
      </p:pic>
      <p:sp>
        <p:nvSpPr>
          <p:cNvPr id="185" name="TextBox 184"/>
          <p:cNvSpPr txBox="1"/>
          <p:nvPr/>
        </p:nvSpPr>
        <p:spPr>
          <a:xfrm>
            <a:off x="7790688" y="8375904"/>
            <a:ext cx="3977639" cy="320040"/>
          </a:xfrm>
          <a:prstGeom prst="rect">
            <a:avLst/>
          </a:prstGeom>
          <a:noFill/>
        </p:spPr>
        <p:txBody>
          <a:bodyPr wrap="square" lIns="0" rIns="0" tIns="0" bIns="0" anchor="t">
            <a:noAutofit/>
          </a:bodyPr>
          <a:lstStyle/>
          <a:p>
            <a:pPr algn="l"/>
            <a:r>
              <a:rPr sz="1500" b="1" i="0" spc="20">
                <a:solidFill>
                  <a:srgbClr val="0F172A"/>
                </a:solidFill>
                <a:latin typeface="Segoe UI"/>
                <a:cs typeface="Segoe UI"/>
              </a:rPr>
              <a:t>LOW COST TO RUN</a:t>
            </a:r>
          </a:p>
        </p:txBody>
      </p:sp>
      <p:sp>
        <p:nvSpPr>
          <p:cNvPr id="186" name="TextBox 185"/>
          <p:cNvSpPr txBox="1"/>
          <p:nvPr/>
        </p:nvSpPr>
        <p:spPr>
          <a:xfrm>
            <a:off x="7790688" y="8723376"/>
            <a:ext cx="3931920" cy="868680"/>
          </a:xfrm>
          <a:prstGeom prst="rect">
            <a:avLst/>
          </a:prstGeom>
          <a:noFill/>
        </p:spPr>
        <p:txBody>
          <a:bodyPr wrap="square" lIns="0" rIns="0" tIns="0" bIns="0" anchor="t">
            <a:noAutofit/>
          </a:bodyPr>
          <a:lstStyle/>
          <a:p>
            <a:pPr algn="l">
              <a:lnSpc>
                <a:spcPct val="105000"/>
              </a:lnSpc>
            </a:pPr>
            <a:r>
              <a:rPr sz="1300" b="0" i="0">
                <a:solidFill>
                  <a:srgbClr val="334155"/>
                </a:solidFill>
                <a:latin typeface="Segoe UI"/>
                <a:cs typeface="Segoe UI"/>
              </a:rPr>
              <a:t>A full cycle runs on a laptop CPU in ~19 s — no GPU or per-query cloud bill.</a:t>
            </a:r>
          </a:p>
        </p:txBody>
      </p:sp>
      <p:sp>
        <p:nvSpPr>
          <p:cNvPr id="187" name="Rounded Rectangle 186"/>
          <p:cNvSpPr/>
          <p:nvPr/>
        </p:nvSpPr>
        <p:spPr>
          <a:xfrm>
            <a:off x="12198096" y="6675120"/>
            <a:ext cx="5577840" cy="1417320"/>
          </a:xfrm>
          <a:prstGeom prst="roundRect">
            <a:avLst>
              <a:gd name="adj" fmla="val 6451"/>
            </a:avLst>
          </a:prstGeom>
          <a:solidFill>
            <a:srgbClr val="F2FBF5"/>
          </a:solidFill>
          <a:ln w="15875">
            <a:solidFill>
              <a:srgbClr val="B5E3C4"/>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8" name="Rounded Rectangle 187"/>
          <p:cNvSpPr/>
          <p:nvPr/>
        </p:nvSpPr>
        <p:spPr>
          <a:xfrm>
            <a:off x="12198096" y="6675120"/>
            <a:ext cx="1325880" cy="1417320"/>
          </a:xfrm>
          <a:prstGeom prst="roundRect">
            <a:avLst>
              <a:gd name="adj" fmla="val 6896"/>
            </a:avLst>
          </a:prstGeom>
          <a:solidFill>
            <a:srgbClr val="38A1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9" name="Rectangle 188"/>
          <p:cNvSpPr/>
          <p:nvPr/>
        </p:nvSpPr>
        <p:spPr>
          <a:xfrm>
            <a:off x="13295376" y="6675120"/>
            <a:ext cx="228600" cy="1417320"/>
          </a:xfrm>
          <a:prstGeom prst="rect">
            <a:avLst/>
          </a:prstGeom>
          <a:solidFill>
            <a:srgbClr val="38A1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90" name="Picture 189" descr="globe_w.png"/>
          <p:cNvPicPr>
            <a:picLocks noChangeAspect="1"/>
          </p:cNvPicPr>
          <p:nvPr/>
        </p:nvPicPr>
        <p:blipFill>
          <a:blip r:embed="rId52"/>
          <a:stretch>
            <a:fillRect/>
          </a:stretch>
        </p:blipFill>
        <p:spPr>
          <a:xfrm>
            <a:off x="12472416" y="6995159"/>
            <a:ext cx="777240" cy="777240"/>
          </a:xfrm>
          <a:prstGeom prst="rect">
            <a:avLst/>
          </a:prstGeom>
        </p:spPr>
      </p:pic>
      <p:sp>
        <p:nvSpPr>
          <p:cNvPr id="191" name="TextBox 190"/>
          <p:cNvSpPr txBox="1"/>
          <p:nvPr/>
        </p:nvSpPr>
        <p:spPr>
          <a:xfrm>
            <a:off x="13706856" y="6803136"/>
            <a:ext cx="3977639" cy="320040"/>
          </a:xfrm>
          <a:prstGeom prst="rect">
            <a:avLst/>
          </a:prstGeom>
          <a:noFill/>
        </p:spPr>
        <p:txBody>
          <a:bodyPr wrap="square" lIns="0" rIns="0" tIns="0" bIns="0" anchor="t">
            <a:noAutofit/>
          </a:bodyPr>
          <a:lstStyle/>
          <a:p>
            <a:pPr algn="l"/>
            <a:r>
              <a:rPr sz="1500" b="1" i="0" spc="20">
                <a:solidFill>
                  <a:srgbClr val="0F172A"/>
                </a:solidFill>
                <a:latin typeface="Segoe UI"/>
                <a:cs typeface="Segoe UI"/>
              </a:rPr>
              <a:t>SDG 11 &amp; SENDAI ALIGNED</a:t>
            </a:r>
          </a:p>
        </p:txBody>
      </p:sp>
      <p:sp>
        <p:nvSpPr>
          <p:cNvPr id="192" name="TextBox 191"/>
          <p:cNvSpPr txBox="1"/>
          <p:nvPr/>
        </p:nvSpPr>
        <p:spPr>
          <a:xfrm>
            <a:off x="13706856" y="7150608"/>
            <a:ext cx="3931920" cy="868680"/>
          </a:xfrm>
          <a:prstGeom prst="rect">
            <a:avLst/>
          </a:prstGeom>
          <a:noFill/>
        </p:spPr>
        <p:txBody>
          <a:bodyPr wrap="square" lIns="0" rIns="0" tIns="0" bIns="0" anchor="t">
            <a:noAutofit/>
          </a:bodyPr>
          <a:lstStyle/>
          <a:p>
            <a:pPr algn="l">
              <a:lnSpc>
                <a:spcPct val="105000"/>
              </a:lnSpc>
            </a:pPr>
            <a:r>
              <a:rPr sz="1300" b="0" i="0">
                <a:solidFill>
                  <a:srgbClr val="334155"/>
                </a:solidFill>
                <a:latin typeface="Segoe UI"/>
                <a:cs typeface="Segoe UI"/>
              </a:rPr>
              <a:t>Local early warning that serves SDG 11.5 and the Sendai Framework targets.</a:t>
            </a:r>
          </a:p>
        </p:txBody>
      </p:sp>
      <p:sp>
        <p:nvSpPr>
          <p:cNvPr id="193" name="Rounded Rectangle 192"/>
          <p:cNvSpPr/>
          <p:nvPr/>
        </p:nvSpPr>
        <p:spPr>
          <a:xfrm>
            <a:off x="12198096" y="8247888"/>
            <a:ext cx="5577840" cy="1417320"/>
          </a:xfrm>
          <a:prstGeom prst="roundRect">
            <a:avLst>
              <a:gd name="adj" fmla="val 6451"/>
            </a:avLst>
          </a:prstGeom>
          <a:solidFill>
            <a:srgbClr val="F5F7FA"/>
          </a:solidFill>
          <a:ln w="15875">
            <a:solidFill>
              <a:srgbClr val="C9D2DE"/>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4" name="Rounded Rectangle 193"/>
          <p:cNvSpPr/>
          <p:nvPr/>
        </p:nvSpPr>
        <p:spPr>
          <a:xfrm>
            <a:off x="12198096" y="8247888"/>
            <a:ext cx="1325880" cy="1417320"/>
          </a:xfrm>
          <a:prstGeom prst="roundRect">
            <a:avLst>
              <a:gd name="adj" fmla="val 6896"/>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5" name="Rectangle 194"/>
          <p:cNvSpPr/>
          <p:nvPr/>
        </p:nvSpPr>
        <p:spPr>
          <a:xfrm>
            <a:off x="13295376" y="8247888"/>
            <a:ext cx="228600" cy="1417320"/>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96" name="Picture 195" descr="lifebuoy_w.png"/>
          <p:cNvPicPr>
            <a:picLocks noChangeAspect="1"/>
          </p:cNvPicPr>
          <p:nvPr/>
        </p:nvPicPr>
        <p:blipFill>
          <a:blip r:embed="rId53"/>
          <a:stretch>
            <a:fillRect/>
          </a:stretch>
        </p:blipFill>
        <p:spPr>
          <a:xfrm>
            <a:off x="12472416" y="8567928"/>
            <a:ext cx="777240" cy="777240"/>
          </a:xfrm>
          <a:prstGeom prst="rect">
            <a:avLst/>
          </a:prstGeom>
        </p:spPr>
      </p:pic>
      <p:sp>
        <p:nvSpPr>
          <p:cNvPr id="197" name="TextBox 196"/>
          <p:cNvSpPr txBox="1"/>
          <p:nvPr/>
        </p:nvSpPr>
        <p:spPr>
          <a:xfrm>
            <a:off x="13706856" y="8375904"/>
            <a:ext cx="3977639" cy="320040"/>
          </a:xfrm>
          <a:prstGeom prst="rect">
            <a:avLst/>
          </a:prstGeom>
          <a:noFill/>
        </p:spPr>
        <p:txBody>
          <a:bodyPr wrap="square" lIns="0" rIns="0" tIns="0" bIns="0" anchor="t">
            <a:noAutofit/>
          </a:bodyPr>
          <a:lstStyle/>
          <a:p>
            <a:pPr algn="l"/>
            <a:r>
              <a:rPr sz="1500" b="1" i="0" spc="20">
                <a:solidFill>
                  <a:srgbClr val="0F172A"/>
                </a:solidFill>
                <a:latin typeface="Segoe UI"/>
                <a:cs typeface="Segoe UI"/>
              </a:rPr>
              <a:t>WORKS WHEN DATA FAILS</a:t>
            </a:r>
          </a:p>
        </p:txBody>
      </p:sp>
      <p:sp>
        <p:nvSpPr>
          <p:cNvPr id="198" name="TextBox 197"/>
          <p:cNvSpPr txBox="1"/>
          <p:nvPr/>
        </p:nvSpPr>
        <p:spPr>
          <a:xfrm>
            <a:off x="13706856" y="8723376"/>
            <a:ext cx="3931920" cy="868680"/>
          </a:xfrm>
          <a:prstGeom prst="rect">
            <a:avLst/>
          </a:prstGeom>
          <a:noFill/>
        </p:spPr>
        <p:txBody>
          <a:bodyPr wrap="square" lIns="0" rIns="0" tIns="0" bIns="0" anchor="t">
            <a:noAutofit/>
          </a:bodyPr>
          <a:lstStyle/>
          <a:p>
            <a:pPr algn="l">
              <a:lnSpc>
                <a:spcPct val="105000"/>
              </a:lnSpc>
            </a:pPr>
            <a:r>
              <a:rPr sz="1300" b="0" i="0">
                <a:solidFill>
                  <a:srgbClr val="334155"/>
                </a:solidFill>
                <a:latin typeface="Segoe UI"/>
                <a:cs typeface="Segoe UI"/>
              </a:rPr>
              <a:t>Radar outage? A gauge-only forecast, clearly flagged DEGRADED — never silent.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6">
            <a:extLst>
              <a:ext uri="{FF2B5EF4-FFF2-40B4-BE49-F238E27FC236}">
                <a16:creationId xmlns:a16="http://schemas.microsoft.com/office/drawing/2014/main" id="{7E897BDC-E876-F3EA-03E9-1E13A84AA8B2}"/>
              </a:ext>
            </a:extLst>
          </p:cNvPr>
          <p:cNvGrpSpPr/>
          <p:nvPr/>
        </p:nvGrpSpPr>
        <p:grpSpPr>
          <a:xfrm>
            <a:off x="-367447" y="-316570"/>
            <a:ext cx="2931663" cy="1987872"/>
            <a:chOff x="0" y="0"/>
            <a:chExt cx="3908883" cy="2650496"/>
          </a:xfrm>
        </p:grpSpPr>
        <p:sp>
          <p:nvSpPr>
            <p:cNvPr id="79" name="Freeform 17" descr="Your startup LOGO">
              <a:extLst>
                <a:ext uri="{FF2B5EF4-FFF2-40B4-BE49-F238E27FC236}">
                  <a16:creationId xmlns:a16="http://schemas.microsoft.com/office/drawing/2014/main" id="{2B9435F2-462E-D960-8E54-17DAE441F417}"/>
                </a:ext>
              </a:extLst>
            </p:cNvPr>
            <p:cNvSpPr/>
            <p:nvPr/>
          </p:nvSpPr>
          <p:spPr>
            <a:xfrm>
              <a:off x="489929" y="422094"/>
              <a:ext cx="2748917" cy="1806308"/>
            </a:xfrm>
            <a:custGeom>
              <a:avLst/>
              <a:gdLst/>
              <a:ahLst/>
              <a:cxnLst/>
              <a:rect l="l" t="t" r="r" b="b"/>
              <a:pathLst>
                <a:path w="2748917" h="1806308">
                  <a:moveTo>
                    <a:pt x="0" y="0"/>
                  </a:moveTo>
                  <a:lnTo>
                    <a:pt x="2748917" y="0"/>
                  </a:lnTo>
                  <a:lnTo>
                    <a:pt x="2748917" y="1806308"/>
                  </a:lnTo>
                  <a:lnTo>
                    <a:pt x="0" y="1806308"/>
                  </a:lnTo>
                  <a:lnTo>
                    <a:pt x="0" y="0"/>
                  </a:lnTo>
                  <a:close/>
                </a:path>
              </a:pathLst>
            </a:custGeom>
            <a:blipFill>
              <a:blip>
                <a:extLst>
                  <a:ext uri="{96DAC541-7B7A-43D3-8B79-37D633B846F1}">
                    <asvg:svgBlip xmlns:asvg="http://schemas.microsoft.com/office/drawing/2016/SVG/main" r:embed="rId32"/>
                  </a:ext>
                </a:extLst>
              </a:blip>
              <a:stretch>
                <a:fillRect/>
              </a:stretch>
            </a:blipFill>
          </p:spPr>
        </p:sp>
        <p:grpSp>
          <p:nvGrpSpPr>
            <p:cNvPr id="80" name="Group 18">
              <a:extLst>
                <a:ext uri="{FF2B5EF4-FFF2-40B4-BE49-F238E27FC236}">
                  <a16:creationId xmlns:a16="http://schemas.microsoft.com/office/drawing/2014/main" id="{053D5CE4-B193-CF5D-BE0C-C9CE7273C588}"/>
                </a:ext>
              </a:extLst>
            </p:cNvPr>
            <p:cNvGrpSpPr/>
            <p:nvPr/>
          </p:nvGrpSpPr>
          <p:grpSpPr>
            <a:xfrm>
              <a:off x="0" y="0"/>
              <a:ext cx="3908883" cy="2650496"/>
              <a:chOff x="0" y="0"/>
              <a:chExt cx="2554516" cy="1732140"/>
            </a:xfrm>
          </p:grpSpPr>
          <p:sp>
            <p:nvSpPr>
              <p:cNvPr id="81" name="Freeform 19">
                <a:extLst>
                  <a:ext uri="{FF2B5EF4-FFF2-40B4-BE49-F238E27FC236}">
                    <a16:creationId xmlns:a16="http://schemas.microsoft.com/office/drawing/2014/main" id="{09B09F08-B1EC-70C4-00BD-4811A0984BD2}"/>
                  </a:ext>
                </a:extLst>
              </p:cNvPr>
              <p:cNvSpPr/>
              <p:nvPr/>
            </p:nvSpPr>
            <p:spPr>
              <a:xfrm>
                <a:off x="0" y="0"/>
                <a:ext cx="2554516" cy="1732143"/>
              </a:xfrm>
              <a:custGeom>
                <a:avLst/>
                <a:gdLst/>
                <a:ahLst/>
                <a:cxnLst/>
                <a:rect l="l" t="t" r="r" b="b"/>
                <a:pathLst>
                  <a:path w="2554516" h="1732143">
                    <a:moveTo>
                      <a:pt x="0" y="0"/>
                    </a:moveTo>
                    <a:lnTo>
                      <a:pt x="2554516" y="0"/>
                    </a:lnTo>
                    <a:lnTo>
                      <a:pt x="2554516" y="1732143"/>
                    </a:lnTo>
                    <a:lnTo>
                      <a:pt x="0" y="1732143"/>
                    </a:lnTo>
                    <a:close/>
                  </a:path>
                </a:pathLst>
              </a:custGeom>
              <a:blipFill>
                <a:blip r:embed="rId33">
                  <a:alphaModFix amt="0"/>
                </a:blip>
                <a:stretch>
                  <a:fillRect l="-36998" r="-36998"/>
                </a:stretch>
              </a:blipFill>
            </p:spPr>
          </p:sp>
          <p:sp>
            <p:nvSpPr>
              <p:cNvPr id="82" name="TextBox 20">
                <a:extLst>
                  <a:ext uri="{FF2B5EF4-FFF2-40B4-BE49-F238E27FC236}">
                    <a16:creationId xmlns:a16="http://schemas.microsoft.com/office/drawing/2014/main" id="{676B8C8B-1715-62C9-0E1D-ABE126147ACC}"/>
                  </a:ext>
                </a:extLst>
              </p:cNvPr>
              <p:cNvSpPr txBox="1"/>
              <p:nvPr/>
            </p:nvSpPr>
            <p:spPr>
              <a:xfrm>
                <a:off x="0" y="-66675"/>
                <a:ext cx="2554516" cy="1798815"/>
              </a:xfrm>
              <a:prstGeom prst="rect">
                <a:avLst/>
              </a:prstGeom>
            </p:spPr>
            <p:txBody>
              <a:bodyPr lIns="0" tIns="0" rIns="0" bIns="0" rtlCol="0" anchor="ctr"/>
              <a:lstStyle/>
              <a:p>
                <a:pPr algn="ctr">
                  <a:lnSpc>
                    <a:spcPts val="4199"/>
                  </a:lnSpc>
                </a:pPr>
                <a:r>
                  <a:rPr lang="en-US" sz="3498" dirty="0" err="1">
                    <a:solidFill>
                      <a:srgbClr val="000000"/>
                    </a:solidFill>
                    <a:latin typeface="Segoe UI" panose="020B0502040204020203" pitchFamily="34" charset="0"/>
                    <a:ea typeface="Calibri (MS)"/>
                    <a:cs typeface="Segoe UI" panose="020B0502040204020203" pitchFamily="34" charset="0"/>
                    <a:sym typeface="Calibri (MS)"/>
                  </a:rPr>
                  <a:t>LLMao</a:t>
                </a:r>
                <a:endParaRPr lang="en-US" sz="3498" dirty="0">
                  <a:solidFill>
                    <a:srgbClr val="000000"/>
                  </a:solidFill>
                  <a:latin typeface="Segoe UI" panose="020B0502040204020203" pitchFamily="34" charset="0"/>
                  <a:ea typeface="Calibri (MS)"/>
                  <a:cs typeface="Segoe UI" panose="020B0502040204020203" pitchFamily="34" charset="0"/>
                  <a:sym typeface="Calibri (MS)"/>
                </a:endParaRPr>
              </a:p>
            </p:txBody>
          </p:sp>
        </p:grpSp>
      </p:grpSp>
      <p:grpSp>
        <p:nvGrpSpPr>
          <p:cNvPr id="85" name="Group 12">
            <a:extLst>
              <a:ext uri="{FF2B5EF4-FFF2-40B4-BE49-F238E27FC236}">
                <a16:creationId xmlns:a16="http://schemas.microsoft.com/office/drawing/2014/main" id="{58335D92-0674-E29A-5E8A-288253AAD43F}"/>
              </a:ext>
            </a:extLst>
          </p:cNvPr>
          <p:cNvGrpSpPr/>
          <p:nvPr/>
        </p:nvGrpSpPr>
        <p:grpSpPr>
          <a:xfrm>
            <a:off x="14670129" y="2248"/>
            <a:ext cx="3374803" cy="1593532"/>
            <a:chOff x="0" y="0"/>
            <a:chExt cx="4499737" cy="2124710"/>
          </a:xfrm>
        </p:grpSpPr>
        <p:sp>
          <p:nvSpPr>
            <p:cNvPr id="86" name="Freeform 13">
              <a:extLst>
                <a:ext uri="{FF2B5EF4-FFF2-40B4-BE49-F238E27FC236}">
                  <a16:creationId xmlns:a16="http://schemas.microsoft.com/office/drawing/2014/main" id="{A025B397-8C10-9149-E7EA-02281847BD67}"/>
                </a:ext>
              </a:extLst>
            </p:cNvPr>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34"/>
              <a:stretch>
                <a:fillRect t="-22" b="-21"/>
              </a:stretch>
            </a:blipFill>
          </p:spPr>
        </p:sp>
      </p:grpSp>
      <p:sp>
        <p:nvSpPr>
          <p:cNvPr id="88" name="Freeform 22">
            <a:extLst>
              <a:ext uri="{FF2B5EF4-FFF2-40B4-BE49-F238E27FC236}">
                <a16:creationId xmlns:a16="http://schemas.microsoft.com/office/drawing/2014/main" id="{7D0F0C60-FC7C-7D73-D727-DC5DE94D9932}"/>
              </a:ext>
            </a:extLst>
          </p:cNvPr>
          <p:cNvSpPr/>
          <p:nvPr/>
        </p:nvSpPr>
        <p:spPr>
          <a:xfrm>
            <a:off x="0" y="9895194"/>
            <a:ext cx="18288000" cy="413872"/>
          </a:xfrm>
          <a:custGeom>
            <a:avLst/>
            <a:gdLst/>
            <a:ahLst/>
            <a:cxnLst/>
            <a:rect l="l" t="t" r="r" b="b"/>
            <a:pathLst>
              <a:path w="24384000" h="730377">
                <a:moveTo>
                  <a:pt x="24384000" y="730377"/>
                </a:moveTo>
                <a:lnTo>
                  <a:pt x="0" y="730377"/>
                </a:lnTo>
                <a:lnTo>
                  <a:pt x="0" y="0"/>
                </a:lnTo>
                <a:lnTo>
                  <a:pt x="24384000" y="0"/>
                </a:lnTo>
                <a:lnTo>
                  <a:pt x="24384000" y="730377"/>
                </a:lnTo>
                <a:close/>
              </a:path>
            </a:pathLst>
          </a:custGeom>
          <a:solidFill>
            <a:srgbClr val="0070C0"/>
          </a:solidFill>
        </p:spPr>
      </p:sp>
      <p:sp>
        <p:nvSpPr>
          <p:cNvPr id="90" name="TextBox 89">
            <a:extLst>
              <a:ext uri="{FF2B5EF4-FFF2-40B4-BE49-F238E27FC236}">
                <a16:creationId xmlns:a16="http://schemas.microsoft.com/office/drawing/2014/main" id="{3A71A7C1-975F-B551-7232-EFB2419B6032}"/>
              </a:ext>
            </a:extLst>
          </p:cNvPr>
          <p:cNvSpPr txBox="1"/>
          <p:nvPr/>
        </p:nvSpPr>
        <p:spPr>
          <a:xfrm>
            <a:off x="17721923" y="9928346"/>
            <a:ext cx="359326" cy="369332"/>
          </a:xfrm>
          <a:prstGeom prst="rect">
            <a:avLst/>
          </a:prstGeom>
          <a:noFill/>
        </p:spPr>
        <p:txBody>
          <a:bodyPr wrap="square">
            <a:spAutoFit/>
          </a:bodyPr>
          <a:lstStyle/>
          <a:p>
            <a:r>
              <a:rPr lang="en-IN" sz="1800" dirty="0">
                <a:solidFill>
                  <a:schemeClr val="bg1">
                    <a:lumMod val="95000"/>
                  </a:schemeClr>
                </a:solidFill>
                <a:latin typeface="Segoe UI" panose="020B0502040204020203" pitchFamily="34" charset="0"/>
                <a:cs typeface="Segoe UI" panose="020B0502040204020203" pitchFamily="34" charset="0"/>
              </a:rPr>
              <a:t>6</a:t>
            </a:r>
          </a:p>
        </p:txBody>
      </p:sp>
      <p:sp>
        <p:nvSpPr>
          <p:cNvPr id="91" name="TextBox 90"/>
          <p:cNvSpPr txBox="1"/>
          <p:nvPr/>
        </p:nvSpPr>
        <p:spPr>
          <a:xfrm>
            <a:off x="2651760" y="365760"/>
            <a:ext cx="12984480" cy="731520"/>
          </a:xfrm>
          <a:prstGeom prst="rect">
            <a:avLst/>
          </a:prstGeom>
          <a:noFill/>
        </p:spPr>
        <p:txBody>
          <a:bodyPr wrap="square" lIns="0" rIns="0" tIns="0" bIns="0" anchor="ctr">
            <a:noAutofit/>
          </a:bodyPr>
          <a:lstStyle/>
          <a:p>
            <a:pPr algn="ctr"/>
            <a:r>
              <a:rPr sz="4000" b="1" i="0" spc="-1">
                <a:solidFill>
                  <a:srgbClr val="123668"/>
                </a:solidFill>
                <a:latin typeface="Segoe UI"/>
                <a:cs typeface="Segoe UI"/>
              </a:rPr>
              <a:t>Research and References</a:t>
            </a:r>
          </a:p>
        </p:txBody>
      </p:sp>
      <p:sp>
        <p:nvSpPr>
          <p:cNvPr id="92" name="Rounded Rectangle 91"/>
          <p:cNvSpPr/>
          <p:nvPr/>
        </p:nvSpPr>
        <p:spPr>
          <a:xfrm>
            <a:off x="1819656" y="1298448"/>
            <a:ext cx="5138928" cy="411480"/>
          </a:xfrm>
          <a:prstGeom prst="roundRect">
            <a:avLst>
              <a:gd name="adj" fmla="val 1777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450" b="1" i="0">
                <a:solidFill>
                  <a:srgbClr val="FFFFFF"/>
                </a:solidFill>
                <a:latin typeface="Segoe UI"/>
                <a:cs typeface="Segoe UI"/>
              </a:rPr>
              <a:t>URBAN FLOOD HYDRAULICS</a:t>
            </a:r>
          </a:p>
        </p:txBody>
      </p:sp>
      <p:sp>
        <p:nvSpPr>
          <p:cNvPr id="93" name="Rounded Rectangle 92"/>
          <p:cNvSpPr/>
          <p:nvPr/>
        </p:nvSpPr>
        <p:spPr>
          <a:xfrm>
            <a:off x="548640" y="1810512"/>
            <a:ext cx="4059936" cy="2084831"/>
          </a:xfrm>
          <a:prstGeom prst="roundRect">
            <a:avLst>
              <a:gd name="adj" fmla="val 12280"/>
            </a:avLst>
          </a:prstGeom>
          <a:solidFill>
            <a:srgbClr val="F0F9FF"/>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4" name="Picture 93" descr="waves_c.png"/>
          <p:cNvPicPr>
            <a:picLocks noChangeAspect="1"/>
          </p:cNvPicPr>
          <p:nvPr/>
        </p:nvPicPr>
        <p:blipFill>
          <a:blip r:embed="rId35"/>
          <a:stretch>
            <a:fillRect/>
          </a:stretch>
        </p:blipFill>
        <p:spPr>
          <a:xfrm>
            <a:off x="777240" y="2066543"/>
            <a:ext cx="502920" cy="502920"/>
          </a:xfrm>
          <a:prstGeom prst="rect">
            <a:avLst/>
          </a:prstGeom>
        </p:spPr>
      </p:pic>
      <p:sp>
        <p:nvSpPr>
          <p:cNvPr id="95" name="TextBox 94"/>
          <p:cNvSpPr txBox="1"/>
          <p:nvPr/>
        </p:nvSpPr>
        <p:spPr>
          <a:xfrm>
            <a:off x="1463040" y="1938528"/>
            <a:ext cx="3008376" cy="548640"/>
          </a:xfrm>
          <a:prstGeom prst="rect">
            <a:avLst/>
          </a:prstGeom>
          <a:noFill/>
        </p:spPr>
        <p:txBody>
          <a:bodyPr wrap="square" lIns="0" rIns="0" tIns="0" bIns="0" anchor="t">
            <a:noAutofit/>
          </a:bodyPr>
          <a:lstStyle/>
          <a:p>
            <a:pPr algn="l">
              <a:lnSpc>
                <a:spcPct val="95000"/>
              </a:lnSpc>
            </a:pPr>
            <a:r>
              <a:rPr sz="1450" b="1" i="0">
                <a:solidFill>
                  <a:srgbClr val="0F172A"/>
                </a:solidFill>
                <a:latin typeface="Segoe UI"/>
                <a:cs typeface="Segoe UI"/>
              </a:rPr>
              <a:t>LISFLOOD-FP: storage-cell 2D flood model</a:t>
            </a:r>
          </a:p>
        </p:txBody>
      </p:sp>
      <p:sp>
        <p:nvSpPr>
          <p:cNvPr id="96" name="TextBox 95"/>
          <p:cNvSpPr txBox="1"/>
          <p:nvPr/>
        </p:nvSpPr>
        <p:spPr>
          <a:xfrm>
            <a:off x="1463040" y="2487168"/>
            <a:ext cx="3008376" cy="228600"/>
          </a:xfrm>
          <a:prstGeom prst="rect">
            <a:avLst/>
          </a:prstGeom>
          <a:noFill/>
        </p:spPr>
        <p:txBody>
          <a:bodyPr wrap="square" lIns="0" rIns="0" tIns="0" bIns="0" anchor="t">
            <a:noAutofit/>
          </a:bodyPr>
          <a:lstStyle/>
          <a:p>
            <a:pPr algn="l"/>
            <a:r>
              <a:rPr sz="1050" b="0" i="1">
                <a:solidFill>
                  <a:srgbClr val="475569"/>
                </a:solidFill>
                <a:latin typeface="Segoe UI"/>
                <a:cs typeface="Segoe UI"/>
              </a:rPr>
              <a:t>Bates &amp; De Roo, J. Hydrology 236, 2000</a:t>
            </a:r>
          </a:p>
        </p:txBody>
      </p:sp>
      <p:sp>
        <p:nvSpPr>
          <p:cNvPr id="97" name="TextBox 96"/>
          <p:cNvSpPr txBox="1"/>
          <p:nvPr/>
        </p:nvSpPr>
        <p:spPr>
          <a:xfrm>
            <a:off x="1463040" y="2724912"/>
            <a:ext cx="3008376" cy="731520"/>
          </a:xfrm>
          <a:prstGeom prst="rect">
            <a:avLst/>
          </a:prstGeom>
          <a:noFill/>
        </p:spPr>
        <p:txBody>
          <a:bodyPr wrap="square" lIns="0" rIns="0" tIns="0" bIns="0" anchor="t">
            <a:noAutofit/>
          </a:bodyPr>
          <a:lstStyle/>
          <a:p>
            <a:pPr algn="l">
              <a:lnSpc>
                <a:spcPct val="100000"/>
              </a:lnSpc>
            </a:pPr>
            <a:r>
              <a:rPr sz="1250" b="0" i="0">
                <a:solidFill>
                  <a:srgbClr val="334155"/>
                </a:solidFill>
                <a:latin typeface="Segoe UI"/>
                <a:cs typeface="Segoe UI"/>
              </a:rPr>
              <a:t>Diffusive-wave raster model — the basis of our 2D street-surface solver.</a:t>
            </a:r>
          </a:p>
        </p:txBody>
      </p:sp>
      <p:sp>
        <p:nvSpPr>
          <p:cNvPr id="98" name="Rounded Rectangle 97">
            <a:hlinkClick r:id="rId36"/>
          </p:cNvPr>
          <p:cNvSpPr/>
          <p:nvPr/>
        </p:nvSpPr>
        <p:spPr>
          <a:xfrm>
            <a:off x="3035808" y="3483863"/>
            <a:ext cx="1417320" cy="292608"/>
          </a:xfrm>
          <a:prstGeom prst="roundRect">
            <a:avLst>
              <a:gd name="adj" fmla="val 18750"/>
            </a:avLst>
          </a:prstGeom>
          <a:solidFill>
            <a:srgbClr val="FFFFFF"/>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50" b="1" i="0">
                <a:solidFill>
                  <a:srgbClr val="0284C7"/>
                </a:solidFill>
                <a:latin typeface="Segoe UI"/>
                <a:cs typeface="Segoe UI"/>
              </a:rPr>
              <a:t>View source →</a:t>
            </a:r>
          </a:p>
        </p:txBody>
      </p:sp>
      <p:sp>
        <p:nvSpPr>
          <p:cNvPr id="99" name="Rounded Rectangle 98"/>
          <p:cNvSpPr/>
          <p:nvPr/>
        </p:nvSpPr>
        <p:spPr>
          <a:xfrm>
            <a:off x="4773168" y="1810512"/>
            <a:ext cx="4059936" cy="2084831"/>
          </a:xfrm>
          <a:prstGeom prst="roundRect">
            <a:avLst>
              <a:gd name="adj" fmla="val 12280"/>
            </a:avLst>
          </a:prstGeom>
          <a:solidFill>
            <a:srgbClr val="ECFDF5"/>
          </a:solidFill>
          <a:ln w="190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0" name="Picture 99" descr="cylinder_g.png"/>
          <p:cNvPicPr>
            <a:picLocks noChangeAspect="1"/>
          </p:cNvPicPr>
          <p:nvPr/>
        </p:nvPicPr>
        <p:blipFill>
          <a:blip r:embed="rId37"/>
          <a:stretch>
            <a:fillRect/>
          </a:stretch>
        </p:blipFill>
        <p:spPr>
          <a:xfrm>
            <a:off x="5001768" y="2066543"/>
            <a:ext cx="502920" cy="502920"/>
          </a:xfrm>
          <a:prstGeom prst="rect">
            <a:avLst/>
          </a:prstGeom>
        </p:spPr>
      </p:pic>
      <p:sp>
        <p:nvSpPr>
          <p:cNvPr id="101" name="TextBox 100"/>
          <p:cNvSpPr txBox="1"/>
          <p:nvPr/>
        </p:nvSpPr>
        <p:spPr>
          <a:xfrm>
            <a:off x="5687568" y="1938528"/>
            <a:ext cx="3008376" cy="548640"/>
          </a:xfrm>
          <a:prstGeom prst="rect">
            <a:avLst/>
          </a:prstGeom>
          <a:noFill/>
        </p:spPr>
        <p:txBody>
          <a:bodyPr wrap="square" lIns="0" rIns="0" tIns="0" bIns="0" anchor="t">
            <a:noAutofit/>
          </a:bodyPr>
          <a:lstStyle/>
          <a:p>
            <a:pPr algn="l">
              <a:lnSpc>
                <a:spcPct val="95000"/>
              </a:lnSpc>
            </a:pPr>
            <a:r>
              <a:rPr sz="1450" b="1" i="0">
                <a:solidFill>
                  <a:srgbClr val="0F172A"/>
                </a:solidFill>
                <a:latin typeface="Segoe UI"/>
                <a:cs typeface="Segoe UI"/>
              </a:rPr>
              <a:t>SWMM 5 Reference Manual, Vol. II Hydraulics</a:t>
            </a:r>
          </a:p>
        </p:txBody>
      </p:sp>
      <p:sp>
        <p:nvSpPr>
          <p:cNvPr id="102" name="TextBox 101"/>
          <p:cNvSpPr txBox="1"/>
          <p:nvPr/>
        </p:nvSpPr>
        <p:spPr>
          <a:xfrm>
            <a:off x="5687568" y="2487168"/>
            <a:ext cx="3008376" cy="228600"/>
          </a:xfrm>
          <a:prstGeom prst="rect">
            <a:avLst/>
          </a:prstGeom>
          <a:noFill/>
        </p:spPr>
        <p:txBody>
          <a:bodyPr wrap="square" lIns="0" rIns="0" tIns="0" bIns="0" anchor="t">
            <a:noAutofit/>
          </a:bodyPr>
          <a:lstStyle/>
          <a:p>
            <a:pPr algn="l"/>
            <a:r>
              <a:rPr sz="1050" b="0" i="1">
                <a:solidFill>
                  <a:srgbClr val="475569"/>
                </a:solidFill>
                <a:latin typeface="Segoe UI"/>
                <a:cs typeface="Segoe UI"/>
              </a:rPr>
              <a:t>Rossman, US EPA 600/R-17/111, 2017</a:t>
            </a:r>
          </a:p>
        </p:txBody>
      </p:sp>
      <p:sp>
        <p:nvSpPr>
          <p:cNvPr id="103" name="TextBox 102"/>
          <p:cNvSpPr txBox="1"/>
          <p:nvPr/>
        </p:nvSpPr>
        <p:spPr>
          <a:xfrm>
            <a:off x="5687568" y="2724912"/>
            <a:ext cx="3008376" cy="731520"/>
          </a:xfrm>
          <a:prstGeom prst="rect">
            <a:avLst/>
          </a:prstGeom>
          <a:noFill/>
        </p:spPr>
        <p:txBody>
          <a:bodyPr wrap="square" lIns="0" rIns="0" tIns="0" bIns="0" anchor="t">
            <a:noAutofit/>
          </a:bodyPr>
          <a:lstStyle/>
          <a:p>
            <a:pPr algn="l">
              <a:lnSpc>
                <a:spcPct val="100000"/>
              </a:lnSpc>
            </a:pPr>
            <a:r>
              <a:rPr sz="1250" b="0" i="0">
                <a:solidFill>
                  <a:srgbClr val="334155"/>
                </a:solidFill>
                <a:latin typeface="Segoe UI"/>
                <a:cs typeface="Segoe UI"/>
              </a:rPr>
              <a:t>Node-link sewer hydraulics and surcharge; our 1D network exports to .inp.</a:t>
            </a:r>
          </a:p>
        </p:txBody>
      </p:sp>
      <p:sp>
        <p:nvSpPr>
          <p:cNvPr id="104" name="Rounded Rectangle 103">
            <a:hlinkClick r:id="rId38"/>
          </p:cNvPr>
          <p:cNvSpPr/>
          <p:nvPr/>
        </p:nvSpPr>
        <p:spPr>
          <a:xfrm>
            <a:off x="7260336" y="3483863"/>
            <a:ext cx="1417320" cy="292608"/>
          </a:xfrm>
          <a:prstGeom prst="roundRect">
            <a:avLst>
              <a:gd name="adj" fmla="val 18750"/>
            </a:avLst>
          </a:prstGeom>
          <a:solidFill>
            <a:srgbClr val="FFFFFF"/>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50" b="1" i="0">
                <a:solidFill>
                  <a:srgbClr val="059669"/>
                </a:solidFill>
                <a:latin typeface="Segoe UI"/>
                <a:cs typeface="Segoe UI"/>
              </a:rPr>
              <a:t>View source →</a:t>
            </a:r>
          </a:p>
        </p:txBody>
      </p:sp>
      <p:sp>
        <p:nvSpPr>
          <p:cNvPr id="105" name="Rounded Rectangle 104"/>
          <p:cNvSpPr/>
          <p:nvPr/>
        </p:nvSpPr>
        <p:spPr>
          <a:xfrm>
            <a:off x="1819656" y="4041648"/>
            <a:ext cx="5138928" cy="411480"/>
          </a:xfrm>
          <a:prstGeom prst="roundRect">
            <a:avLst>
              <a:gd name="adj" fmla="val 1777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450" b="1" i="0">
                <a:solidFill>
                  <a:srgbClr val="FFFFFF"/>
                </a:solidFill>
                <a:latin typeface="Segoe UI"/>
                <a:cs typeface="Segoe UI"/>
              </a:rPr>
              <a:t>PROBABILISTIC RAIN NOWCASTING</a:t>
            </a:r>
          </a:p>
        </p:txBody>
      </p:sp>
      <p:sp>
        <p:nvSpPr>
          <p:cNvPr id="106" name="Rounded Rectangle 105"/>
          <p:cNvSpPr/>
          <p:nvPr/>
        </p:nvSpPr>
        <p:spPr>
          <a:xfrm>
            <a:off x="548640" y="4553712"/>
            <a:ext cx="4059936" cy="2084831"/>
          </a:xfrm>
          <a:prstGeom prst="roundRect">
            <a:avLst>
              <a:gd name="adj" fmla="val 1228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7" name="Picture 106" descr="radar_b.png"/>
          <p:cNvPicPr>
            <a:picLocks noChangeAspect="1"/>
          </p:cNvPicPr>
          <p:nvPr/>
        </p:nvPicPr>
        <p:blipFill>
          <a:blip r:embed="rId39"/>
          <a:stretch>
            <a:fillRect/>
          </a:stretch>
        </p:blipFill>
        <p:spPr>
          <a:xfrm>
            <a:off x="777240" y="4809744"/>
            <a:ext cx="502920" cy="502920"/>
          </a:xfrm>
          <a:prstGeom prst="rect">
            <a:avLst/>
          </a:prstGeom>
        </p:spPr>
      </p:pic>
      <p:sp>
        <p:nvSpPr>
          <p:cNvPr id="108" name="TextBox 107"/>
          <p:cNvSpPr txBox="1"/>
          <p:nvPr/>
        </p:nvSpPr>
        <p:spPr>
          <a:xfrm>
            <a:off x="1463040" y="4681728"/>
            <a:ext cx="3008376" cy="548640"/>
          </a:xfrm>
          <a:prstGeom prst="rect">
            <a:avLst/>
          </a:prstGeom>
          <a:noFill/>
        </p:spPr>
        <p:txBody>
          <a:bodyPr wrap="square" lIns="0" rIns="0" tIns="0" bIns="0" anchor="t">
            <a:noAutofit/>
          </a:bodyPr>
          <a:lstStyle/>
          <a:p>
            <a:pPr algn="l">
              <a:lnSpc>
                <a:spcPct val="95000"/>
              </a:lnSpc>
            </a:pPr>
            <a:r>
              <a:rPr sz="1450" b="1" i="0">
                <a:solidFill>
                  <a:srgbClr val="0F172A"/>
                </a:solidFill>
                <a:latin typeface="Segoe UI"/>
                <a:cs typeface="Segoe UI"/>
              </a:rPr>
              <a:t>STEPS: short-term ensemble prediction</a:t>
            </a:r>
          </a:p>
        </p:txBody>
      </p:sp>
      <p:sp>
        <p:nvSpPr>
          <p:cNvPr id="109" name="TextBox 108"/>
          <p:cNvSpPr txBox="1"/>
          <p:nvPr/>
        </p:nvSpPr>
        <p:spPr>
          <a:xfrm>
            <a:off x="1463040" y="5230368"/>
            <a:ext cx="3008376" cy="228600"/>
          </a:xfrm>
          <a:prstGeom prst="rect">
            <a:avLst/>
          </a:prstGeom>
          <a:noFill/>
        </p:spPr>
        <p:txBody>
          <a:bodyPr wrap="square" lIns="0" rIns="0" tIns="0" bIns="0" anchor="t">
            <a:noAutofit/>
          </a:bodyPr>
          <a:lstStyle/>
          <a:p>
            <a:pPr algn="l"/>
            <a:r>
              <a:rPr sz="1050" b="0" i="1">
                <a:solidFill>
                  <a:srgbClr val="475569"/>
                </a:solidFill>
                <a:latin typeface="Segoe UI"/>
                <a:cs typeface="Segoe UI"/>
              </a:rPr>
              <a:t>Bowler, Pierce &amp; Seed, QJRMS 132, 2006</a:t>
            </a:r>
          </a:p>
        </p:txBody>
      </p:sp>
      <p:sp>
        <p:nvSpPr>
          <p:cNvPr id="110" name="TextBox 109"/>
          <p:cNvSpPr txBox="1"/>
          <p:nvPr/>
        </p:nvSpPr>
        <p:spPr>
          <a:xfrm>
            <a:off x="1463040" y="5468112"/>
            <a:ext cx="3008376" cy="731520"/>
          </a:xfrm>
          <a:prstGeom prst="rect">
            <a:avLst/>
          </a:prstGeom>
          <a:noFill/>
        </p:spPr>
        <p:txBody>
          <a:bodyPr wrap="square" lIns="0" rIns="0" tIns="0" bIns="0" anchor="t">
            <a:noAutofit/>
          </a:bodyPr>
          <a:lstStyle/>
          <a:p>
            <a:pPr algn="l">
              <a:lnSpc>
                <a:spcPct val="100000"/>
              </a:lnSpc>
            </a:pPr>
            <a:r>
              <a:rPr sz="1250" b="0" i="0">
                <a:solidFill>
                  <a:srgbClr val="334155"/>
                </a:solidFill>
                <a:latin typeface="Segoe UI"/>
                <a:cs typeface="Segoe UI"/>
              </a:rPr>
              <a:t>Cascade + stochastic-noise ensembles; our 20-member nowcast follows it.</a:t>
            </a:r>
          </a:p>
        </p:txBody>
      </p:sp>
      <p:sp>
        <p:nvSpPr>
          <p:cNvPr id="111" name="Rounded Rectangle 110">
            <a:hlinkClick r:id="rId40"/>
          </p:cNvPr>
          <p:cNvSpPr/>
          <p:nvPr/>
        </p:nvSpPr>
        <p:spPr>
          <a:xfrm>
            <a:off x="3035808" y="6227064"/>
            <a:ext cx="1417320" cy="292608"/>
          </a:xfrm>
          <a:prstGeom prst="roundRect">
            <a:avLst>
              <a:gd name="adj" fmla="val 18750"/>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50" b="1" i="0">
                <a:solidFill>
                  <a:srgbClr val="2563EB"/>
                </a:solidFill>
                <a:latin typeface="Segoe UI"/>
                <a:cs typeface="Segoe UI"/>
              </a:rPr>
              <a:t>View source →</a:t>
            </a:r>
          </a:p>
        </p:txBody>
      </p:sp>
      <p:sp>
        <p:nvSpPr>
          <p:cNvPr id="112" name="Rounded Rectangle 111"/>
          <p:cNvSpPr/>
          <p:nvPr/>
        </p:nvSpPr>
        <p:spPr>
          <a:xfrm>
            <a:off x="4773168" y="4553712"/>
            <a:ext cx="4059936" cy="2084831"/>
          </a:xfrm>
          <a:prstGeom prst="roundRect">
            <a:avLst>
              <a:gd name="adj" fmla="val 1228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13" name="Picture 112" descr="layers_v.png"/>
          <p:cNvPicPr>
            <a:picLocks noChangeAspect="1"/>
          </p:cNvPicPr>
          <p:nvPr/>
        </p:nvPicPr>
        <p:blipFill>
          <a:blip r:embed="rId41"/>
          <a:stretch>
            <a:fillRect/>
          </a:stretch>
        </p:blipFill>
        <p:spPr>
          <a:xfrm>
            <a:off x="5001768" y="4809744"/>
            <a:ext cx="502920" cy="502920"/>
          </a:xfrm>
          <a:prstGeom prst="rect">
            <a:avLst/>
          </a:prstGeom>
        </p:spPr>
      </p:pic>
      <p:sp>
        <p:nvSpPr>
          <p:cNvPr id="114" name="TextBox 113"/>
          <p:cNvSpPr txBox="1"/>
          <p:nvPr/>
        </p:nvSpPr>
        <p:spPr>
          <a:xfrm>
            <a:off x="5687568" y="4681728"/>
            <a:ext cx="3008376" cy="548640"/>
          </a:xfrm>
          <a:prstGeom prst="rect">
            <a:avLst/>
          </a:prstGeom>
          <a:noFill/>
        </p:spPr>
        <p:txBody>
          <a:bodyPr wrap="square" lIns="0" rIns="0" tIns="0" bIns="0" anchor="t">
            <a:noAutofit/>
          </a:bodyPr>
          <a:lstStyle/>
          <a:p>
            <a:pPr algn="l">
              <a:lnSpc>
                <a:spcPct val="95000"/>
              </a:lnSpc>
            </a:pPr>
            <a:r>
              <a:rPr sz="1450" b="1" i="0">
                <a:solidFill>
                  <a:srgbClr val="0F172A"/>
                </a:solidFill>
                <a:latin typeface="Segoe UI"/>
                <a:cs typeface="Segoe UI"/>
              </a:rPr>
              <a:t>pysteps: open-source probabilistic nowcasting</a:t>
            </a:r>
          </a:p>
        </p:txBody>
      </p:sp>
      <p:sp>
        <p:nvSpPr>
          <p:cNvPr id="115" name="TextBox 114"/>
          <p:cNvSpPr txBox="1"/>
          <p:nvPr/>
        </p:nvSpPr>
        <p:spPr>
          <a:xfrm>
            <a:off x="5687568" y="5230368"/>
            <a:ext cx="3008376" cy="228600"/>
          </a:xfrm>
          <a:prstGeom prst="rect">
            <a:avLst/>
          </a:prstGeom>
          <a:noFill/>
        </p:spPr>
        <p:txBody>
          <a:bodyPr wrap="square" lIns="0" rIns="0" tIns="0" bIns="0" anchor="t">
            <a:noAutofit/>
          </a:bodyPr>
          <a:lstStyle/>
          <a:p>
            <a:pPr algn="l"/>
            <a:r>
              <a:rPr sz="1050" b="0" i="1">
                <a:solidFill>
                  <a:srgbClr val="475569"/>
                </a:solidFill>
                <a:latin typeface="Segoe UI"/>
                <a:cs typeface="Segoe UI"/>
              </a:rPr>
              <a:t>Pulkkinen et al., Geosci. Model Dev. 12, 2019</a:t>
            </a:r>
          </a:p>
        </p:txBody>
      </p:sp>
      <p:sp>
        <p:nvSpPr>
          <p:cNvPr id="116" name="TextBox 115"/>
          <p:cNvSpPr txBox="1"/>
          <p:nvPr/>
        </p:nvSpPr>
        <p:spPr>
          <a:xfrm>
            <a:off x="5687568" y="5468112"/>
            <a:ext cx="3008376" cy="731520"/>
          </a:xfrm>
          <a:prstGeom prst="rect">
            <a:avLst/>
          </a:prstGeom>
          <a:noFill/>
        </p:spPr>
        <p:txBody>
          <a:bodyPr wrap="square" lIns="0" rIns="0" tIns="0" bIns="0" anchor="t">
            <a:noAutofit/>
          </a:bodyPr>
          <a:lstStyle/>
          <a:p>
            <a:pPr algn="l">
              <a:lnSpc>
                <a:spcPct val="100000"/>
              </a:lnSpc>
            </a:pPr>
            <a:r>
              <a:rPr sz="1250" b="0" i="0">
                <a:solidFill>
                  <a:srgbClr val="334155"/>
                </a:solidFill>
                <a:latin typeface="Segoe UI"/>
                <a:cs typeface="Segoe UI"/>
              </a:rPr>
              <a:t>Reference implementation our NumPy STEPS mirrors: optical flow, AR(2), blending.</a:t>
            </a:r>
          </a:p>
        </p:txBody>
      </p:sp>
      <p:sp>
        <p:nvSpPr>
          <p:cNvPr id="117" name="Rounded Rectangle 116">
            <a:hlinkClick r:id="rId42"/>
          </p:cNvPr>
          <p:cNvSpPr/>
          <p:nvPr/>
        </p:nvSpPr>
        <p:spPr>
          <a:xfrm>
            <a:off x="7260336" y="6227064"/>
            <a:ext cx="1417320" cy="292608"/>
          </a:xfrm>
          <a:prstGeom prst="roundRect">
            <a:avLst>
              <a:gd name="adj" fmla="val 18750"/>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50" b="1" i="0">
                <a:solidFill>
                  <a:srgbClr val="7C3AED"/>
                </a:solidFill>
                <a:latin typeface="Segoe UI"/>
                <a:cs typeface="Segoe UI"/>
              </a:rPr>
              <a:t>View source →</a:t>
            </a:r>
          </a:p>
        </p:txBody>
      </p:sp>
      <p:sp>
        <p:nvSpPr>
          <p:cNvPr id="118" name="Rounded Rectangle 117"/>
          <p:cNvSpPr/>
          <p:nvPr/>
        </p:nvSpPr>
        <p:spPr>
          <a:xfrm>
            <a:off x="1819656" y="6784848"/>
            <a:ext cx="5138928" cy="411480"/>
          </a:xfrm>
          <a:prstGeom prst="roundRect">
            <a:avLst>
              <a:gd name="adj" fmla="val 1777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450" b="1" i="0">
                <a:solidFill>
                  <a:srgbClr val="FFFFFF"/>
                </a:solidFill>
                <a:latin typeface="Segoe UI"/>
                <a:cs typeface="Segoe UI"/>
              </a:rPr>
              <a:t>AI SURROGATES &amp; DATA ASSIMILATION</a:t>
            </a:r>
          </a:p>
        </p:txBody>
      </p:sp>
      <p:sp>
        <p:nvSpPr>
          <p:cNvPr id="119" name="Rounded Rectangle 118"/>
          <p:cNvSpPr/>
          <p:nvPr/>
        </p:nvSpPr>
        <p:spPr>
          <a:xfrm>
            <a:off x="548640" y="7296912"/>
            <a:ext cx="4059936" cy="2084831"/>
          </a:xfrm>
          <a:prstGeom prst="roundRect">
            <a:avLst>
              <a:gd name="adj" fmla="val 12280"/>
            </a:avLst>
          </a:prstGeom>
          <a:solidFill>
            <a:srgbClr val="FEF2F2"/>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0" name="Picture 119" descr="brain_r.png"/>
          <p:cNvPicPr>
            <a:picLocks noChangeAspect="1"/>
          </p:cNvPicPr>
          <p:nvPr/>
        </p:nvPicPr>
        <p:blipFill>
          <a:blip r:embed="rId43"/>
          <a:stretch>
            <a:fillRect/>
          </a:stretch>
        </p:blipFill>
        <p:spPr>
          <a:xfrm>
            <a:off x="777240" y="7552944"/>
            <a:ext cx="502920" cy="502920"/>
          </a:xfrm>
          <a:prstGeom prst="rect">
            <a:avLst/>
          </a:prstGeom>
        </p:spPr>
      </p:pic>
      <p:sp>
        <p:nvSpPr>
          <p:cNvPr id="121" name="TextBox 120"/>
          <p:cNvSpPr txBox="1"/>
          <p:nvPr/>
        </p:nvSpPr>
        <p:spPr>
          <a:xfrm>
            <a:off x="1463040" y="7424928"/>
            <a:ext cx="3008376" cy="548640"/>
          </a:xfrm>
          <a:prstGeom prst="rect">
            <a:avLst/>
          </a:prstGeom>
          <a:noFill/>
        </p:spPr>
        <p:txBody>
          <a:bodyPr wrap="square" lIns="0" rIns="0" tIns="0" bIns="0" anchor="t">
            <a:noAutofit/>
          </a:bodyPr>
          <a:lstStyle/>
          <a:p>
            <a:pPr algn="l">
              <a:lnSpc>
                <a:spcPct val="95000"/>
              </a:lnSpc>
            </a:pPr>
            <a:r>
              <a:rPr sz="1450" b="1" i="0">
                <a:solidFill>
                  <a:srgbClr val="0F172A"/>
                </a:solidFill>
                <a:latin typeface="Segoe UI"/>
                <a:cs typeface="Segoe UI"/>
              </a:rPr>
              <a:t>U-Net: convolutional networks for segmentation</a:t>
            </a:r>
          </a:p>
        </p:txBody>
      </p:sp>
      <p:sp>
        <p:nvSpPr>
          <p:cNvPr id="122" name="TextBox 121"/>
          <p:cNvSpPr txBox="1"/>
          <p:nvPr/>
        </p:nvSpPr>
        <p:spPr>
          <a:xfrm>
            <a:off x="1463040" y="7973568"/>
            <a:ext cx="3008376" cy="228600"/>
          </a:xfrm>
          <a:prstGeom prst="rect">
            <a:avLst/>
          </a:prstGeom>
          <a:noFill/>
        </p:spPr>
        <p:txBody>
          <a:bodyPr wrap="square" lIns="0" rIns="0" tIns="0" bIns="0" anchor="t">
            <a:noAutofit/>
          </a:bodyPr>
          <a:lstStyle/>
          <a:p>
            <a:pPr algn="l"/>
            <a:r>
              <a:rPr sz="1050" b="0" i="1">
                <a:solidFill>
                  <a:srgbClr val="475569"/>
                </a:solidFill>
                <a:latin typeface="Segoe UI"/>
                <a:cs typeface="Segoe UI"/>
              </a:rPr>
              <a:t>Ronneberger et al., MICCAI 2015</a:t>
            </a:r>
          </a:p>
        </p:txBody>
      </p:sp>
      <p:sp>
        <p:nvSpPr>
          <p:cNvPr id="123" name="TextBox 122"/>
          <p:cNvSpPr txBox="1"/>
          <p:nvPr/>
        </p:nvSpPr>
        <p:spPr>
          <a:xfrm>
            <a:off x="1463040" y="8211312"/>
            <a:ext cx="3008376" cy="731520"/>
          </a:xfrm>
          <a:prstGeom prst="rect">
            <a:avLst/>
          </a:prstGeom>
          <a:noFill/>
        </p:spPr>
        <p:txBody>
          <a:bodyPr wrap="square" lIns="0" rIns="0" tIns="0" bIns="0" anchor="t">
            <a:noAutofit/>
          </a:bodyPr>
          <a:lstStyle/>
          <a:p>
            <a:pPr algn="l">
              <a:lnSpc>
                <a:spcPct val="100000"/>
              </a:lnSpc>
            </a:pPr>
            <a:r>
              <a:rPr sz="1250" b="0" i="0">
                <a:solidFill>
                  <a:srgbClr val="334155"/>
                </a:solidFill>
                <a:latin typeface="Segoe UI"/>
                <a:cs typeface="Segoe UI"/>
              </a:rPr>
              <a:t>Encoder–decoder with skip links; our residual flood surrogate is a U-Net.</a:t>
            </a:r>
          </a:p>
        </p:txBody>
      </p:sp>
      <p:sp>
        <p:nvSpPr>
          <p:cNvPr id="124" name="Rounded Rectangle 123">
            <a:hlinkClick r:id="rId44"/>
          </p:cNvPr>
          <p:cNvSpPr/>
          <p:nvPr/>
        </p:nvSpPr>
        <p:spPr>
          <a:xfrm>
            <a:off x="3035808" y="8970264"/>
            <a:ext cx="1417320" cy="292608"/>
          </a:xfrm>
          <a:prstGeom prst="roundRect">
            <a:avLst>
              <a:gd name="adj" fmla="val 18750"/>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50" b="1" i="0">
                <a:solidFill>
                  <a:srgbClr val="DC2626"/>
                </a:solidFill>
                <a:latin typeface="Segoe UI"/>
                <a:cs typeface="Segoe UI"/>
              </a:rPr>
              <a:t>View source →</a:t>
            </a:r>
          </a:p>
        </p:txBody>
      </p:sp>
      <p:sp>
        <p:nvSpPr>
          <p:cNvPr id="125" name="Rounded Rectangle 124"/>
          <p:cNvSpPr/>
          <p:nvPr/>
        </p:nvSpPr>
        <p:spPr>
          <a:xfrm>
            <a:off x="4773168" y="7296912"/>
            <a:ext cx="4059936" cy="2084831"/>
          </a:xfrm>
          <a:prstGeom prst="roundRect">
            <a:avLst>
              <a:gd name="adj" fmla="val 1228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6" name="Picture 125" descr="sigma_a.png"/>
          <p:cNvPicPr>
            <a:picLocks noChangeAspect="1"/>
          </p:cNvPicPr>
          <p:nvPr/>
        </p:nvPicPr>
        <p:blipFill>
          <a:blip r:embed="rId45"/>
          <a:stretch>
            <a:fillRect/>
          </a:stretch>
        </p:blipFill>
        <p:spPr>
          <a:xfrm>
            <a:off x="5001768" y="7552944"/>
            <a:ext cx="502920" cy="502920"/>
          </a:xfrm>
          <a:prstGeom prst="rect">
            <a:avLst/>
          </a:prstGeom>
        </p:spPr>
      </p:pic>
      <p:sp>
        <p:nvSpPr>
          <p:cNvPr id="127" name="TextBox 126"/>
          <p:cNvSpPr txBox="1"/>
          <p:nvPr/>
        </p:nvSpPr>
        <p:spPr>
          <a:xfrm>
            <a:off x="5687568" y="7424928"/>
            <a:ext cx="3008376" cy="548640"/>
          </a:xfrm>
          <a:prstGeom prst="rect">
            <a:avLst/>
          </a:prstGeom>
          <a:noFill/>
        </p:spPr>
        <p:txBody>
          <a:bodyPr wrap="square" lIns="0" rIns="0" tIns="0" bIns="0" anchor="t">
            <a:noAutofit/>
          </a:bodyPr>
          <a:lstStyle/>
          <a:p>
            <a:pPr algn="l">
              <a:lnSpc>
                <a:spcPct val="95000"/>
              </a:lnSpc>
            </a:pPr>
            <a:r>
              <a:rPr sz="1450" b="1" i="0">
                <a:solidFill>
                  <a:srgbClr val="0F172A"/>
                </a:solidFill>
                <a:latin typeface="Segoe UI"/>
                <a:cs typeface="Segoe UI"/>
              </a:rPr>
              <a:t>The Ensemble Kalman Filter</a:t>
            </a:r>
          </a:p>
        </p:txBody>
      </p:sp>
      <p:sp>
        <p:nvSpPr>
          <p:cNvPr id="128" name="TextBox 127"/>
          <p:cNvSpPr txBox="1"/>
          <p:nvPr/>
        </p:nvSpPr>
        <p:spPr>
          <a:xfrm>
            <a:off x="5687568" y="7973568"/>
            <a:ext cx="3008376" cy="228600"/>
          </a:xfrm>
          <a:prstGeom prst="rect">
            <a:avLst/>
          </a:prstGeom>
          <a:noFill/>
        </p:spPr>
        <p:txBody>
          <a:bodyPr wrap="square" lIns="0" rIns="0" tIns="0" bIns="0" anchor="t">
            <a:noAutofit/>
          </a:bodyPr>
          <a:lstStyle/>
          <a:p>
            <a:pPr algn="l"/>
            <a:r>
              <a:rPr sz="1050" b="0" i="1">
                <a:solidFill>
                  <a:srgbClr val="475569"/>
                </a:solidFill>
                <a:latin typeface="Segoe UI"/>
                <a:cs typeface="Segoe UI"/>
              </a:rPr>
              <a:t>Evensen, J. Geophys. Res. 99(C5), 1994</a:t>
            </a:r>
          </a:p>
        </p:txBody>
      </p:sp>
      <p:sp>
        <p:nvSpPr>
          <p:cNvPr id="129" name="TextBox 128"/>
          <p:cNvSpPr txBox="1"/>
          <p:nvPr/>
        </p:nvSpPr>
        <p:spPr>
          <a:xfrm>
            <a:off x="5687568" y="8211312"/>
            <a:ext cx="3008376" cy="731520"/>
          </a:xfrm>
          <a:prstGeom prst="rect">
            <a:avLst/>
          </a:prstGeom>
          <a:noFill/>
        </p:spPr>
        <p:txBody>
          <a:bodyPr wrap="square" lIns="0" rIns="0" tIns="0" bIns="0" anchor="t">
            <a:noAutofit/>
          </a:bodyPr>
          <a:lstStyle/>
          <a:p>
            <a:pPr algn="l">
              <a:lnSpc>
                <a:spcPct val="100000"/>
              </a:lnSpc>
            </a:pPr>
            <a:r>
              <a:rPr sz="1250" b="0" i="0">
                <a:solidFill>
                  <a:srgbClr val="334155"/>
                </a:solidFill>
                <a:latin typeface="Segoe UI"/>
                <a:cs typeface="Segoe UI"/>
              </a:rPr>
              <a:t>Sequential data assimilation — basis of the twin's sensor correction.</a:t>
            </a:r>
          </a:p>
        </p:txBody>
      </p:sp>
      <p:sp>
        <p:nvSpPr>
          <p:cNvPr id="130" name="Rounded Rectangle 129">
            <a:hlinkClick r:id="rId46"/>
          </p:cNvPr>
          <p:cNvSpPr/>
          <p:nvPr/>
        </p:nvSpPr>
        <p:spPr>
          <a:xfrm>
            <a:off x="7260336" y="8970264"/>
            <a:ext cx="1417320" cy="292608"/>
          </a:xfrm>
          <a:prstGeom prst="roundRect">
            <a:avLst>
              <a:gd name="adj" fmla="val 18750"/>
            </a:avLst>
          </a:prstGeom>
          <a:solidFill>
            <a:srgbClr val="FFFFFF"/>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50" b="1" i="0">
                <a:solidFill>
                  <a:srgbClr val="D97706"/>
                </a:solidFill>
                <a:latin typeface="Segoe UI"/>
                <a:cs typeface="Segoe UI"/>
              </a:rPr>
              <a:t>View source →</a:t>
            </a:r>
          </a:p>
        </p:txBody>
      </p:sp>
      <p:sp>
        <p:nvSpPr>
          <p:cNvPr id="131" name="Rounded Rectangle 130"/>
          <p:cNvSpPr/>
          <p:nvPr/>
        </p:nvSpPr>
        <p:spPr>
          <a:xfrm>
            <a:off x="10058400" y="1362456"/>
            <a:ext cx="4572000" cy="411480"/>
          </a:xfrm>
          <a:prstGeom prst="roundRect">
            <a:avLst>
              <a:gd name="adj" fmla="val 1777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450" b="1" i="0">
                <a:solidFill>
                  <a:srgbClr val="FFFFFF"/>
                </a:solidFill>
                <a:latin typeface="Segoe UI"/>
                <a:cs typeface="Segoe UI"/>
              </a:rPr>
              <a:t>POLICY, DATA &amp; STANDARDS</a:t>
            </a:r>
          </a:p>
        </p:txBody>
      </p:sp>
      <p:sp>
        <p:nvSpPr>
          <p:cNvPr id="132" name="Rounded Rectangle 131"/>
          <p:cNvSpPr/>
          <p:nvPr/>
        </p:nvSpPr>
        <p:spPr>
          <a:xfrm>
            <a:off x="9262872" y="1883664"/>
            <a:ext cx="4142232" cy="1938528"/>
          </a:xfrm>
          <a:prstGeom prst="roundRect">
            <a:avLst>
              <a:gd name="adj" fmla="val 13207"/>
            </a:avLst>
          </a:prstGeom>
          <a:solidFill>
            <a:srgbClr val="EEF2FF"/>
          </a:solidFill>
          <a:ln w="190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3" name="Picture 132" descr="landmark_i.png"/>
          <p:cNvPicPr>
            <a:picLocks noChangeAspect="1"/>
          </p:cNvPicPr>
          <p:nvPr/>
        </p:nvPicPr>
        <p:blipFill>
          <a:blip r:embed="rId47"/>
          <a:stretch>
            <a:fillRect/>
          </a:stretch>
        </p:blipFill>
        <p:spPr>
          <a:xfrm>
            <a:off x="9491472" y="2139696"/>
            <a:ext cx="502920" cy="502920"/>
          </a:xfrm>
          <a:prstGeom prst="rect">
            <a:avLst/>
          </a:prstGeom>
        </p:spPr>
      </p:pic>
      <p:sp>
        <p:nvSpPr>
          <p:cNvPr id="134" name="TextBox 133"/>
          <p:cNvSpPr txBox="1"/>
          <p:nvPr/>
        </p:nvSpPr>
        <p:spPr>
          <a:xfrm>
            <a:off x="10177272" y="2011680"/>
            <a:ext cx="3090672" cy="548640"/>
          </a:xfrm>
          <a:prstGeom prst="rect">
            <a:avLst/>
          </a:prstGeom>
          <a:noFill/>
        </p:spPr>
        <p:txBody>
          <a:bodyPr wrap="square" lIns="0" rIns="0" tIns="0" bIns="0" anchor="t">
            <a:noAutofit/>
          </a:bodyPr>
          <a:lstStyle/>
          <a:p>
            <a:pPr algn="l">
              <a:lnSpc>
                <a:spcPct val="95000"/>
              </a:lnSpc>
            </a:pPr>
            <a:r>
              <a:rPr sz="1450" b="1" i="0">
                <a:solidFill>
                  <a:srgbClr val="0F172A"/>
                </a:solidFill>
                <a:latin typeface="Segoe UI"/>
                <a:cs typeface="Segoe UI"/>
              </a:rPr>
              <a:t>NDMA Guidelines: Management of Urban Flooding</a:t>
            </a:r>
          </a:p>
        </p:txBody>
      </p:sp>
      <p:sp>
        <p:nvSpPr>
          <p:cNvPr id="135" name="TextBox 134"/>
          <p:cNvSpPr txBox="1"/>
          <p:nvPr/>
        </p:nvSpPr>
        <p:spPr>
          <a:xfrm>
            <a:off x="10177272" y="2560320"/>
            <a:ext cx="3090672" cy="228600"/>
          </a:xfrm>
          <a:prstGeom prst="rect">
            <a:avLst/>
          </a:prstGeom>
          <a:noFill/>
        </p:spPr>
        <p:txBody>
          <a:bodyPr wrap="square" lIns="0" rIns="0" tIns="0" bIns="0" anchor="t">
            <a:noAutofit/>
          </a:bodyPr>
          <a:lstStyle/>
          <a:p>
            <a:pPr algn="l"/>
            <a:r>
              <a:rPr sz="1050" b="0" i="1">
                <a:solidFill>
                  <a:srgbClr val="475569"/>
                </a:solidFill>
                <a:latin typeface="Segoe UI"/>
                <a:cs typeface="Segoe UI"/>
              </a:rPr>
              <a:t>National Disaster Management Authority, 2010</a:t>
            </a:r>
          </a:p>
        </p:txBody>
      </p:sp>
      <p:sp>
        <p:nvSpPr>
          <p:cNvPr id="136" name="TextBox 135"/>
          <p:cNvSpPr txBox="1"/>
          <p:nvPr/>
        </p:nvSpPr>
        <p:spPr>
          <a:xfrm>
            <a:off x="10177272" y="2798064"/>
            <a:ext cx="3090672" cy="731520"/>
          </a:xfrm>
          <a:prstGeom prst="rect">
            <a:avLst/>
          </a:prstGeom>
          <a:noFill/>
        </p:spPr>
        <p:txBody>
          <a:bodyPr wrap="square" lIns="0" rIns="0" tIns="0" bIns="0" anchor="t">
            <a:noAutofit/>
          </a:bodyPr>
          <a:lstStyle/>
          <a:p>
            <a:pPr algn="l">
              <a:lnSpc>
                <a:spcPct val="100000"/>
              </a:lnSpc>
            </a:pPr>
            <a:r>
              <a:rPr sz="1250" b="0" i="0">
                <a:solidFill>
                  <a:srgbClr val="334155"/>
                </a:solidFill>
                <a:latin typeface="Segoe UI"/>
                <a:cs typeface="Segoe UI"/>
              </a:rPr>
              <a:t>Calls for local early warning and drain inventories.</a:t>
            </a:r>
          </a:p>
        </p:txBody>
      </p:sp>
      <p:sp>
        <p:nvSpPr>
          <p:cNvPr id="137" name="Rounded Rectangle 136">
            <a:hlinkClick r:id="rId48"/>
          </p:cNvPr>
          <p:cNvSpPr/>
          <p:nvPr/>
        </p:nvSpPr>
        <p:spPr>
          <a:xfrm>
            <a:off x="11832336" y="3410711"/>
            <a:ext cx="1417320" cy="292608"/>
          </a:xfrm>
          <a:prstGeom prst="roundRect">
            <a:avLst>
              <a:gd name="adj" fmla="val 18750"/>
            </a:avLst>
          </a:prstGeom>
          <a:solidFill>
            <a:srgbClr val="FFFF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50" b="1" i="0">
                <a:solidFill>
                  <a:srgbClr val="4F46E5"/>
                </a:solidFill>
                <a:latin typeface="Segoe UI"/>
                <a:cs typeface="Segoe UI"/>
              </a:rPr>
              <a:t>View source →</a:t>
            </a:r>
          </a:p>
        </p:txBody>
      </p:sp>
      <p:sp>
        <p:nvSpPr>
          <p:cNvPr id="138" name="Rounded Rectangle 137"/>
          <p:cNvSpPr/>
          <p:nvPr/>
        </p:nvSpPr>
        <p:spPr>
          <a:xfrm>
            <a:off x="13597128" y="1883664"/>
            <a:ext cx="4142232" cy="1938528"/>
          </a:xfrm>
          <a:prstGeom prst="roundRect">
            <a:avLst>
              <a:gd name="adj" fmla="val 13207"/>
            </a:avLst>
          </a:prstGeom>
          <a:solidFill>
            <a:srgbClr val="FFF7ED"/>
          </a:solidFill>
          <a:ln w="1905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9" name="Picture 138" descr="mountain_o.png"/>
          <p:cNvPicPr>
            <a:picLocks noChangeAspect="1"/>
          </p:cNvPicPr>
          <p:nvPr/>
        </p:nvPicPr>
        <p:blipFill>
          <a:blip r:embed="rId49"/>
          <a:stretch>
            <a:fillRect/>
          </a:stretch>
        </p:blipFill>
        <p:spPr>
          <a:xfrm>
            <a:off x="13825728" y="2139696"/>
            <a:ext cx="502920" cy="502920"/>
          </a:xfrm>
          <a:prstGeom prst="rect">
            <a:avLst/>
          </a:prstGeom>
        </p:spPr>
      </p:pic>
      <p:sp>
        <p:nvSpPr>
          <p:cNvPr id="140" name="TextBox 139"/>
          <p:cNvSpPr txBox="1"/>
          <p:nvPr/>
        </p:nvSpPr>
        <p:spPr>
          <a:xfrm>
            <a:off x="14511528" y="2011680"/>
            <a:ext cx="3090672" cy="548640"/>
          </a:xfrm>
          <a:prstGeom prst="rect">
            <a:avLst/>
          </a:prstGeom>
          <a:noFill/>
        </p:spPr>
        <p:txBody>
          <a:bodyPr wrap="square" lIns="0" rIns="0" tIns="0" bIns="0" anchor="t">
            <a:noAutofit/>
          </a:bodyPr>
          <a:lstStyle/>
          <a:p>
            <a:pPr algn="l">
              <a:lnSpc>
                <a:spcPct val="95000"/>
              </a:lnSpc>
            </a:pPr>
            <a:r>
              <a:rPr sz="1450" b="1" i="0">
                <a:solidFill>
                  <a:srgbClr val="0F172A"/>
                </a:solidFill>
                <a:latin typeface="Segoe UI"/>
                <a:cs typeface="Segoe UI"/>
              </a:rPr>
              <a:t>Copernicus DEM GLO-30</a:t>
            </a:r>
          </a:p>
        </p:txBody>
      </p:sp>
      <p:sp>
        <p:nvSpPr>
          <p:cNvPr id="141" name="TextBox 140"/>
          <p:cNvSpPr txBox="1"/>
          <p:nvPr/>
        </p:nvSpPr>
        <p:spPr>
          <a:xfrm>
            <a:off x="14511528" y="2560320"/>
            <a:ext cx="3090672" cy="228600"/>
          </a:xfrm>
          <a:prstGeom prst="rect">
            <a:avLst/>
          </a:prstGeom>
          <a:noFill/>
        </p:spPr>
        <p:txBody>
          <a:bodyPr wrap="square" lIns="0" rIns="0" tIns="0" bIns="0" anchor="t">
            <a:noAutofit/>
          </a:bodyPr>
          <a:lstStyle/>
          <a:p>
            <a:pPr algn="l"/>
            <a:r>
              <a:rPr sz="1050" b="0" i="1">
                <a:solidFill>
                  <a:srgbClr val="475569"/>
                </a:solidFill>
                <a:latin typeface="Segoe UI"/>
                <a:cs typeface="Segoe UI"/>
              </a:rPr>
              <a:t>ESA / DLR / Airbus, 2021</a:t>
            </a:r>
          </a:p>
        </p:txBody>
      </p:sp>
      <p:sp>
        <p:nvSpPr>
          <p:cNvPr id="142" name="TextBox 141"/>
          <p:cNvSpPr txBox="1"/>
          <p:nvPr/>
        </p:nvSpPr>
        <p:spPr>
          <a:xfrm>
            <a:off x="14511528" y="2798064"/>
            <a:ext cx="3090672" cy="731520"/>
          </a:xfrm>
          <a:prstGeom prst="rect">
            <a:avLst/>
          </a:prstGeom>
          <a:noFill/>
        </p:spPr>
        <p:txBody>
          <a:bodyPr wrap="square" lIns="0" rIns="0" tIns="0" bIns="0" anchor="t">
            <a:noAutofit/>
          </a:bodyPr>
          <a:lstStyle/>
          <a:p>
            <a:pPr algn="l">
              <a:lnSpc>
                <a:spcPct val="100000"/>
              </a:lnSpc>
            </a:pPr>
            <a:r>
              <a:rPr sz="1250" b="0" i="0">
                <a:solidFill>
                  <a:srgbClr val="334155"/>
                </a:solidFill>
                <a:latin typeface="Segoe UI"/>
                <a:cs typeface="Segoe UI"/>
              </a:rPr>
              <a:t>30 m global surface model — the KIET twin's terrain.</a:t>
            </a:r>
          </a:p>
        </p:txBody>
      </p:sp>
      <p:sp>
        <p:nvSpPr>
          <p:cNvPr id="143" name="Rounded Rectangle 142">
            <a:hlinkClick r:id="rId50"/>
          </p:cNvPr>
          <p:cNvSpPr/>
          <p:nvPr/>
        </p:nvSpPr>
        <p:spPr>
          <a:xfrm>
            <a:off x="16166592" y="3410711"/>
            <a:ext cx="1417320" cy="292608"/>
          </a:xfrm>
          <a:prstGeom prst="roundRect">
            <a:avLst>
              <a:gd name="adj" fmla="val 18750"/>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50" b="1" i="0">
                <a:solidFill>
                  <a:srgbClr val="EA580C"/>
                </a:solidFill>
                <a:latin typeface="Segoe UI"/>
                <a:cs typeface="Segoe UI"/>
              </a:rPr>
              <a:t>View source →</a:t>
            </a:r>
          </a:p>
        </p:txBody>
      </p:sp>
      <p:sp>
        <p:nvSpPr>
          <p:cNvPr id="144" name="Rounded Rectangle 143"/>
          <p:cNvSpPr/>
          <p:nvPr/>
        </p:nvSpPr>
        <p:spPr>
          <a:xfrm>
            <a:off x="9262872" y="3959352"/>
            <a:ext cx="6793992" cy="411480"/>
          </a:xfrm>
          <a:prstGeom prst="roundRect">
            <a:avLst>
              <a:gd name="adj" fmla="val 1777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450" b="1" i="0">
                <a:solidFill>
                  <a:srgbClr val="FFFFFF"/>
                </a:solidFill>
                <a:latin typeface="Segoe UI"/>
                <a:cs typeface="Segoe UI"/>
              </a:rPr>
              <a:t>DEFENSE IN DEPTH — HOW A FORECAST EARNS TRUST</a:t>
            </a:r>
          </a:p>
        </p:txBody>
      </p:sp>
      <p:sp>
        <p:nvSpPr>
          <p:cNvPr id="145" name="Rounded Rectangle 144"/>
          <p:cNvSpPr/>
          <p:nvPr/>
        </p:nvSpPr>
        <p:spPr>
          <a:xfrm>
            <a:off x="9262872" y="4462272"/>
            <a:ext cx="8476488" cy="2286000"/>
          </a:xfrm>
          <a:prstGeom prst="roundRect">
            <a:avLst>
              <a:gd name="adj" fmla="val 13999"/>
            </a:avLst>
          </a:prstGeom>
          <a:solidFill>
            <a:srgbClr val="F0F9FF"/>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6" name="Oval 145"/>
          <p:cNvSpPr/>
          <p:nvPr/>
        </p:nvSpPr>
        <p:spPr>
          <a:xfrm>
            <a:off x="9555480" y="4599431"/>
            <a:ext cx="2011680" cy="2011680"/>
          </a:xfrm>
          <a:prstGeom prst="ellipse">
            <a:avLst/>
          </a:prstGeom>
          <a:noFill/>
          <a:ln w="2857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7" name="TextBox 146"/>
          <p:cNvSpPr txBox="1"/>
          <p:nvPr/>
        </p:nvSpPr>
        <p:spPr>
          <a:xfrm>
            <a:off x="9921240" y="4663440"/>
            <a:ext cx="1280160" cy="182880"/>
          </a:xfrm>
          <a:prstGeom prst="rect">
            <a:avLst/>
          </a:prstGeom>
          <a:noFill/>
        </p:spPr>
        <p:txBody>
          <a:bodyPr wrap="square" lIns="0" rIns="0" tIns="0" bIns="0" anchor="t">
            <a:noAutofit/>
          </a:bodyPr>
          <a:lstStyle/>
          <a:p>
            <a:pPr algn="ctr"/>
            <a:r>
              <a:rPr sz="900" b="1" i="0" spc="40">
                <a:solidFill>
                  <a:srgbClr val="0369A1"/>
                </a:solidFill>
                <a:latin typeface="Segoe UI"/>
                <a:cs typeface="Segoe UI"/>
              </a:rPr>
              <a:t>PHYSICS</a:t>
            </a:r>
          </a:p>
        </p:txBody>
      </p:sp>
      <p:sp>
        <p:nvSpPr>
          <p:cNvPr id="148" name="Oval 147"/>
          <p:cNvSpPr/>
          <p:nvPr/>
        </p:nvSpPr>
        <p:spPr>
          <a:xfrm>
            <a:off x="9875520" y="4919472"/>
            <a:ext cx="1371600" cy="1371600"/>
          </a:xfrm>
          <a:prstGeom prst="ellipse">
            <a:avLst/>
          </a:prstGeom>
          <a:noFill/>
          <a:ln w="285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9" name="TextBox 148"/>
          <p:cNvSpPr txBox="1"/>
          <p:nvPr/>
        </p:nvSpPr>
        <p:spPr>
          <a:xfrm>
            <a:off x="9921240" y="4983480"/>
            <a:ext cx="1280160" cy="182880"/>
          </a:xfrm>
          <a:prstGeom prst="rect">
            <a:avLst/>
          </a:prstGeom>
          <a:noFill/>
        </p:spPr>
        <p:txBody>
          <a:bodyPr wrap="square" lIns="0" rIns="0" tIns="0" bIns="0" anchor="t">
            <a:noAutofit/>
          </a:bodyPr>
          <a:lstStyle/>
          <a:p>
            <a:pPr algn="ctr"/>
            <a:r>
              <a:rPr sz="900" b="1" i="0" spc="40">
                <a:solidFill>
                  <a:srgbClr val="0369A1"/>
                </a:solidFill>
                <a:latin typeface="Segoe UI"/>
                <a:cs typeface="Segoe UI"/>
              </a:rPr>
              <a:t>DATA</a:t>
            </a:r>
          </a:p>
        </p:txBody>
      </p:sp>
      <p:sp>
        <p:nvSpPr>
          <p:cNvPr id="150" name="Oval 149"/>
          <p:cNvSpPr/>
          <p:nvPr/>
        </p:nvSpPr>
        <p:spPr>
          <a:xfrm>
            <a:off x="10195560" y="5239512"/>
            <a:ext cx="731520" cy="731520"/>
          </a:xfrm>
          <a:prstGeom prst="ellipse">
            <a:avLst/>
          </a:prstGeom>
          <a:solidFill>
            <a:srgbClr val="EEF2FF"/>
          </a:solidFill>
          <a:ln w="285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1" name="TextBox 150"/>
          <p:cNvSpPr txBox="1"/>
          <p:nvPr/>
        </p:nvSpPr>
        <p:spPr>
          <a:xfrm>
            <a:off x="9921240" y="5513832"/>
            <a:ext cx="1280160" cy="182880"/>
          </a:xfrm>
          <a:prstGeom prst="rect">
            <a:avLst/>
          </a:prstGeom>
          <a:noFill/>
        </p:spPr>
        <p:txBody>
          <a:bodyPr wrap="square" lIns="0" rIns="0" tIns="0" bIns="0" anchor="t">
            <a:noAutofit/>
          </a:bodyPr>
          <a:lstStyle/>
          <a:p>
            <a:pPr algn="ctr"/>
            <a:r>
              <a:rPr sz="900" b="1" i="0" spc="40">
                <a:solidFill>
                  <a:srgbClr val="0369A1"/>
                </a:solidFill>
                <a:latin typeface="Segoe UI"/>
                <a:cs typeface="Segoe UI"/>
              </a:rPr>
              <a:t>FORECAST</a:t>
            </a:r>
          </a:p>
        </p:txBody>
      </p:sp>
      <p:cxnSp>
        <p:nvCxnSpPr>
          <p:cNvPr id="152" name="Connector 151"/>
          <p:cNvCxnSpPr/>
          <p:nvPr/>
        </p:nvCxnSpPr>
        <p:spPr>
          <a:xfrm>
            <a:off x="11658600" y="4892040"/>
            <a:ext cx="411480" cy="0"/>
          </a:xfrm>
          <a:prstGeom prst="line">
            <a:avLst/>
          </a:prstGeom>
          <a:ln w="38100">
            <a:solidFill>
              <a:srgbClr val="0284C7"/>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53" name="Rounded Rectangle 152"/>
          <p:cNvSpPr/>
          <p:nvPr/>
        </p:nvSpPr>
        <p:spPr>
          <a:xfrm>
            <a:off x="12161520" y="4572000"/>
            <a:ext cx="5440680" cy="640080"/>
          </a:xfrm>
          <a:prstGeom prst="roundRect">
            <a:avLst>
              <a:gd name="adj" fmla="val 11428"/>
            </a:avLst>
          </a:prstGeom>
          <a:solidFill>
            <a:srgbClr val="FFFFFF"/>
          </a:solidFill>
          <a:ln w="9525">
            <a:solidFill>
              <a:srgbClr val="DBEAFE"/>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4" name="Rounded Rectangle 153"/>
          <p:cNvSpPr/>
          <p:nvPr/>
        </p:nvSpPr>
        <p:spPr>
          <a:xfrm>
            <a:off x="12252960" y="4645152"/>
            <a:ext cx="493776" cy="493776"/>
          </a:xfrm>
          <a:prstGeom prst="roundRect">
            <a:avLst>
              <a:gd name="adj" fmla="val 18518"/>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5" name="Picture 154" descr="activity_w.png"/>
          <p:cNvPicPr>
            <a:picLocks noChangeAspect="1"/>
          </p:cNvPicPr>
          <p:nvPr/>
        </p:nvPicPr>
        <p:blipFill>
          <a:blip r:embed="rId51"/>
          <a:stretch>
            <a:fillRect/>
          </a:stretch>
        </p:blipFill>
        <p:spPr>
          <a:xfrm>
            <a:off x="12351715" y="4743907"/>
            <a:ext cx="296265" cy="296265"/>
          </a:xfrm>
          <a:prstGeom prst="rect">
            <a:avLst/>
          </a:prstGeom>
        </p:spPr>
      </p:pic>
      <p:sp>
        <p:nvSpPr>
          <p:cNvPr id="156" name="TextBox 155"/>
          <p:cNvSpPr txBox="1"/>
          <p:nvPr/>
        </p:nvSpPr>
        <p:spPr>
          <a:xfrm>
            <a:off x="12847320" y="4599432"/>
            <a:ext cx="4709160" cy="274320"/>
          </a:xfrm>
          <a:prstGeom prst="rect">
            <a:avLst/>
          </a:prstGeom>
          <a:noFill/>
        </p:spPr>
        <p:txBody>
          <a:bodyPr wrap="square" lIns="0" rIns="0" tIns="0" bIns="0" anchor="t">
            <a:noAutofit/>
          </a:bodyPr>
          <a:lstStyle/>
          <a:p>
            <a:pPr algn="l"/>
            <a:r>
              <a:rPr sz="1350" b="1" i="0">
                <a:solidFill>
                  <a:srgbClr val="0284C7"/>
                </a:solidFill>
                <a:latin typeface="Segoe UI"/>
                <a:cs typeface="Segoe UI"/>
              </a:rPr>
              <a:t>PHYSICS — </a:t>
            </a:r>
            <a:r>
              <a:rPr sz="1350" b="1" i="0">
                <a:solidFill>
                  <a:srgbClr val="0284C7"/>
                </a:solidFill>
                <a:latin typeface="Segoe UI"/>
                <a:cs typeface="Segoe UI"/>
              </a:rPr>
              <a:t>Mass-conserving twin</a:t>
            </a:r>
          </a:p>
        </p:txBody>
      </p:sp>
      <p:sp>
        <p:nvSpPr>
          <p:cNvPr id="157" name="TextBox 156"/>
          <p:cNvSpPr txBox="1"/>
          <p:nvPr/>
        </p:nvSpPr>
        <p:spPr>
          <a:xfrm>
            <a:off x="12847320" y="4882896"/>
            <a:ext cx="4709160" cy="274320"/>
          </a:xfrm>
          <a:prstGeom prst="rect">
            <a:avLst/>
          </a:prstGeom>
          <a:noFill/>
        </p:spPr>
        <p:txBody>
          <a:bodyPr wrap="square" lIns="0" rIns="0" tIns="0" bIns="0" anchor="t">
            <a:noAutofit/>
          </a:bodyPr>
          <a:lstStyle/>
          <a:p>
            <a:pPr algn="l"/>
            <a:r>
              <a:rPr sz="1150" b="0" i="0">
                <a:solidFill>
                  <a:srgbClr val="334155"/>
                </a:solidFill>
                <a:latin typeface="Segoe UI"/>
                <a:cs typeface="Segoe UI"/>
              </a:rPr>
              <a:t>Rain in = water out + stored, to ~1e-8; 31 tests guard it.</a:t>
            </a:r>
          </a:p>
        </p:txBody>
      </p:sp>
      <p:cxnSp>
        <p:nvCxnSpPr>
          <p:cNvPr id="158" name="Connector 157"/>
          <p:cNvCxnSpPr/>
          <p:nvPr/>
        </p:nvCxnSpPr>
        <p:spPr>
          <a:xfrm>
            <a:off x="11658600" y="5605272"/>
            <a:ext cx="411480" cy="0"/>
          </a:xfrm>
          <a:prstGeom prst="line">
            <a:avLst/>
          </a:prstGeom>
          <a:ln w="38100">
            <a:solidFill>
              <a:srgbClr val="2563EB"/>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59" name="Rounded Rectangle 158"/>
          <p:cNvSpPr/>
          <p:nvPr/>
        </p:nvSpPr>
        <p:spPr>
          <a:xfrm>
            <a:off x="12161520" y="5285232"/>
            <a:ext cx="5440680" cy="640080"/>
          </a:xfrm>
          <a:prstGeom prst="roundRect">
            <a:avLst>
              <a:gd name="adj" fmla="val 11428"/>
            </a:avLst>
          </a:prstGeom>
          <a:solidFill>
            <a:srgbClr val="FFFFFF"/>
          </a:solidFill>
          <a:ln w="9525">
            <a:solidFill>
              <a:srgbClr val="DBEAFE"/>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0" name="Rounded Rectangle 159"/>
          <p:cNvSpPr/>
          <p:nvPr/>
        </p:nvSpPr>
        <p:spPr>
          <a:xfrm>
            <a:off x="12252960" y="5358384"/>
            <a:ext cx="493776" cy="493776"/>
          </a:xfrm>
          <a:prstGeom prst="roundRect">
            <a:avLst>
              <a:gd name="adj" fmla="val 18518"/>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1" name="Picture 160" descr="filter_w.png"/>
          <p:cNvPicPr>
            <a:picLocks noChangeAspect="1"/>
          </p:cNvPicPr>
          <p:nvPr/>
        </p:nvPicPr>
        <p:blipFill>
          <a:blip r:embed="rId52"/>
          <a:stretch>
            <a:fillRect/>
          </a:stretch>
        </p:blipFill>
        <p:spPr>
          <a:xfrm>
            <a:off x="12351715" y="5457139"/>
            <a:ext cx="296265" cy="296265"/>
          </a:xfrm>
          <a:prstGeom prst="rect">
            <a:avLst/>
          </a:prstGeom>
        </p:spPr>
      </p:pic>
      <p:sp>
        <p:nvSpPr>
          <p:cNvPr id="162" name="TextBox 161"/>
          <p:cNvSpPr txBox="1"/>
          <p:nvPr/>
        </p:nvSpPr>
        <p:spPr>
          <a:xfrm>
            <a:off x="12847320" y="5312664"/>
            <a:ext cx="4709160" cy="274320"/>
          </a:xfrm>
          <a:prstGeom prst="rect">
            <a:avLst/>
          </a:prstGeom>
          <a:noFill/>
        </p:spPr>
        <p:txBody>
          <a:bodyPr wrap="square" lIns="0" rIns="0" tIns="0" bIns="0" anchor="t">
            <a:noAutofit/>
          </a:bodyPr>
          <a:lstStyle/>
          <a:p>
            <a:pPr algn="l"/>
            <a:r>
              <a:rPr sz="1350" b="1" i="0">
                <a:solidFill>
                  <a:srgbClr val="2563EB"/>
                </a:solidFill>
                <a:latin typeface="Segoe UI"/>
                <a:cs typeface="Segoe UI"/>
              </a:rPr>
              <a:t>DATA — </a:t>
            </a:r>
            <a:r>
              <a:rPr sz="1350" b="1" i="0">
                <a:solidFill>
                  <a:srgbClr val="2563EB"/>
                </a:solidFill>
                <a:latin typeface="Segoe UI"/>
                <a:cs typeface="Segoe UI"/>
              </a:rPr>
              <a:t>Quality &amp; trust scores</a:t>
            </a:r>
          </a:p>
        </p:txBody>
      </p:sp>
      <p:sp>
        <p:nvSpPr>
          <p:cNvPr id="163" name="TextBox 162"/>
          <p:cNvSpPr txBox="1"/>
          <p:nvPr/>
        </p:nvSpPr>
        <p:spPr>
          <a:xfrm>
            <a:off x="12847320" y="5596128"/>
            <a:ext cx="4709160" cy="274320"/>
          </a:xfrm>
          <a:prstGeom prst="rect">
            <a:avLst/>
          </a:prstGeom>
          <a:noFill/>
        </p:spPr>
        <p:txBody>
          <a:bodyPr wrap="square" lIns="0" rIns="0" tIns="0" bIns="0" anchor="t">
            <a:noAutofit/>
          </a:bodyPr>
          <a:lstStyle/>
          <a:p>
            <a:pPr algn="l"/>
            <a:r>
              <a:rPr sz="1150" b="0" i="0">
                <a:solidFill>
                  <a:srgbClr val="334155"/>
                </a:solidFill>
                <a:latin typeface="Segoe UI"/>
                <a:cs typeface="Segoe UI"/>
              </a:rPr>
              <a:t>Every gauge and radar frame is QC'd; faulty ones are dropped.</a:t>
            </a:r>
          </a:p>
        </p:txBody>
      </p:sp>
      <p:cxnSp>
        <p:nvCxnSpPr>
          <p:cNvPr id="164" name="Connector 163"/>
          <p:cNvCxnSpPr/>
          <p:nvPr/>
        </p:nvCxnSpPr>
        <p:spPr>
          <a:xfrm>
            <a:off x="11658600" y="6318504"/>
            <a:ext cx="411480" cy="0"/>
          </a:xfrm>
          <a:prstGeom prst="line">
            <a:avLst/>
          </a:prstGeom>
          <a:ln w="38100">
            <a:solidFill>
              <a:srgbClr val="4F46E5"/>
            </a:solidFill>
            <a:round/>
            <a:tailEnd type="triangle" w="med" len="med"/>
          </a:ln>
        </p:spPr>
        <p:style>
          <a:lnRef idx="2">
            <a:schemeClr val="accent1"/>
          </a:lnRef>
          <a:fillRef idx="0">
            <a:schemeClr val="accent1"/>
          </a:fillRef>
          <a:effectRef idx="1">
            <a:schemeClr val="accent1"/>
          </a:effectRef>
          <a:fontRef idx="minor">
            <a:schemeClr val="tx1"/>
          </a:fontRef>
        </p:style>
      </p:cxnSp>
      <p:sp>
        <p:nvSpPr>
          <p:cNvPr id="165" name="Rounded Rectangle 164"/>
          <p:cNvSpPr/>
          <p:nvPr/>
        </p:nvSpPr>
        <p:spPr>
          <a:xfrm>
            <a:off x="12161520" y="5998464"/>
            <a:ext cx="5440680" cy="640080"/>
          </a:xfrm>
          <a:prstGeom prst="roundRect">
            <a:avLst>
              <a:gd name="adj" fmla="val 11428"/>
            </a:avLst>
          </a:prstGeom>
          <a:solidFill>
            <a:srgbClr val="FFFFFF"/>
          </a:solidFill>
          <a:ln w="9525">
            <a:solidFill>
              <a:srgbClr val="DBEAFE"/>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6" name="Rounded Rectangle 165"/>
          <p:cNvSpPr/>
          <p:nvPr/>
        </p:nvSpPr>
        <p:spPr>
          <a:xfrm>
            <a:off x="12252960" y="6071616"/>
            <a:ext cx="493776" cy="493776"/>
          </a:xfrm>
          <a:prstGeom prst="roundRect">
            <a:avLst>
              <a:gd name="adj" fmla="val 18518"/>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7" name="Picture 166" descr="layers3_w.png"/>
          <p:cNvPicPr>
            <a:picLocks noChangeAspect="1"/>
          </p:cNvPicPr>
          <p:nvPr/>
        </p:nvPicPr>
        <p:blipFill>
          <a:blip r:embed="rId53"/>
          <a:stretch>
            <a:fillRect/>
          </a:stretch>
        </p:blipFill>
        <p:spPr>
          <a:xfrm>
            <a:off x="12351715" y="6170371"/>
            <a:ext cx="296265" cy="296265"/>
          </a:xfrm>
          <a:prstGeom prst="rect">
            <a:avLst/>
          </a:prstGeom>
        </p:spPr>
      </p:pic>
      <p:sp>
        <p:nvSpPr>
          <p:cNvPr id="168" name="TextBox 167"/>
          <p:cNvSpPr txBox="1"/>
          <p:nvPr/>
        </p:nvSpPr>
        <p:spPr>
          <a:xfrm>
            <a:off x="12847320" y="6025896"/>
            <a:ext cx="4709160" cy="274320"/>
          </a:xfrm>
          <a:prstGeom prst="rect">
            <a:avLst/>
          </a:prstGeom>
          <a:noFill/>
        </p:spPr>
        <p:txBody>
          <a:bodyPr wrap="square" lIns="0" rIns="0" tIns="0" bIns="0" anchor="t">
            <a:noAutofit/>
          </a:bodyPr>
          <a:lstStyle/>
          <a:p>
            <a:pPr algn="l"/>
            <a:r>
              <a:rPr sz="1350" b="1" i="0">
                <a:solidFill>
                  <a:srgbClr val="4F46E5"/>
                </a:solidFill>
                <a:latin typeface="Segoe UI"/>
                <a:cs typeface="Segoe UI"/>
              </a:rPr>
              <a:t>FORECAST — </a:t>
            </a:r>
            <a:r>
              <a:rPr sz="1350" b="1" i="0">
                <a:solidFill>
                  <a:srgbClr val="4F46E5"/>
                </a:solidFill>
                <a:latin typeface="Segoe UI"/>
                <a:cs typeface="Segoe UI"/>
              </a:rPr>
              <a:t>Honest probability</a:t>
            </a:r>
          </a:p>
        </p:txBody>
      </p:sp>
      <p:sp>
        <p:nvSpPr>
          <p:cNvPr id="169" name="TextBox 168"/>
          <p:cNvSpPr txBox="1"/>
          <p:nvPr/>
        </p:nvSpPr>
        <p:spPr>
          <a:xfrm>
            <a:off x="12847320" y="6309360"/>
            <a:ext cx="4709160" cy="274320"/>
          </a:xfrm>
          <a:prstGeom prst="rect">
            <a:avLst/>
          </a:prstGeom>
          <a:noFill/>
        </p:spPr>
        <p:txBody>
          <a:bodyPr wrap="square" lIns="0" rIns="0" tIns="0" bIns="0" anchor="t">
            <a:noAutofit/>
          </a:bodyPr>
          <a:lstStyle/>
          <a:p>
            <a:pPr algn="l"/>
            <a:r>
              <a:rPr sz="1150" b="0" i="0">
                <a:solidFill>
                  <a:srgbClr val="334155"/>
                </a:solidFill>
                <a:latin typeface="Segoe UI"/>
                <a:cs typeface="Segoe UI"/>
              </a:rPr>
              <a:t>P10–P90 bands, DEGRADED flags, no route called 'safe'.</a:t>
            </a:r>
          </a:p>
        </p:txBody>
      </p:sp>
      <p:sp>
        <p:nvSpPr>
          <p:cNvPr id="170" name="Rounded Rectangle 169"/>
          <p:cNvSpPr/>
          <p:nvPr/>
        </p:nvSpPr>
        <p:spPr>
          <a:xfrm>
            <a:off x="11128248" y="6858000"/>
            <a:ext cx="4050791" cy="411480"/>
          </a:xfrm>
          <a:prstGeom prst="roundRect">
            <a:avLst>
              <a:gd name="adj" fmla="val 1777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450" b="1" i="0">
                <a:solidFill>
                  <a:srgbClr val="FFFFFF"/>
                </a:solidFill>
                <a:latin typeface="Segoe UI"/>
                <a:cs typeface="Segoe UI"/>
              </a:rPr>
              <a:t>TECHNOLOGY &amp; STANDARDS</a:t>
            </a:r>
          </a:p>
        </p:txBody>
      </p:sp>
      <p:sp>
        <p:nvSpPr>
          <p:cNvPr id="171" name="Rounded Rectangle 170">
            <a:hlinkClick r:id="rId54"/>
          </p:cNvPr>
          <p:cNvSpPr/>
          <p:nvPr/>
        </p:nvSpPr>
        <p:spPr>
          <a:xfrm>
            <a:off x="9262872" y="7360920"/>
            <a:ext cx="2029968" cy="566928"/>
          </a:xfrm>
          <a:prstGeom prst="roundRect">
            <a:avLst>
              <a:gd name="adj" fmla="val 12903"/>
            </a:avLst>
          </a:prstGeom>
          <a:solidFill>
            <a:srgbClr val="FFFFFF"/>
          </a:solidFill>
          <a:ln w="9525">
            <a:solidFill>
              <a:srgbClr val="CBD5E1"/>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72" name="Picture 171" descr="onnx_s.png"/>
          <p:cNvPicPr>
            <a:picLocks noChangeAspect="1"/>
          </p:cNvPicPr>
          <p:nvPr/>
        </p:nvPicPr>
        <p:blipFill>
          <a:blip r:embed="rId55"/>
          <a:stretch>
            <a:fillRect/>
          </a:stretch>
        </p:blipFill>
        <p:spPr>
          <a:xfrm>
            <a:off x="9372600" y="7461504"/>
            <a:ext cx="365760" cy="365760"/>
          </a:xfrm>
          <a:prstGeom prst="rect">
            <a:avLst/>
          </a:prstGeom>
        </p:spPr>
      </p:pic>
      <p:sp>
        <p:nvSpPr>
          <p:cNvPr id="173" name="TextBox 172"/>
          <p:cNvSpPr txBox="1"/>
          <p:nvPr/>
        </p:nvSpPr>
        <p:spPr>
          <a:xfrm>
            <a:off x="9829800" y="7388352"/>
            <a:ext cx="1444752" cy="256032"/>
          </a:xfrm>
          <a:prstGeom prst="rect">
            <a:avLst/>
          </a:prstGeom>
          <a:noFill/>
        </p:spPr>
        <p:txBody>
          <a:bodyPr wrap="square" lIns="0" rIns="0" tIns="0" bIns="0" anchor="t">
            <a:noAutofit/>
          </a:bodyPr>
          <a:lstStyle/>
          <a:p>
            <a:pPr algn="l"/>
            <a:r>
              <a:rPr sz="1250" b="1" i="0">
                <a:solidFill>
                  <a:srgbClr val="0F172A"/>
                </a:solidFill>
                <a:latin typeface="Segoe UI"/>
                <a:cs typeface="Segoe UI"/>
              </a:rPr>
              <a:t>ONNX Runtime</a:t>
            </a:r>
          </a:p>
        </p:txBody>
      </p:sp>
      <p:sp>
        <p:nvSpPr>
          <p:cNvPr id="174" name="TextBox 173"/>
          <p:cNvSpPr txBox="1"/>
          <p:nvPr/>
        </p:nvSpPr>
        <p:spPr>
          <a:xfrm>
            <a:off x="9829800" y="7644383"/>
            <a:ext cx="1444752" cy="228600"/>
          </a:xfrm>
          <a:prstGeom prst="rect">
            <a:avLst/>
          </a:prstGeom>
          <a:noFill/>
        </p:spPr>
        <p:txBody>
          <a:bodyPr wrap="square" lIns="0" rIns="0" tIns="0" bIns="0" anchor="t">
            <a:noAutofit/>
          </a:bodyPr>
          <a:lstStyle/>
          <a:p>
            <a:pPr algn="l"/>
            <a:r>
              <a:rPr sz="1050" b="1" i="0" u="sng">
                <a:solidFill>
                  <a:srgbClr val="1D4ED8"/>
                </a:solidFill>
                <a:latin typeface="Segoe UI"/>
                <a:cs typeface="Segoe UI"/>
              </a:rPr>
              <a:t>Official docs →</a:t>
            </a:r>
          </a:p>
        </p:txBody>
      </p:sp>
      <p:sp>
        <p:nvSpPr>
          <p:cNvPr id="175" name="Rounded Rectangle 174">
            <a:hlinkClick r:id="rId56"/>
          </p:cNvPr>
          <p:cNvSpPr/>
          <p:nvPr/>
        </p:nvSpPr>
        <p:spPr>
          <a:xfrm>
            <a:off x="11402568" y="7360920"/>
            <a:ext cx="2029968" cy="566928"/>
          </a:xfrm>
          <a:prstGeom prst="roundRect">
            <a:avLst>
              <a:gd name="adj" fmla="val 12903"/>
            </a:avLst>
          </a:prstGeom>
          <a:solidFill>
            <a:srgbClr val="FFFFFF"/>
          </a:solidFill>
          <a:ln w="9525">
            <a:solidFill>
              <a:srgbClr val="CBD5E1"/>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76" name="Picture 175" descr="maplibre_b.png"/>
          <p:cNvPicPr>
            <a:picLocks noChangeAspect="1"/>
          </p:cNvPicPr>
          <p:nvPr/>
        </p:nvPicPr>
        <p:blipFill>
          <a:blip r:embed="rId57"/>
          <a:stretch>
            <a:fillRect/>
          </a:stretch>
        </p:blipFill>
        <p:spPr>
          <a:xfrm>
            <a:off x="11512296" y="7461504"/>
            <a:ext cx="365760" cy="365760"/>
          </a:xfrm>
          <a:prstGeom prst="rect">
            <a:avLst/>
          </a:prstGeom>
        </p:spPr>
      </p:pic>
      <p:sp>
        <p:nvSpPr>
          <p:cNvPr id="177" name="TextBox 176"/>
          <p:cNvSpPr txBox="1"/>
          <p:nvPr/>
        </p:nvSpPr>
        <p:spPr>
          <a:xfrm>
            <a:off x="11969496" y="7388352"/>
            <a:ext cx="1444752" cy="256032"/>
          </a:xfrm>
          <a:prstGeom prst="rect">
            <a:avLst/>
          </a:prstGeom>
          <a:noFill/>
        </p:spPr>
        <p:txBody>
          <a:bodyPr wrap="square" lIns="0" rIns="0" tIns="0" bIns="0" anchor="t">
            <a:noAutofit/>
          </a:bodyPr>
          <a:lstStyle/>
          <a:p>
            <a:pPr algn="l"/>
            <a:r>
              <a:rPr sz="1250" b="1" i="0">
                <a:solidFill>
                  <a:srgbClr val="0F172A"/>
                </a:solidFill>
                <a:latin typeface="Segoe UI"/>
                <a:cs typeface="Segoe UI"/>
              </a:rPr>
              <a:t>MapLibre GL</a:t>
            </a:r>
          </a:p>
        </p:txBody>
      </p:sp>
      <p:sp>
        <p:nvSpPr>
          <p:cNvPr id="178" name="TextBox 177"/>
          <p:cNvSpPr txBox="1"/>
          <p:nvPr/>
        </p:nvSpPr>
        <p:spPr>
          <a:xfrm>
            <a:off x="11969496" y="7644383"/>
            <a:ext cx="1444752" cy="228600"/>
          </a:xfrm>
          <a:prstGeom prst="rect">
            <a:avLst/>
          </a:prstGeom>
          <a:noFill/>
        </p:spPr>
        <p:txBody>
          <a:bodyPr wrap="square" lIns="0" rIns="0" tIns="0" bIns="0" anchor="t">
            <a:noAutofit/>
          </a:bodyPr>
          <a:lstStyle/>
          <a:p>
            <a:pPr algn="l"/>
            <a:r>
              <a:rPr sz="1050" b="1" i="0" u="sng">
                <a:solidFill>
                  <a:srgbClr val="1D4ED8"/>
                </a:solidFill>
                <a:latin typeface="Segoe UI"/>
                <a:cs typeface="Segoe UI"/>
              </a:rPr>
              <a:t>Official docs →</a:t>
            </a:r>
          </a:p>
        </p:txBody>
      </p:sp>
      <p:sp>
        <p:nvSpPr>
          <p:cNvPr id="179" name="Rounded Rectangle 178">
            <a:hlinkClick r:id="rId58"/>
          </p:cNvPr>
          <p:cNvSpPr/>
          <p:nvPr/>
        </p:nvSpPr>
        <p:spPr>
          <a:xfrm>
            <a:off x="13542264" y="7360920"/>
            <a:ext cx="2029968" cy="566928"/>
          </a:xfrm>
          <a:prstGeom prst="roundRect">
            <a:avLst>
              <a:gd name="adj" fmla="val 12903"/>
            </a:avLst>
          </a:prstGeom>
          <a:solidFill>
            <a:srgbClr val="FFFFFF"/>
          </a:solidFill>
          <a:ln w="9525">
            <a:solidFill>
              <a:srgbClr val="CBD5E1"/>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80" name="Picture 179" descr="osm_g.png"/>
          <p:cNvPicPr>
            <a:picLocks noChangeAspect="1"/>
          </p:cNvPicPr>
          <p:nvPr/>
        </p:nvPicPr>
        <p:blipFill>
          <a:blip r:embed="rId59"/>
          <a:stretch>
            <a:fillRect/>
          </a:stretch>
        </p:blipFill>
        <p:spPr>
          <a:xfrm>
            <a:off x="13651992" y="7461504"/>
            <a:ext cx="365760" cy="365760"/>
          </a:xfrm>
          <a:prstGeom prst="rect">
            <a:avLst/>
          </a:prstGeom>
        </p:spPr>
      </p:pic>
      <p:sp>
        <p:nvSpPr>
          <p:cNvPr id="181" name="TextBox 180"/>
          <p:cNvSpPr txBox="1"/>
          <p:nvPr/>
        </p:nvSpPr>
        <p:spPr>
          <a:xfrm>
            <a:off x="14109192" y="7388352"/>
            <a:ext cx="1444752" cy="256032"/>
          </a:xfrm>
          <a:prstGeom prst="rect">
            <a:avLst/>
          </a:prstGeom>
          <a:noFill/>
        </p:spPr>
        <p:txBody>
          <a:bodyPr wrap="square" lIns="0" rIns="0" tIns="0" bIns="0" anchor="t">
            <a:noAutofit/>
          </a:bodyPr>
          <a:lstStyle/>
          <a:p>
            <a:pPr algn="l"/>
            <a:r>
              <a:rPr sz="1250" b="1" i="0">
                <a:solidFill>
                  <a:srgbClr val="0F172A"/>
                </a:solidFill>
                <a:latin typeface="Segoe UI"/>
                <a:cs typeface="Segoe UI"/>
              </a:rPr>
              <a:t>OpenStreetMap</a:t>
            </a:r>
          </a:p>
        </p:txBody>
      </p:sp>
      <p:sp>
        <p:nvSpPr>
          <p:cNvPr id="182" name="TextBox 181"/>
          <p:cNvSpPr txBox="1"/>
          <p:nvPr/>
        </p:nvSpPr>
        <p:spPr>
          <a:xfrm>
            <a:off x="14109192" y="7644383"/>
            <a:ext cx="1444752" cy="228600"/>
          </a:xfrm>
          <a:prstGeom prst="rect">
            <a:avLst/>
          </a:prstGeom>
          <a:noFill/>
        </p:spPr>
        <p:txBody>
          <a:bodyPr wrap="square" lIns="0" rIns="0" tIns="0" bIns="0" anchor="t">
            <a:noAutofit/>
          </a:bodyPr>
          <a:lstStyle/>
          <a:p>
            <a:pPr algn="l"/>
            <a:r>
              <a:rPr sz="1050" b="1" i="0" u="sng">
                <a:solidFill>
                  <a:srgbClr val="1D4ED8"/>
                </a:solidFill>
                <a:latin typeface="Segoe UI"/>
                <a:cs typeface="Segoe UI"/>
              </a:rPr>
              <a:t>Official docs →</a:t>
            </a:r>
          </a:p>
        </p:txBody>
      </p:sp>
      <p:sp>
        <p:nvSpPr>
          <p:cNvPr id="183" name="Rounded Rectangle 182">
            <a:hlinkClick r:id="rId60"/>
          </p:cNvPr>
          <p:cNvSpPr/>
          <p:nvPr/>
        </p:nvSpPr>
        <p:spPr>
          <a:xfrm>
            <a:off x="15681959" y="7360920"/>
            <a:ext cx="2029968" cy="566928"/>
          </a:xfrm>
          <a:prstGeom prst="roundRect">
            <a:avLst>
              <a:gd name="adj" fmla="val 12903"/>
            </a:avLst>
          </a:prstGeom>
          <a:solidFill>
            <a:srgbClr val="FFFFFF"/>
          </a:solidFill>
          <a:ln w="9525">
            <a:solidFill>
              <a:srgbClr val="CBD5E1"/>
            </a:solid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84" name="Picture 183" descr="megaphone_r.png"/>
          <p:cNvPicPr>
            <a:picLocks noChangeAspect="1"/>
          </p:cNvPicPr>
          <p:nvPr/>
        </p:nvPicPr>
        <p:blipFill>
          <a:blip r:embed="rId61"/>
          <a:stretch>
            <a:fillRect/>
          </a:stretch>
        </p:blipFill>
        <p:spPr>
          <a:xfrm>
            <a:off x="15791688" y="7461504"/>
            <a:ext cx="365760" cy="365760"/>
          </a:xfrm>
          <a:prstGeom prst="rect">
            <a:avLst/>
          </a:prstGeom>
        </p:spPr>
      </p:pic>
      <p:sp>
        <p:nvSpPr>
          <p:cNvPr id="185" name="TextBox 184"/>
          <p:cNvSpPr txBox="1"/>
          <p:nvPr/>
        </p:nvSpPr>
        <p:spPr>
          <a:xfrm>
            <a:off x="16248888" y="7388352"/>
            <a:ext cx="1444752" cy="256032"/>
          </a:xfrm>
          <a:prstGeom prst="rect">
            <a:avLst/>
          </a:prstGeom>
          <a:noFill/>
        </p:spPr>
        <p:txBody>
          <a:bodyPr wrap="square" lIns="0" rIns="0" tIns="0" bIns="0" anchor="t">
            <a:noAutofit/>
          </a:bodyPr>
          <a:lstStyle/>
          <a:p>
            <a:pPr algn="l"/>
            <a:r>
              <a:rPr sz="1250" b="1" i="0">
                <a:solidFill>
                  <a:srgbClr val="0F172A"/>
                </a:solidFill>
                <a:latin typeface="Segoe UI"/>
                <a:cs typeface="Segoe UI"/>
              </a:rPr>
              <a:t>OASIS CAP 1.2</a:t>
            </a:r>
          </a:p>
        </p:txBody>
      </p:sp>
      <p:sp>
        <p:nvSpPr>
          <p:cNvPr id="186" name="TextBox 185"/>
          <p:cNvSpPr txBox="1"/>
          <p:nvPr/>
        </p:nvSpPr>
        <p:spPr>
          <a:xfrm>
            <a:off x="16248888" y="7644383"/>
            <a:ext cx="1444752" cy="228600"/>
          </a:xfrm>
          <a:prstGeom prst="rect">
            <a:avLst/>
          </a:prstGeom>
          <a:noFill/>
        </p:spPr>
        <p:txBody>
          <a:bodyPr wrap="square" lIns="0" rIns="0" tIns="0" bIns="0" anchor="t">
            <a:noAutofit/>
          </a:bodyPr>
          <a:lstStyle/>
          <a:p>
            <a:pPr algn="l"/>
            <a:r>
              <a:rPr sz="1050" b="1" i="0" u="sng">
                <a:solidFill>
                  <a:srgbClr val="1D4ED8"/>
                </a:solidFill>
                <a:latin typeface="Segoe UI"/>
                <a:cs typeface="Segoe UI"/>
              </a:rPr>
              <a:t>Official docs →</a:t>
            </a:r>
          </a:p>
        </p:txBody>
      </p:sp>
      <p:sp>
        <p:nvSpPr>
          <p:cNvPr id="187" name="Rounded Rectangle 186"/>
          <p:cNvSpPr/>
          <p:nvPr/>
        </p:nvSpPr>
        <p:spPr>
          <a:xfrm>
            <a:off x="11128248" y="8046720"/>
            <a:ext cx="4050791" cy="411480"/>
          </a:xfrm>
          <a:prstGeom prst="roundRect">
            <a:avLst>
              <a:gd name="adj" fmla="val 1777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450" b="1" i="0">
                <a:solidFill>
                  <a:srgbClr val="FFFFFF"/>
                </a:solidFill>
                <a:latin typeface="Segoe UI"/>
                <a:cs typeface="Segoe UI"/>
              </a:rPr>
              <a:t>APPLICATION &amp; VIDEO LINK</a:t>
            </a:r>
          </a:p>
        </p:txBody>
      </p:sp>
      <p:pic>
        <p:nvPicPr>
          <p:cNvPr id="188" name="Picture 187" descr="dash_forecast.jpg">
            <a:hlinkClick r:id="rId63"/>
          </p:cNvPr>
          <p:cNvPicPr>
            <a:picLocks noChangeAspect="1"/>
          </p:cNvPicPr>
          <p:nvPr/>
        </p:nvPicPr>
        <p:blipFill>
          <a:blip r:embed="rId62"/>
          <a:stretch>
            <a:fillRect/>
          </a:stretch>
        </p:blipFill>
        <p:spPr>
          <a:xfrm>
            <a:off x="9262872" y="8531352"/>
            <a:ext cx="2029968" cy="1143000"/>
          </a:xfrm>
          <a:prstGeom prst="roundRect">
            <a:avLst>
              <a:gd name="adj" fmla="val 6400"/>
            </a:avLst>
          </a:prstGeom>
          <a:ln w="12700">
            <a:solidFill>
              <a:srgbClr val="CBD5E1"/>
            </a:solidFill>
          </a:ln>
          <a:effectLst>
            <a:outerShdw blurRad="127000" dist="38100" dir="5400000" algn="t" rotWithShape="0">
              <a:srgbClr val="0F172A">
                <a:alpha val="22000"/>
              </a:srgbClr>
            </a:outerShdw>
          </a:effectLst>
        </p:spPr>
      </p:pic>
      <p:sp>
        <p:nvSpPr>
          <p:cNvPr id="189" name="Rectangle 188">
            <a:hlinkClick r:id="rId63"/>
          </p:cNvPr>
          <p:cNvSpPr/>
          <p:nvPr/>
        </p:nvSpPr>
        <p:spPr>
          <a:xfrm>
            <a:off x="9262872" y="9418320"/>
            <a:ext cx="2029968" cy="256032"/>
          </a:xfrm>
          <a:prstGeom prst="rect">
            <a:avLst/>
          </a:prstGeom>
          <a:solidFill>
            <a:srgbClr val="0B0D11">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50" b="1" i="0" spc="40">
                <a:solidFill>
                  <a:srgbClr val="FFFFFF"/>
                </a:solidFill>
                <a:latin typeface="Segoe UI"/>
                <a:cs typeface="Segoe UI"/>
              </a:rPr>
              <a:t>LIVE DASHBOARD  ↗</a:t>
            </a:r>
          </a:p>
        </p:txBody>
      </p:sp>
      <p:pic>
        <p:nvPicPr>
          <p:cNvPr id="190" name="Picture 189" descr="home.jpg">
            <a:hlinkClick r:id="rId65"/>
          </p:cNvPr>
          <p:cNvPicPr>
            <a:picLocks noChangeAspect="1"/>
          </p:cNvPicPr>
          <p:nvPr/>
        </p:nvPicPr>
        <p:blipFill>
          <a:blip r:embed="rId64"/>
          <a:stretch>
            <a:fillRect/>
          </a:stretch>
        </p:blipFill>
        <p:spPr>
          <a:xfrm>
            <a:off x="11402568" y="8531352"/>
            <a:ext cx="2029968" cy="1143000"/>
          </a:xfrm>
          <a:prstGeom prst="roundRect">
            <a:avLst>
              <a:gd name="adj" fmla="val 6400"/>
            </a:avLst>
          </a:prstGeom>
          <a:ln w="12700">
            <a:solidFill>
              <a:srgbClr val="CBD5E1"/>
            </a:solidFill>
          </a:ln>
          <a:effectLst>
            <a:outerShdw blurRad="127000" dist="38100" dir="5400000" algn="t" rotWithShape="0">
              <a:srgbClr val="0F172A">
                <a:alpha val="22000"/>
              </a:srgbClr>
            </a:outerShdw>
          </a:effectLst>
        </p:spPr>
      </p:pic>
      <p:sp>
        <p:nvSpPr>
          <p:cNvPr id="191" name="Rectangle 190">
            <a:hlinkClick r:id="rId65"/>
          </p:cNvPr>
          <p:cNvSpPr/>
          <p:nvPr/>
        </p:nvSpPr>
        <p:spPr>
          <a:xfrm>
            <a:off x="11402568" y="9418320"/>
            <a:ext cx="2029968" cy="256032"/>
          </a:xfrm>
          <a:prstGeom prst="rect">
            <a:avLst/>
          </a:prstGeom>
          <a:solidFill>
            <a:srgbClr val="0B0D11">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50" b="1" i="0" spc="40">
                <a:solidFill>
                  <a:srgbClr val="FFFFFF"/>
                </a:solidFill>
                <a:latin typeface="Segoe UI"/>
                <a:cs typeface="Segoe UI"/>
              </a:rPr>
              <a:t>3D STORM REPLAY  ↗</a:t>
            </a:r>
          </a:p>
        </p:txBody>
      </p:sp>
      <p:pic>
        <p:nvPicPr>
          <p:cNvPr id="192" name="Picture 191" descr="brag.jpg">
            <a:hlinkClick r:id="rId67"/>
          </p:cNvPr>
          <p:cNvPicPr>
            <a:picLocks noChangeAspect="1"/>
          </p:cNvPicPr>
          <p:nvPr/>
        </p:nvPicPr>
        <p:blipFill>
          <a:blip r:embed="rId66"/>
          <a:stretch>
            <a:fillRect/>
          </a:stretch>
        </p:blipFill>
        <p:spPr>
          <a:xfrm>
            <a:off x="13542264" y="8531352"/>
            <a:ext cx="2029968" cy="1143000"/>
          </a:xfrm>
          <a:prstGeom prst="roundRect">
            <a:avLst>
              <a:gd name="adj" fmla="val 6400"/>
            </a:avLst>
          </a:prstGeom>
          <a:ln w="12700">
            <a:solidFill>
              <a:srgbClr val="CBD5E1"/>
            </a:solidFill>
          </a:ln>
          <a:effectLst>
            <a:outerShdw blurRad="127000" dist="38100" dir="5400000" algn="t" rotWithShape="0">
              <a:srgbClr val="0F172A">
                <a:alpha val="22000"/>
              </a:srgbClr>
            </a:outerShdw>
          </a:effectLst>
        </p:spPr>
      </p:pic>
      <p:sp>
        <p:nvSpPr>
          <p:cNvPr id="193" name="Rectangle 192">
            <a:hlinkClick r:id="rId67"/>
          </p:cNvPr>
          <p:cNvSpPr/>
          <p:nvPr/>
        </p:nvSpPr>
        <p:spPr>
          <a:xfrm>
            <a:off x="13542264" y="9418320"/>
            <a:ext cx="2029968" cy="256032"/>
          </a:xfrm>
          <a:prstGeom prst="rect">
            <a:avLst/>
          </a:prstGeom>
          <a:solidFill>
            <a:srgbClr val="0B0D11">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950" b="1" i="0" spc="40">
                <a:solidFill>
                  <a:srgbClr val="FFFFFF"/>
                </a:solidFill>
                <a:latin typeface="Segoe UI"/>
                <a:cs typeface="Segoe UI"/>
              </a:rPr>
              <a:t>EXPLAINER VIDEO  ↗</a:t>
            </a:r>
          </a:p>
        </p:txBody>
      </p:sp>
      <p:sp>
        <p:nvSpPr>
          <p:cNvPr id="194" name="Oval 193"/>
          <p:cNvSpPr/>
          <p:nvPr/>
        </p:nvSpPr>
        <p:spPr>
          <a:xfrm>
            <a:off x="14328648" y="8732520"/>
            <a:ext cx="457200" cy="457200"/>
          </a:xfrm>
          <a:prstGeom prst="ellipse">
            <a:avLst/>
          </a:prstGeom>
          <a:solidFill>
            <a:srgbClr val="0B0D11">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95" name="Picture 194" descr="play_w.png"/>
          <p:cNvPicPr>
            <a:picLocks noChangeAspect="1"/>
          </p:cNvPicPr>
          <p:nvPr/>
        </p:nvPicPr>
        <p:blipFill>
          <a:blip r:embed="rId68"/>
          <a:stretch>
            <a:fillRect/>
          </a:stretch>
        </p:blipFill>
        <p:spPr>
          <a:xfrm>
            <a:off x="14365224" y="8769096"/>
            <a:ext cx="384048" cy="384048"/>
          </a:xfrm>
          <a:prstGeom prst="rect">
            <a:avLst/>
          </a:prstGeom>
        </p:spPr>
      </p:pic>
      <p:sp>
        <p:nvSpPr>
          <p:cNvPr id="196" name="Rounded Rectangle 195">
            <a:hlinkClick r:id="rId69"/>
          </p:cNvPr>
          <p:cNvSpPr/>
          <p:nvPr/>
        </p:nvSpPr>
        <p:spPr>
          <a:xfrm>
            <a:off x="15681959" y="8531352"/>
            <a:ext cx="2029968" cy="1143000"/>
          </a:xfrm>
          <a:prstGeom prst="roundRect">
            <a:avLst>
              <a:gd name="adj" fmla="val 6400"/>
            </a:avLst>
          </a:prstGeom>
          <a:solidFill>
            <a:srgbClr val="0F172A"/>
          </a:solidFill>
          <a:ln>
            <a:noFill/>
          </a:ln>
          <a:effectLst>
            <a:outerShdw blurRad="76200" dist="254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97" name="Picture 196" descr="github_w.png"/>
          <p:cNvPicPr>
            <a:picLocks noChangeAspect="1"/>
          </p:cNvPicPr>
          <p:nvPr/>
        </p:nvPicPr>
        <p:blipFill>
          <a:blip r:embed="rId70"/>
          <a:stretch>
            <a:fillRect/>
          </a:stretch>
        </p:blipFill>
        <p:spPr>
          <a:xfrm>
            <a:off x="16468343" y="8622792"/>
            <a:ext cx="457200" cy="457200"/>
          </a:xfrm>
          <a:prstGeom prst="rect">
            <a:avLst/>
          </a:prstGeom>
        </p:spPr>
      </p:pic>
      <p:sp>
        <p:nvSpPr>
          <p:cNvPr id="198" name="TextBox 197"/>
          <p:cNvSpPr txBox="1"/>
          <p:nvPr/>
        </p:nvSpPr>
        <p:spPr>
          <a:xfrm>
            <a:off x="15681959" y="9125712"/>
            <a:ext cx="2029968" cy="228600"/>
          </a:xfrm>
          <a:prstGeom prst="rect">
            <a:avLst/>
          </a:prstGeom>
          <a:noFill/>
        </p:spPr>
        <p:txBody>
          <a:bodyPr wrap="square" lIns="0" rIns="0" tIns="0" bIns="0" anchor="t">
            <a:noAutofit/>
          </a:bodyPr>
          <a:lstStyle/>
          <a:p>
            <a:pPr algn="ctr"/>
            <a:r>
              <a:rPr sz="1050" b="1" i="0" spc="40">
                <a:solidFill>
                  <a:srgbClr val="FFFFFF"/>
                </a:solidFill>
                <a:latin typeface="Segoe UI"/>
                <a:cs typeface="Segoe UI"/>
              </a:rPr>
              <a:t>SOURCE CODE  ↗</a:t>
            </a:r>
          </a:p>
        </p:txBody>
      </p:sp>
      <p:sp>
        <p:nvSpPr>
          <p:cNvPr id="199" name="TextBox 198"/>
          <p:cNvSpPr txBox="1"/>
          <p:nvPr/>
        </p:nvSpPr>
        <p:spPr>
          <a:xfrm>
            <a:off x="15681959" y="9363456"/>
            <a:ext cx="2029968" cy="228600"/>
          </a:xfrm>
          <a:prstGeom prst="rect">
            <a:avLst/>
          </a:prstGeom>
          <a:noFill/>
        </p:spPr>
        <p:txBody>
          <a:bodyPr wrap="square" lIns="0" rIns="0" tIns="0" bIns="0" anchor="t">
            <a:noAutofit/>
          </a:bodyPr>
          <a:lstStyle/>
          <a:p>
            <a:pPr algn="ctr"/>
            <a:r>
              <a:rPr sz="850" b="0" i="0">
                <a:solidFill>
                  <a:srgbClr val="94A3B8"/>
                </a:solidFill>
                <a:latin typeface="Segoe UI"/>
                <a:cs typeface="Segoe UI"/>
              </a:rPr>
              <a:t>github.com/arpitpandey0307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
  <a:themeElements>
    <a:clrScheme name="Office">
      <a:dk1>
        <a:srgbClr val="000000"/>
      </a:dk1>
      <a:lt1>
        <a:srgbClr val="FFFFFF"/>
      </a:lt1>
      <a:dk2>
        <a:srgbClr val="0B0D11"/>
      </a:dk2>
      <a:lt2>
        <a:srgbClr val="F8FAFC"/>
      </a:lt2>
      <a:accent1>
        <a:srgbClr val="2563EB"/>
      </a:accent1>
      <a:accent2>
        <a:srgbClr val="7C3AED"/>
      </a:accent2>
      <a:accent3>
        <a:srgbClr val="D97706"/>
      </a:accent3>
      <a:accent4>
        <a:srgbClr val="DC2626"/>
      </a:accent4>
      <a:accent5>
        <a:srgbClr val="059669"/>
      </a:accent5>
      <a:accent6>
        <a:srgbClr val="0D9488"/>
      </a:accent6>
      <a:hlink>
        <a:srgbClr val="2563EB"/>
      </a:hlink>
      <a:folHlink>
        <a:srgbClr val="7C3AED"/>
      </a:folHlink>
    </a:clrScheme>
    <a:fontScheme name="Office">
      <a:majorFont>
        <a:latin typeface="Segoe UI"/>
        <a:ea typeface=""/>
        <a:cs typeface=""/>
      </a:majorFont>
      <a:minorFont>
        <a:latin typeface="Segoe UI"/>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1179</TotalTime>
  <Words>1422</Words>
  <Application>Microsoft Office PowerPoint</Application>
  <PresentationFormat>Custom</PresentationFormat>
  <Paragraphs>377</Paragraphs>
  <Slides>6</Slides>
  <Notes>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vt:i4>
      </vt:variant>
    </vt:vector>
  </HeadingPairs>
  <TitlesOfParts>
    <vt:vector size="16" baseType="lpstr">
      <vt:lpstr>Calibri (MS)</vt:lpstr>
      <vt:lpstr>Calibri</vt:lpstr>
      <vt:lpstr>Arial</vt:lpstr>
      <vt:lpstr>Times New Roman Bold</vt:lpstr>
      <vt:lpstr>Arimo</vt:lpstr>
      <vt:lpstr>Arial Narrow</vt:lpstr>
      <vt:lpstr>Segoe UI</vt:lpstr>
      <vt:lpstr>Arial Bold</vt:lpstr>
      <vt:lpstr>Office Theme</vt:lpstr>
      <vt:lpstr>Slide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merged_presentation_choladeck.pptx</dc:title>
  <dc:creator>ARPIT PANDEY</dc:creator>
  <cp:lastModifiedBy>Arpit Pandey</cp:lastModifiedBy>
  <cp:revision>7</cp:revision>
  <dcterms:created xsi:type="dcterms:W3CDTF">2006-08-16T00:00:00Z</dcterms:created>
  <dcterms:modified xsi:type="dcterms:W3CDTF">2026-09-29T01:30:29Z</dcterms:modified>
  <dc:identifier>DAHUpEItu2E</dc:identifier>
</cp:coreProperties>
</file>